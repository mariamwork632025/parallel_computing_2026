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20"/>
  </p:notesMasterIdLst>
  <p:sldIdLst>
    <p:sldId id="256" r:id="rId2"/>
    <p:sldId id="322" r:id="rId3"/>
    <p:sldId id="328" r:id="rId4"/>
    <p:sldId id="329" r:id="rId5"/>
    <p:sldId id="331" r:id="rId6"/>
    <p:sldId id="330" r:id="rId7"/>
    <p:sldId id="332" r:id="rId8"/>
    <p:sldId id="333" r:id="rId9"/>
    <p:sldId id="334" r:id="rId10"/>
    <p:sldId id="336" r:id="rId11"/>
    <p:sldId id="337" r:id="rId12"/>
    <p:sldId id="338" r:id="rId13"/>
    <p:sldId id="339" r:id="rId14"/>
    <p:sldId id="341" r:id="rId15"/>
    <p:sldId id="342" r:id="rId16"/>
    <p:sldId id="343" r:id="rId17"/>
    <p:sldId id="344" r:id="rId18"/>
    <p:sldId id="30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B4DD"/>
    <a:srgbClr val="0171C2"/>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22" autoAdjust="0"/>
  </p:normalViewPr>
  <p:slideViewPr>
    <p:cSldViewPr snapToGrid="0">
      <p:cViewPr>
        <p:scale>
          <a:sx n="75" d="100"/>
          <a:sy n="75" d="100"/>
        </p:scale>
        <p:origin x="974"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L-xJreZ55aU&amp;list=PLuuNv043RqhHe7zghCIk1p2E2joHAEOdq&amp;index=2&amp;t=3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MPI setup : </a:t>
            </a:r>
            <a:r>
              <a:rPr lang="en-US" dirty="0">
                <a:hlinkClick r:id="rId3"/>
              </a:rPr>
              <a:t>Installing MPI on Windows and Running Your First MPI Program</a:t>
            </a:r>
            <a:endParaRPr lang="en-US" dirty="0"/>
          </a:p>
        </p:txBody>
      </p:sp>
      <p:sp>
        <p:nvSpPr>
          <p:cNvPr id="4" name="Slide Number Placeholder 3"/>
          <p:cNvSpPr>
            <a:spLocks noGrp="1"/>
          </p:cNvSpPr>
          <p:nvPr>
            <p:ph type="sldNum" sz="quarter" idx="5"/>
          </p:nvPr>
        </p:nvSpPr>
        <p:spPr/>
        <p:txBody>
          <a:bodyPr/>
          <a:lstStyle/>
          <a:p>
            <a:fld id="{9908E562-24ED-41D7-AEB8-880B26994F1F}" type="slidenum">
              <a:rPr lang="en-US" smtClean="0"/>
              <a:t>9</a:t>
            </a:fld>
            <a:endParaRPr lang="en-US"/>
          </a:p>
        </p:txBody>
      </p:sp>
    </p:spTree>
    <p:extLst>
      <p:ext uri="{BB962C8B-B14F-4D97-AF65-F5344CB8AC3E}">
        <p14:creationId xmlns:p14="http://schemas.microsoft.com/office/powerpoint/2010/main" val="1378962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4/22/2026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4/22/2026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4/22/2026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4/22/2026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4/22/2026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4/22/2026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4/22/2026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4/22/2026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4/22/2026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dirty="0"/>
              <a:t>Sec.12</a:t>
            </a:r>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432CF9-176C-3FD0-570F-B4E90435364A}"/>
              </a:ext>
            </a:extLst>
          </p:cNvPr>
          <p:cNvSpPr>
            <a:spLocks noGrp="1"/>
          </p:cNvSpPr>
          <p:nvPr>
            <p:ph idx="1"/>
          </p:nvPr>
        </p:nvSpPr>
        <p:spPr/>
        <p:txBody>
          <a:bodyPr/>
          <a:lstStyle/>
          <a:p>
            <a:r>
              <a:rPr lang="en-US" dirty="0"/>
              <a:t>Distributed memory refers to a computer architecture where each processor has its own private memory, and processors communicate with each other by passing messages rather than sharing a single memory space</a:t>
            </a:r>
          </a:p>
          <a:p>
            <a:r>
              <a:rPr lang="en-US" dirty="0"/>
              <a:t>In a distributed address space, there is no global memory. Thus, data exchange must be performed by </a:t>
            </a:r>
            <a:r>
              <a:rPr lang="en-US" dirty="0">
                <a:solidFill>
                  <a:srgbClr val="FF0000"/>
                </a:solidFill>
              </a:rPr>
              <a:t>explicit message-passing: </a:t>
            </a:r>
            <a:r>
              <a:rPr lang="en-US" dirty="0"/>
              <a:t>to transfer data from the local memory of one processor A to the local memory of another processor B, A must </a:t>
            </a:r>
            <a:r>
              <a:rPr lang="en-US" dirty="0">
                <a:solidFill>
                  <a:srgbClr val="FF0000"/>
                </a:solidFill>
              </a:rPr>
              <a:t>send a message containing the data to</a:t>
            </a:r>
            <a:r>
              <a:rPr lang="en-US" dirty="0"/>
              <a:t> B, and B must </a:t>
            </a:r>
            <a:r>
              <a:rPr lang="en-US" dirty="0">
                <a:solidFill>
                  <a:srgbClr val="FF0000"/>
                </a:solidFill>
              </a:rPr>
              <a:t>receive the data in a buffer in its local memory</a:t>
            </a:r>
            <a:r>
              <a:rPr lang="en-US" dirty="0"/>
              <a:t>.</a:t>
            </a:r>
          </a:p>
          <a:p>
            <a:r>
              <a:rPr lang="en-US" dirty="0"/>
              <a:t> To guarantee portability of programs, no assumptions on the topology of the interconnection network is made. Instead, it is assumed that each processor can send a message to any other processor.</a:t>
            </a:r>
            <a:endParaRPr lang="en-US" dirty="0">
              <a:solidFill>
                <a:srgbClr val="FF0000"/>
              </a:solidFill>
            </a:endParaRPr>
          </a:p>
        </p:txBody>
      </p:sp>
      <p:sp>
        <p:nvSpPr>
          <p:cNvPr id="6" name="Title 1">
            <a:extLst>
              <a:ext uri="{FF2B5EF4-FFF2-40B4-BE49-F238E27FC236}">
                <a16:creationId xmlns:a16="http://schemas.microsoft.com/office/drawing/2014/main" id="{12E05D54-A8D0-84B3-4BA9-7BADE006FCD4}"/>
              </a:ext>
            </a:extLst>
          </p:cNvPr>
          <p:cNvSpPr>
            <a:spLocks noGrp="1"/>
          </p:cNvSpPr>
          <p:nvPr>
            <p:ph type="title"/>
          </p:nvPr>
        </p:nvSpPr>
        <p:spPr>
          <a:xfrm>
            <a:off x="612647" y="338936"/>
            <a:ext cx="7745290" cy="708166"/>
          </a:xfrm>
        </p:spPr>
        <p:txBody>
          <a:bodyPr anchor="b">
            <a:normAutofit fontScale="90000"/>
          </a:bodyPr>
          <a:lstStyle/>
          <a:p>
            <a:r>
              <a:rPr lang="en-US" sz="3300" dirty="0"/>
              <a:t>Distributed memory architecture</a:t>
            </a:r>
            <a:br>
              <a:rPr lang="en-US" sz="3300" dirty="0"/>
            </a:br>
            <a:r>
              <a:rPr lang="en-US" sz="2000" b="0" dirty="0"/>
              <a:t>what is this?? And what is its problem??</a:t>
            </a:r>
          </a:p>
        </p:txBody>
      </p:sp>
    </p:spTree>
    <p:extLst>
      <p:ext uri="{BB962C8B-B14F-4D97-AF65-F5344CB8AC3E}">
        <p14:creationId xmlns:p14="http://schemas.microsoft.com/office/powerpoint/2010/main" val="415150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C3290-9BDE-243B-4A77-2C73FB8E21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7ABA5-34E3-8E77-D140-222AB11F599E}"/>
              </a:ext>
            </a:extLst>
          </p:cNvPr>
          <p:cNvSpPr>
            <a:spLocks noGrp="1"/>
          </p:cNvSpPr>
          <p:nvPr>
            <p:ph idx="1"/>
          </p:nvPr>
        </p:nvSpPr>
        <p:spPr/>
        <p:txBody>
          <a:bodyPr/>
          <a:lstStyle/>
          <a:p>
            <a:r>
              <a:rPr lang="en-US" dirty="0"/>
              <a:t>A message-passing program is executed by a set of processes where each process has its own local data. </a:t>
            </a:r>
          </a:p>
          <a:p>
            <a:r>
              <a:rPr lang="en-US" dirty="0">
                <a:solidFill>
                  <a:srgbClr val="FF0000"/>
                </a:solidFill>
              </a:rPr>
              <a:t>Usually, one process is executed on one processor or core of the execution platform</a:t>
            </a:r>
            <a:r>
              <a:rPr lang="en-US" dirty="0"/>
              <a:t>.</a:t>
            </a:r>
          </a:p>
          <a:p>
            <a:r>
              <a:rPr lang="en-US" dirty="0"/>
              <a:t> The number of processes is often fixed when starting the program.</a:t>
            </a:r>
          </a:p>
          <a:p>
            <a:r>
              <a:rPr lang="en-US" dirty="0">
                <a:solidFill>
                  <a:srgbClr val="FF0000"/>
                </a:solidFill>
              </a:rPr>
              <a:t> Each process can access its local data and can exchange information and data with other processes by sending and receiving messages.</a:t>
            </a:r>
          </a:p>
          <a:p>
            <a:r>
              <a:rPr lang="en-US" dirty="0"/>
              <a:t> In principle, each of the processes could execute a different program (MPMD, multiple program multiple data). But to make program design easier, it is usually assumed that each of the processes executes the same program (SPMD, single program, multiple data)</a:t>
            </a:r>
            <a:endParaRPr lang="en-US" dirty="0">
              <a:solidFill>
                <a:srgbClr val="FF0000"/>
              </a:solidFill>
            </a:endParaRPr>
          </a:p>
        </p:txBody>
      </p:sp>
      <p:sp>
        <p:nvSpPr>
          <p:cNvPr id="6" name="Title 1">
            <a:extLst>
              <a:ext uri="{FF2B5EF4-FFF2-40B4-BE49-F238E27FC236}">
                <a16:creationId xmlns:a16="http://schemas.microsoft.com/office/drawing/2014/main" id="{9276A04C-1DBD-B5DD-EE1F-3193FF0AD36C}"/>
              </a:ext>
            </a:extLst>
          </p:cNvPr>
          <p:cNvSpPr>
            <a:spLocks noGrp="1"/>
          </p:cNvSpPr>
          <p:nvPr>
            <p:ph type="title"/>
          </p:nvPr>
        </p:nvSpPr>
        <p:spPr>
          <a:xfrm>
            <a:off x="612647" y="338936"/>
            <a:ext cx="7745290" cy="708166"/>
          </a:xfrm>
        </p:spPr>
        <p:txBody>
          <a:bodyPr anchor="b">
            <a:normAutofit fontScale="90000"/>
          </a:bodyPr>
          <a:lstStyle/>
          <a:p>
            <a:r>
              <a:rPr lang="en-US" sz="3300" dirty="0"/>
              <a:t>Distributed memory architecture</a:t>
            </a:r>
            <a:br>
              <a:rPr lang="en-US" sz="3300" dirty="0"/>
            </a:br>
            <a:r>
              <a:rPr lang="en-US" sz="2000" b="0" dirty="0"/>
              <a:t>what is this?? And what is its problem??</a:t>
            </a:r>
          </a:p>
        </p:txBody>
      </p:sp>
    </p:spTree>
    <p:extLst>
      <p:ext uri="{BB962C8B-B14F-4D97-AF65-F5344CB8AC3E}">
        <p14:creationId xmlns:p14="http://schemas.microsoft.com/office/powerpoint/2010/main" val="3272923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47AC-EBC1-524E-DF2C-64201FBD75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9DF030-8761-2BB5-D347-9712DD121D74}"/>
              </a:ext>
            </a:extLst>
          </p:cNvPr>
          <p:cNvSpPr>
            <a:spLocks noGrp="1"/>
          </p:cNvSpPr>
          <p:nvPr>
            <p:ph idx="1"/>
          </p:nvPr>
        </p:nvSpPr>
        <p:spPr/>
        <p:txBody>
          <a:bodyPr/>
          <a:lstStyle/>
          <a:p>
            <a:r>
              <a:rPr lang="en-US" dirty="0"/>
              <a:t>The processes executing a message-passing program can exchange local data by using communication operations. </a:t>
            </a:r>
          </a:p>
          <a:p>
            <a:r>
              <a:rPr lang="en-US" dirty="0"/>
              <a:t>These could be provided by a communication library. </a:t>
            </a:r>
          </a:p>
          <a:p>
            <a:r>
              <a:rPr lang="en-US" dirty="0"/>
              <a:t>To activate a specific communication operation, </a:t>
            </a:r>
            <a:r>
              <a:rPr lang="en-US" dirty="0">
                <a:solidFill>
                  <a:srgbClr val="FF0000"/>
                </a:solidFill>
              </a:rPr>
              <a:t>the participating processes call the corresponding communication function provided by the library</a:t>
            </a:r>
            <a:r>
              <a:rPr lang="en-US" dirty="0"/>
              <a:t>. </a:t>
            </a:r>
          </a:p>
          <a:p>
            <a:r>
              <a:rPr lang="en-US" dirty="0"/>
              <a:t>In the simplest case, this could be </a:t>
            </a:r>
            <a:r>
              <a:rPr lang="en-US" dirty="0">
                <a:solidFill>
                  <a:srgbClr val="FF0000"/>
                </a:solidFill>
              </a:rPr>
              <a:t>a point-to-point transfer </a:t>
            </a:r>
            <a:r>
              <a:rPr lang="en-US" dirty="0"/>
              <a:t>of data from a process A to a process B. In this case, A calls a send operation, and B calls a corresponding receive operation.</a:t>
            </a:r>
          </a:p>
          <a:p>
            <a:r>
              <a:rPr lang="en-US" dirty="0"/>
              <a:t>By far the most popular portable communication library is </a:t>
            </a:r>
            <a:r>
              <a:rPr lang="en-US" dirty="0">
                <a:solidFill>
                  <a:srgbClr val="FF0000"/>
                </a:solidFill>
              </a:rPr>
              <a:t>MPI (Message-Passing Interface)</a:t>
            </a:r>
          </a:p>
        </p:txBody>
      </p:sp>
      <p:sp>
        <p:nvSpPr>
          <p:cNvPr id="6" name="Title 1">
            <a:extLst>
              <a:ext uri="{FF2B5EF4-FFF2-40B4-BE49-F238E27FC236}">
                <a16:creationId xmlns:a16="http://schemas.microsoft.com/office/drawing/2014/main" id="{9C6BB950-7E5A-2745-822F-60EC8DB5CAFE}"/>
              </a:ext>
            </a:extLst>
          </p:cNvPr>
          <p:cNvSpPr>
            <a:spLocks noGrp="1"/>
          </p:cNvSpPr>
          <p:nvPr>
            <p:ph type="title"/>
          </p:nvPr>
        </p:nvSpPr>
        <p:spPr>
          <a:xfrm>
            <a:off x="612647" y="338936"/>
            <a:ext cx="7745290" cy="708166"/>
          </a:xfrm>
        </p:spPr>
        <p:txBody>
          <a:bodyPr anchor="b">
            <a:normAutofit fontScale="90000"/>
          </a:bodyPr>
          <a:lstStyle/>
          <a:p>
            <a:r>
              <a:rPr lang="en-US" sz="3300" dirty="0"/>
              <a:t>Distributed memory architecture</a:t>
            </a:r>
            <a:br>
              <a:rPr lang="en-US" sz="3300" dirty="0"/>
            </a:br>
            <a:r>
              <a:rPr lang="en-US" sz="2000" b="0" dirty="0"/>
              <a:t>communication solution</a:t>
            </a:r>
          </a:p>
        </p:txBody>
      </p:sp>
    </p:spTree>
    <p:extLst>
      <p:ext uri="{BB962C8B-B14F-4D97-AF65-F5344CB8AC3E}">
        <p14:creationId xmlns:p14="http://schemas.microsoft.com/office/powerpoint/2010/main" val="3027609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56B59-AB5C-7100-B9AA-1373240DC6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37C81-06C6-FB3F-B346-D35FA5422CC4}"/>
              </a:ext>
            </a:extLst>
          </p:cNvPr>
          <p:cNvSpPr>
            <a:spLocks noGrp="1"/>
          </p:cNvSpPr>
          <p:nvPr>
            <p:ph idx="1"/>
          </p:nvPr>
        </p:nvSpPr>
        <p:spPr/>
        <p:txBody>
          <a:bodyPr>
            <a:normAutofit fontScale="92500" lnSpcReduction="20000"/>
          </a:bodyPr>
          <a:lstStyle/>
          <a:p>
            <a:r>
              <a:rPr lang="en-US" dirty="0"/>
              <a:t>The Message-Passing Interface (MPI) is a standardization of a message-passing library interface specification. </a:t>
            </a:r>
          </a:p>
          <a:p>
            <a:r>
              <a:rPr lang="en-US" dirty="0"/>
              <a:t>MPI defines the syntax and semantics of library routines for standard communication patterns</a:t>
            </a:r>
          </a:p>
          <a:p>
            <a:r>
              <a:rPr lang="en-US" dirty="0"/>
              <a:t>The MPI standard has first been introduced in 1994</a:t>
            </a:r>
          </a:p>
          <a:p>
            <a:r>
              <a:rPr lang="en-US" dirty="0"/>
              <a:t>MPI is an interface specification for the syntax and semantics of communication operations, but leaves the details of the implementation open. </a:t>
            </a:r>
          </a:p>
          <a:p>
            <a:r>
              <a:rPr lang="en-US" dirty="0"/>
              <a:t>Thus, different MPI libraries can use different implementations, possibly using specific optimizations for specific hardware platforms. </a:t>
            </a:r>
          </a:p>
          <a:p>
            <a:r>
              <a:rPr lang="en-US" dirty="0"/>
              <a:t>For the programmer, MPI provides a standard interface, thus ensuring the portability of MPI programs. </a:t>
            </a:r>
          </a:p>
          <a:p>
            <a:r>
              <a:rPr lang="en-US" dirty="0"/>
              <a:t>Freely available MPI libraries are </a:t>
            </a:r>
            <a:r>
              <a:rPr lang="en-US" dirty="0" err="1"/>
              <a:t>OpenMPI</a:t>
            </a:r>
            <a:r>
              <a:rPr lang="en-US" dirty="0"/>
              <a:t>, MPICH.</a:t>
            </a:r>
          </a:p>
          <a:p>
            <a:endParaRPr lang="en-US" dirty="0">
              <a:solidFill>
                <a:srgbClr val="FF0000"/>
              </a:solidFill>
            </a:endParaRPr>
          </a:p>
        </p:txBody>
      </p:sp>
      <p:sp>
        <p:nvSpPr>
          <p:cNvPr id="6" name="Title 1">
            <a:extLst>
              <a:ext uri="{FF2B5EF4-FFF2-40B4-BE49-F238E27FC236}">
                <a16:creationId xmlns:a16="http://schemas.microsoft.com/office/drawing/2014/main" id="{6682A28C-F34D-3B24-7728-647F3720313E}"/>
              </a:ext>
            </a:extLst>
          </p:cNvPr>
          <p:cNvSpPr>
            <a:spLocks noGrp="1"/>
          </p:cNvSpPr>
          <p:nvPr>
            <p:ph type="title"/>
          </p:nvPr>
        </p:nvSpPr>
        <p:spPr>
          <a:xfrm>
            <a:off x="612647" y="338936"/>
            <a:ext cx="7745290" cy="708166"/>
          </a:xfrm>
        </p:spPr>
        <p:txBody>
          <a:bodyPr anchor="b">
            <a:normAutofit fontScale="90000"/>
          </a:bodyPr>
          <a:lstStyle/>
          <a:p>
            <a:r>
              <a:rPr lang="en-US" sz="3300" dirty="0"/>
              <a:t>MPI</a:t>
            </a:r>
            <a:br>
              <a:rPr lang="en-US" sz="3300" dirty="0"/>
            </a:br>
            <a:r>
              <a:rPr lang="en-US" sz="2000" b="0" dirty="0"/>
              <a:t>Message-Passing Interface </a:t>
            </a:r>
          </a:p>
        </p:txBody>
      </p:sp>
    </p:spTree>
    <p:extLst>
      <p:ext uri="{BB962C8B-B14F-4D97-AF65-F5344CB8AC3E}">
        <p14:creationId xmlns:p14="http://schemas.microsoft.com/office/powerpoint/2010/main" val="3112745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AFD67-1885-682A-F4DA-D131A4CC45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E4B57E-37D4-D5FB-A402-ADD04041FF31}"/>
              </a:ext>
            </a:extLst>
          </p:cNvPr>
          <p:cNvSpPr>
            <a:spLocks noGrp="1"/>
          </p:cNvSpPr>
          <p:nvPr>
            <p:ph idx="1"/>
          </p:nvPr>
        </p:nvSpPr>
        <p:spPr>
          <a:xfrm>
            <a:off x="612647" y="1203158"/>
            <a:ext cx="10653579" cy="5106202"/>
          </a:xfrm>
        </p:spPr>
        <p:txBody>
          <a:bodyPr>
            <a:normAutofit/>
          </a:bodyPr>
          <a:lstStyle/>
          <a:p>
            <a:r>
              <a:rPr lang="en-US" dirty="0"/>
              <a:t>A significant part of the operations provided by MPI are operations for the exchange of data between processes</a:t>
            </a:r>
          </a:p>
          <a:p>
            <a:r>
              <a:rPr lang="en-US" dirty="0"/>
              <a:t>The most important MPI operations:</a:t>
            </a:r>
          </a:p>
          <a:p>
            <a:r>
              <a:rPr lang="en-US" b="1" dirty="0"/>
              <a:t>blocking operation</a:t>
            </a:r>
            <a:r>
              <a:rPr lang="en-US" dirty="0"/>
              <a:t>: An MPI communication operation is blocking, if return of control to the calling process indicates that all resources, such as buffers, specified in the call can be reused, e.g., for other operations. In particular, all state transitions initiated by a blocking operation are completed before control returns to the calling process.</a:t>
            </a:r>
          </a:p>
          <a:p>
            <a:r>
              <a:rPr lang="en-US" b="1" dirty="0"/>
              <a:t>non-blocking operation</a:t>
            </a:r>
            <a:r>
              <a:rPr lang="en-US" dirty="0"/>
              <a:t>: An MPI communication operation is non-blocking, if the corresponding call may return before all effects of the operation are completed, and before the resources used by the call can be reused. Thus, a call of a non-blocking operation only starts the operation. The operation itself is completed not before all state transitions caused are completed and the resources specified can be reused.</a:t>
            </a:r>
            <a:endParaRPr lang="en-US" dirty="0">
              <a:solidFill>
                <a:srgbClr val="FF0000"/>
              </a:solidFill>
            </a:endParaRPr>
          </a:p>
        </p:txBody>
      </p:sp>
      <p:sp>
        <p:nvSpPr>
          <p:cNvPr id="6" name="Title 1">
            <a:extLst>
              <a:ext uri="{FF2B5EF4-FFF2-40B4-BE49-F238E27FC236}">
                <a16:creationId xmlns:a16="http://schemas.microsoft.com/office/drawing/2014/main" id="{78F955F1-EE3C-D0E2-9AA4-EAB5E4FB258C}"/>
              </a:ext>
            </a:extLst>
          </p:cNvPr>
          <p:cNvSpPr>
            <a:spLocks noGrp="1"/>
          </p:cNvSpPr>
          <p:nvPr>
            <p:ph type="title"/>
          </p:nvPr>
        </p:nvSpPr>
        <p:spPr>
          <a:xfrm>
            <a:off x="612647" y="338936"/>
            <a:ext cx="7745290" cy="708166"/>
          </a:xfrm>
        </p:spPr>
        <p:txBody>
          <a:bodyPr anchor="b">
            <a:normAutofit fontScale="90000"/>
          </a:bodyPr>
          <a:lstStyle/>
          <a:p>
            <a:r>
              <a:rPr lang="en-US" sz="3300" dirty="0"/>
              <a:t>MPI</a:t>
            </a:r>
            <a:br>
              <a:rPr lang="en-US" sz="3300" dirty="0"/>
            </a:br>
            <a:r>
              <a:rPr lang="en-US" sz="2000" b="0" dirty="0"/>
              <a:t>Message-Passing Interface </a:t>
            </a:r>
          </a:p>
        </p:txBody>
      </p:sp>
    </p:spTree>
    <p:extLst>
      <p:ext uri="{BB962C8B-B14F-4D97-AF65-F5344CB8AC3E}">
        <p14:creationId xmlns:p14="http://schemas.microsoft.com/office/powerpoint/2010/main" val="1485650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0A46D-1FEE-6B13-8C93-FC89534EA9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9C472B-1D01-89A3-AE64-06435D91D245}"/>
              </a:ext>
            </a:extLst>
          </p:cNvPr>
          <p:cNvSpPr>
            <a:spLocks noGrp="1"/>
          </p:cNvSpPr>
          <p:nvPr>
            <p:ph idx="1"/>
          </p:nvPr>
        </p:nvSpPr>
        <p:spPr>
          <a:xfrm>
            <a:off x="612647" y="1203158"/>
            <a:ext cx="10653579" cy="5106202"/>
          </a:xfrm>
        </p:spPr>
        <p:txBody>
          <a:bodyPr>
            <a:normAutofit fontScale="92500"/>
          </a:bodyPr>
          <a:lstStyle/>
          <a:p>
            <a:r>
              <a:rPr lang="en-US" dirty="0"/>
              <a:t>The terms blocking and non-blocking describe the behavior of operations from the local view of the executing process, without taking the effects on other processes into account. But it is also useful to consider the effect of communication operations from a global viewpoint. In this context, it is reasonable to distinguish between synchronous and asynchronous communication:</a:t>
            </a:r>
          </a:p>
          <a:p>
            <a:r>
              <a:rPr lang="en-US" b="1" dirty="0"/>
              <a:t>synchronous communication</a:t>
            </a:r>
            <a:r>
              <a:rPr lang="en-US" dirty="0"/>
              <a:t>: For a synchronous MPI operation, the communication between a sending process and a receiving process is performed such that the communication operation does not complete before both processes have started their communication operation. This means in particular that the completion of a synchronous send indicates not only that the send buffer can be reused but also that the receiving process has started the execution of the corresponding receive operation.</a:t>
            </a:r>
          </a:p>
          <a:p>
            <a:r>
              <a:rPr lang="en-US" b="1" dirty="0"/>
              <a:t>Asynchronous communication</a:t>
            </a:r>
            <a:r>
              <a:rPr lang="en-US" dirty="0"/>
              <a:t>: Using asynchronous communication, the sender can execute its communication operation without any coordination with the receiving process</a:t>
            </a:r>
            <a:endParaRPr lang="en-US" dirty="0">
              <a:solidFill>
                <a:srgbClr val="FF0000"/>
              </a:solidFill>
            </a:endParaRPr>
          </a:p>
        </p:txBody>
      </p:sp>
      <p:sp>
        <p:nvSpPr>
          <p:cNvPr id="6" name="Title 1">
            <a:extLst>
              <a:ext uri="{FF2B5EF4-FFF2-40B4-BE49-F238E27FC236}">
                <a16:creationId xmlns:a16="http://schemas.microsoft.com/office/drawing/2014/main" id="{6B25F9C6-B4AC-9EA6-8A58-8404E65FE198}"/>
              </a:ext>
            </a:extLst>
          </p:cNvPr>
          <p:cNvSpPr>
            <a:spLocks noGrp="1"/>
          </p:cNvSpPr>
          <p:nvPr>
            <p:ph type="title"/>
          </p:nvPr>
        </p:nvSpPr>
        <p:spPr>
          <a:xfrm>
            <a:off x="612647" y="338936"/>
            <a:ext cx="7745290" cy="708166"/>
          </a:xfrm>
        </p:spPr>
        <p:txBody>
          <a:bodyPr anchor="b">
            <a:normAutofit fontScale="90000"/>
          </a:bodyPr>
          <a:lstStyle/>
          <a:p>
            <a:r>
              <a:rPr lang="en-US" sz="3300" dirty="0"/>
              <a:t>MPI</a:t>
            </a:r>
            <a:br>
              <a:rPr lang="en-US" sz="3300" dirty="0"/>
            </a:br>
            <a:r>
              <a:rPr lang="en-US" sz="2000" b="0" dirty="0"/>
              <a:t>Message-Passing Interface </a:t>
            </a:r>
          </a:p>
        </p:txBody>
      </p:sp>
    </p:spTree>
    <p:extLst>
      <p:ext uri="{BB962C8B-B14F-4D97-AF65-F5344CB8AC3E}">
        <p14:creationId xmlns:p14="http://schemas.microsoft.com/office/powerpoint/2010/main" val="4267717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CF7A8-8785-6659-1B0B-40560130A9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49887C-10F3-5515-9AFD-06CC188FE31D}"/>
              </a:ext>
            </a:extLst>
          </p:cNvPr>
          <p:cNvSpPr>
            <a:spLocks noGrp="1"/>
          </p:cNvSpPr>
          <p:nvPr>
            <p:ph idx="1"/>
          </p:nvPr>
        </p:nvSpPr>
        <p:spPr>
          <a:xfrm>
            <a:off x="612647" y="1203158"/>
            <a:ext cx="10653579" cy="5106202"/>
          </a:xfrm>
        </p:spPr>
        <p:txBody>
          <a:bodyPr>
            <a:normAutofit fontScale="92500" lnSpcReduction="10000"/>
          </a:bodyPr>
          <a:lstStyle/>
          <a:p>
            <a:r>
              <a:rPr lang="en-US" dirty="0"/>
              <a:t>Any MPI program should have operations to initialize execution environment and to control starting and terminating procedures of all generated processes.</a:t>
            </a:r>
          </a:p>
          <a:p>
            <a:r>
              <a:rPr lang="en-US" dirty="0"/>
              <a:t> MPI processes can be collected into groups of specific size that can communicate in its own environment where each message sent in a context must be received only in the same context.</a:t>
            </a:r>
          </a:p>
          <a:p>
            <a:r>
              <a:rPr lang="en-US" dirty="0"/>
              <a:t>A process group and context together form an MPI </a:t>
            </a:r>
            <a:r>
              <a:rPr lang="en-US" dirty="0">
                <a:solidFill>
                  <a:srgbClr val="FF0000"/>
                </a:solidFill>
              </a:rPr>
              <a:t>communicator.</a:t>
            </a:r>
          </a:p>
          <a:p>
            <a:r>
              <a:rPr lang="en-US" dirty="0"/>
              <a:t> A process is identified by its </a:t>
            </a:r>
            <a:r>
              <a:rPr lang="en-US" dirty="0">
                <a:solidFill>
                  <a:srgbClr val="FF0000"/>
                </a:solidFill>
              </a:rPr>
              <a:t>rank in the group associated with a communicator</a:t>
            </a:r>
            <a:r>
              <a:rPr lang="en-US" dirty="0"/>
              <a:t>.</a:t>
            </a:r>
          </a:p>
          <a:p>
            <a:r>
              <a:rPr lang="en-US" dirty="0"/>
              <a:t>the MPI default communicator </a:t>
            </a:r>
            <a:r>
              <a:rPr lang="en-US" dirty="0">
                <a:solidFill>
                  <a:srgbClr val="FF0000"/>
                </a:solidFill>
              </a:rPr>
              <a:t>MPI_COMM_WORLD </a:t>
            </a:r>
            <a:r>
              <a:rPr lang="en-US" dirty="0"/>
              <a:t>is used for the communication. This communicator captures all processes executing a parallel program. </a:t>
            </a:r>
          </a:p>
          <a:p>
            <a:r>
              <a:rPr lang="en-US" dirty="0"/>
              <a:t>A single program may use several communicators, which manage common or separated MPI processes. </a:t>
            </a:r>
          </a:p>
          <a:p>
            <a:r>
              <a:rPr lang="en-US" dirty="0"/>
              <a:t>Such a concept enables to use different MPI based parallel libraries that can communicate independently, without interference, within a single parallel program.</a:t>
            </a:r>
            <a:endParaRPr lang="en-US" dirty="0">
              <a:solidFill>
                <a:srgbClr val="FF0000"/>
              </a:solidFill>
            </a:endParaRPr>
          </a:p>
        </p:txBody>
      </p:sp>
      <p:sp>
        <p:nvSpPr>
          <p:cNvPr id="6" name="Title 1">
            <a:extLst>
              <a:ext uri="{FF2B5EF4-FFF2-40B4-BE49-F238E27FC236}">
                <a16:creationId xmlns:a16="http://schemas.microsoft.com/office/drawing/2014/main" id="{0F5B7D67-DCDC-22F1-35E4-D2E96AA61AE0}"/>
              </a:ext>
            </a:extLst>
          </p:cNvPr>
          <p:cNvSpPr>
            <a:spLocks noGrp="1"/>
          </p:cNvSpPr>
          <p:nvPr>
            <p:ph type="title"/>
          </p:nvPr>
        </p:nvSpPr>
        <p:spPr>
          <a:xfrm>
            <a:off x="612647" y="338936"/>
            <a:ext cx="7745290" cy="708166"/>
          </a:xfrm>
        </p:spPr>
        <p:txBody>
          <a:bodyPr anchor="b">
            <a:normAutofit fontScale="90000"/>
          </a:bodyPr>
          <a:lstStyle/>
          <a:p>
            <a:r>
              <a:rPr lang="en-US" sz="3300" dirty="0"/>
              <a:t>MPI</a:t>
            </a:r>
            <a:br>
              <a:rPr lang="en-US" sz="3300" dirty="0"/>
            </a:br>
            <a:r>
              <a:rPr lang="en-US" sz="2000" b="0" dirty="0"/>
              <a:t>Message-Passing Interface </a:t>
            </a:r>
          </a:p>
        </p:txBody>
      </p:sp>
    </p:spTree>
    <p:extLst>
      <p:ext uri="{BB962C8B-B14F-4D97-AF65-F5344CB8AC3E}">
        <p14:creationId xmlns:p14="http://schemas.microsoft.com/office/powerpoint/2010/main" val="4016810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1297A-AB53-6453-2752-6EC7A79878C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AE14EF5-AA73-0A53-D098-E5E6B0612A3E}"/>
              </a:ext>
            </a:extLst>
          </p:cNvPr>
          <p:cNvSpPr>
            <a:spLocks noGrp="1"/>
          </p:cNvSpPr>
          <p:nvPr>
            <p:ph type="title"/>
          </p:nvPr>
        </p:nvSpPr>
        <p:spPr>
          <a:xfrm>
            <a:off x="612647" y="338936"/>
            <a:ext cx="7745290" cy="708166"/>
          </a:xfrm>
        </p:spPr>
        <p:txBody>
          <a:bodyPr anchor="b">
            <a:normAutofit fontScale="90000"/>
          </a:bodyPr>
          <a:lstStyle/>
          <a:p>
            <a:r>
              <a:rPr lang="en-US" sz="3300" dirty="0"/>
              <a:t>MPI</a:t>
            </a:r>
            <a:br>
              <a:rPr lang="en-US" sz="3300" dirty="0"/>
            </a:br>
            <a:r>
              <a:rPr lang="en-US" sz="2000" b="0" dirty="0"/>
              <a:t>code</a:t>
            </a:r>
          </a:p>
        </p:txBody>
      </p:sp>
      <p:pic>
        <p:nvPicPr>
          <p:cNvPr id="4" name="Picture 3">
            <a:extLst>
              <a:ext uri="{FF2B5EF4-FFF2-40B4-BE49-F238E27FC236}">
                <a16:creationId xmlns:a16="http://schemas.microsoft.com/office/drawing/2014/main" id="{D77892C9-5777-43D8-7BA1-006BBB32A257}"/>
              </a:ext>
            </a:extLst>
          </p:cNvPr>
          <p:cNvPicPr>
            <a:picLocks noChangeAspect="1"/>
          </p:cNvPicPr>
          <p:nvPr/>
        </p:nvPicPr>
        <p:blipFill>
          <a:blip r:embed="rId3"/>
          <a:stretch>
            <a:fillRect/>
          </a:stretch>
        </p:blipFill>
        <p:spPr>
          <a:xfrm>
            <a:off x="346860" y="1199998"/>
            <a:ext cx="11498280" cy="4544059"/>
          </a:xfrm>
          <a:prstGeom prst="rect">
            <a:avLst/>
          </a:prstGeom>
        </p:spPr>
      </p:pic>
      <p:sp>
        <p:nvSpPr>
          <p:cNvPr id="8" name="Oval 7">
            <a:extLst>
              <a:ext uri="{FF2B5EF4-FFF2-40B4-BE49-F238E27FC236}">
                <a16:creationId xmlns:a16="http://schemas.microsoft.com/office/drawing/2014/main" id="{F65BD955-05D1-A095-64A7-89153F3ADB35}"/>
              </a:ext>
            </a:extLst>
          </p:cNvPr>
          <p:cNvSpPr/>
          <p:nvPr/>
        </p:nvSpPr>
        <p:spPr>
          <a:xfrm>
            <a:off x="905152" y="1731979"/>
            <a:ext cx="2474259" cy="527125"/>
          </a:xfrm>
          <a:custGeom>
            <a:avLst/>
            <a:gdLst>
              <a:gd name="csX0" fmla="*/ 0 w 2474259"/>
              <a:gd name="csY0" fmla="*/ 263563 h 527125"/>
              <a:gd name="csX1" fmla="*/ 1237130 w 2474259"/>
              <a:gd name="csY1" fmla="*/ 0 h 527125"/>
              <a:gd name="csX2" fmla="*/ 2474260 w 2474259"/>
              <a:gd name="csY2" fmla="*/ 263563 h 527125"/>
              <a:gd name="csX3" fmla="*/ 1237130 w 2474259"/>
              <a:gd name="csY3" fmla="*/ 527126 h 527125"/>
              <a:gd name="csX4" fmla="*/ 0 w 2474259"/>
              <a:gd name="csY4" fmla="*/ 263563 h 527125"/>
            </a:gdLst>
            <a:ahLst/>
            <a:cxnLst>
              <a:cxn ang="0">
                <a:pos x="csX0" y="csY0"/>
              </a:cxn>
              <a:cxn ang="0">
                <a:pos x="csX1" y="csY1"/>
              </a:cxn>
              <a:cxn ang="0">
                <a:pos x="csX2" y="csY2"/>
              </a:cxn>
              <a:cxn ang="0">
                <a:pos x="csX3" y="csY3"/>
              </a:cxn>
              <a:cxn ang="0">
                <a:pos x="csX4" y="csY4"/>
              </a:cxn>
            </a:cxnLst>
            <a:rect l="l" t="t" r="r" b="b"/>
            <a:pathLst>
              <a:path w="2474259" h="527125" extrusionOk="0">
                <a:moveTo>
                  <a:pt x="0" y="263563"/>
                </a:moveTo>
                <a:cubicBezTo>
                  <a:pt x="-161200" y="124896"/>
                  <a:pt x="620433" y="65430"/>
                  <a:pt x="1237130" y="0"/>
                </a:cubicBezTo>
                <a:cubicBezTo>
                  <a:pt x="1935007" y="30025"/>
                  <a:pt x="2475164" y="145597"/>
                  <a:pt x="2474260" y="263563"/>
                </a:cubicBezTo>
                <a:cubicBezTo>
                  <a:pt x="2417090" y="322872"/>
                  <a:pt x="1952698" y="566203"/>
                  <a:pt x="1237130" y="527126"/>
                </a:cubicBezTo>
                <a:cubicBezTo>
                  <a:pt x="561107" y="500253"/>
                  <a:pt x="19366" y="445232"/>
                  <a:pt x="0" y="263563"/>
                </a:cubicBezTo>
                <a:close/>
              </a:path>
            </a:pathLst>
          </a:custGeom>
          <a:noFill/>
          <a:ln w="38100">
            <a:solidFill>
              <a:srgbClr val="FF0000"/>
            </a:solidFill>
            <a:extLst>
              <a:ext uri="{C807C97D-BFC1-408E-A445-0C87EB9F89A2}">
                <ask:lineSketchStyleProps xmlns:ask="http://schemas.microsoft.com/office/drawing/2018/sketchyshapes" sd="265021699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Connector: Curved 8">
            <a:extLst>
              <a:ext uri="{FF2B5EF4-FFF2-40B4-BE49-F238E27FC236}">
                <a16:creationId xmlns:a16="http://schemas.microsoft.com/office/drawing/2014/main" id="{F631D06B-1DBC-BE5E-CF17-CDF883F6FC7E}"/>
              </a:ext>
            </a:extLst>
          </p:cNvPr>
          <p:cNvCxnSpPr>
            <a:cxnSpLocks/>
          </p:cNvCxnSpPr>
          <p:nvPr/>
        </p:nvCxnSpPr>
        <p:spPr>
          <a:xfrm flipV="1">
            <a:off x="3195021" y="791208"/>
            <a:ext cx="1290271" cy="1069863"/>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0766D3F-4860-E90E-45B7-23679AED857A}"/>
              </a:ext>
            </a:extLst>
          </p:cNvPr>
          <p:cNvSpPr txBox="1"/>
          <p:nvPr/>
        </p:nvSpPr>
        <p:spPr>
          <a:xfrm>
            <a:off x="4485292" y="164973"/>
            <a:ext cx="5299285" cy="923330"/>
          </a:xfrm>
          <a:prstGeom prst="rect">
            <a:avLst/>
          </a:prstGeom>
          <a:noFill/>
        </p:spPr>
        <p:txBody>
          <a:bodyPr wrap="square" rtlCol="0">
            <a:spAutoFit/>
          </a:bodyPr>
          <a:lstStyle/>
          <a:p>
            <a:r>
              <a:rPr lang="en-US" dirty="0"/>
              <a:t>Provides basic MPI definition of named constants, types, and function prototypes, and must be included in any MPI program</a:t>
            </a:r>
          </a:p>
        </p:txBody>
      </p:sp>
      <p:sp>
        <p:nvSpPr>
          <p:cNvPr id="18" name="Oval 17">
            <a:extLst>
              <a:ext uri="{FF2B5EF4-FFF2-40B4-BE49-F238E27FC236}">
                <a16:creationId xmlns:a16="http://schemas.microsoft.com/office/drawing/2014/main" id="{FC193CB0-DBFE-F961-B588-12CCFC0D7BCB}"/>
              </a:ext>
            </a:extLst>
          </p:cNvPr>
          <p:cNvSpPr/>
          <p:nvPr/>
        </p:nvSpPr>
        <p:spPr>
          <a:xfrm>
            <a:off x="905151" y="3065927"/>
            <a:ext cx="5779471" cy="1236608"/>
          </a:xfrm>
          <a:custGeom>
            <a:avLst/>
            <a:gdLst>
              <a:gd name="csX0" fmla="*/ 0 w 5779471"/>
              <a:gd name="csY0" fmla="*/ 618304 h 1236608"/>
              <a:gd name="csX1" fmla="*/ 2889736 w 5779471"/>
              <a:gd name="csY1" fmla="*/ 0 h 1236608"/>
              <a:gd name="csX2" fmla="*/ 5779472 w 5779471"/>
              <a:gd name="csY2" fmla="*/ 618304 h 1236608"/>
              <a:gd name="csX3" fmla="*/ 2889736 w 5779471"/>
              <a:gd name="csY3" fmla="*/ 1236608 h 1236608"/>
              <a:gd name="csX4" fmla="*/ 0 w 5779471"/>
              <a:gd name="csY4" fmla="*/ 618304 h 1236608"/>
            </a:gdLst>
            <a:ahLst/>
            <a:cxnLst>
              <a:cxn ang="0">
                <a:pos x="csX0" y="csY0"/>
              </a:cxn>
              <a:cxn ang="0">
                <a:pos x="csX1" y="csY1"/>
              </a:cxn>
              <a:cxn ang="0">
                <a:pos x="csX2" y="csY2"/>
              </a:cxn>
              <a:cxn ang="0">
                <a:pos x="csX3" y="csY3"/>
              </a:cxn>
              <a:cxn ang="0">
                <a:pos x="csX4" y="csY4"/>
              </a:cxn>
            </a:cxnLst>
            <a:rect l="l" t="t" r="r" b="b"/>
            <a:pathLst>
              <a:path w="5779471" h="1236608" extrusionOk="0">
                <a:moveTo>
                  <a:pt x="0" y="618304"/>
                </a:moveTo>
                <a:cubicBezTo>
                  <a:pt x="-313049" y="290215"/>
                  <a:pt x="1466904" y="170210"/>
                  <a:pt x="2889736" y="0"/>
                </a:cubicBezTo>
                <a:cubicBezTo>
                  <a:pt x="4499376" y="28082"/>
                  <a:pt x="5780496" y="308060"/>
                  <a:pt x="5779472" y="618304"/>
                </a:cubicBezTo>
                <a:cubicBezTo>
                  <a:pt x="5692629" y="828764"/>
                  <a:pt x="4608593" y="1385203"/>
                  <a:pt x="2889736" y="1236608"/>
                </a:cubicBezTo>
                <a:cubicBezTo>
                  <a:pt x="1317769" y="1147376"/>
                  <a:pt x="5717" y="970443"/>
                  <a:pt x="0" y="618304"/>
                </a:cubicBezTo>
                <a:close/>
              </a:path>
            </a:pathLst>
          </a:custGeom>
          <a:noFill/>
          <a:ln w="38100">
            <a:solidFill>
              <a:srgbClr val="FF0000"/>
            </a:solidFill>
            <a:extLst>
              <a:ext uri="{C807C97D-BFC1-408E-A445-0C87EB9F89A2}">
                <ask:lineSketchStyleProps xmlns:ask="http://schemas.microsoft.com/office/drawing/2018/sketchyshapes" sd="2650216993">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Connector: Curved 18">
            <a:extLst>
              <a:ext uri="{FF2B5EF4-FFF2-40B4-BE49-F238E27FC236}">
                <a16:creationId xmlns:a16="http://schemas.microsoft.com/office/drawing/2014/main" id="{187626AD-EA43-184B-5F5C-6D4C415D7890}"/>
              </a:ext>
            </a:extLst>
          </p:cNvPr>
          <p:cNvCxnSpPr>
            <a:cxnSpLocks/>
          </p:cNvCxnSpPr>
          <p:nvPr/>
        </p:nvCxnSpPr>
        <p:spPr>
          <a:xfrm flipV="1">
            <a:off x="5669280" y="2178054"/>
            <a:ext cx="1290271" cy="1069863"/>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CD686FA-1CD2-E15D-7E11-DA4CB6785CD6}"/>
              </a:ext>
            </a:extLst>
          </p:cNvPr>
          <p:cNvSpPr txBox="1"/>
          <p:nvPr/>
        </p:nvSpPr>
        <p:spPr>
          <a:xfrm>
            <a:off x="6959551" y="1551819"/>
            <a:ext cx="5047491" cy="2585323"/>
          </a:xfrm>
          <a:prstGeom prst="rect">
            <a:avLst/>
          </a:prstGeom>
          <a:noFill/>
        </p:spPr>
        <p:txBody>
          <a:bodyPr wrap="square" rtlCol="0">
            <a:spAutoFit/>
          </a:bodyPr>
          <a:lstStyle/>
          <a:p>
            <a:pPr marL="285750" indent="-285750">
              <a:buFont typeface="Arial" panose="020B0604020202020204" pitchFamily="34" charset="0"/>
              <a:buChar char="•"/>
            </a:pPr>
            <a:r>
              <a:rPr lang="en-US" dirty="0" err="1">
                <a:solidFill>
                  <a:srgbClr val="FF0000"/>
                </a:solidFill>
              </a:rPr>
              <a:t>MPI_Init</a:t>
            </a:r>
            <a:r>
              <a:rPr lang="en-US" dirty="0">
                <a:solidFill>
                  <a:schemeClr val="bg1"/>
                </a:solidFill>
              </a:rPr>
              <a:t> initializes the MPI execution environment and </a:t>
            </a:r>
            <a:r>
              <a:rPr lang="en-US" dirty="0" err="1">
                <a:solidFill>
                  <a:srgbClr val="FF0000"/>
                </a:solidFill>
              </a:rPr>
              <a:t>MPI_Finalize</a:t>
            </a:r>
            <a:br>
              <a:rPr lang="en-US" dirty="0">
                <a:solidFill>
                  <a:schemeClr val="bg1"/>
                </a:solidFill>
              </a:rPr>
            </a:br>
            <a:r>
              <a:rPr lang="en-US" dirty="0">
                <a:solidFill>
                  <a:schemeClr val="bg1"/>
                </a:solidFill>
              </a:rPr>
              <a:t>exits the MPI</a:t>
            </a:r>
          </a:p>
          <a:p>
            <a:pPr marL="285750" indent="-285750">
              <a:buFont typeface="Arial" panose="020B0604020202020204" pitchFamily="34" charset="0"/>
              <a:buChar char="•"/>
            </a:pPr>
            <a:r>
              <a:rPr lang="en-US" dirty="0" err="1">
                <a:solidFill>
                  <a:srgbClr val="FF0000"/>
                </a:solidFill>
              </a:rPr>
              <a:t>MPI_Comm_size</a:t>
            </a:r>
            <a:r>
              <a:rPr lang="en-US" dirty="0">
                <a:solidFill>
                  <a:srgbClr val="FF0000"/>
                </a:solidFill>
              </a:rPr>
              <a:t>(MPI_COMM_WORLD,  &amp;size</a:t>
            </a:r>
            <a:r>
              <a:rPr lang="en-US" dirty="0">
                <a:solidFill>
                  <a:schemeClr val="bg1"/>
                </a:solidFill>
              </a:rPr>
              <a:t>) returns size, which is</a:t>
            </a:r>
            <a:br>
              <a:rPr lang="en-US" dirty="0">
                <a:solidFill>
                  <a:schemeClr val="bg1"/>
                </a:solidFill>
              </a:rPr>
            </a:br>
            <a:r>
              <a:rPr lang="en-US" dirty="0">
                <a:solidFill>
                  <a:schemeClr val="bg1"/>
                </a:solidFill>
              </a:rPr>
              <a:t>the number of started processes.</a:t>
            </a:r>
          </a:p>
          <a:p>
            <a:pPr marL="285750" indent="-285750">
              <a:buFont typeface="Arial" panose="020B0604020202020204" pitchFamily="34" charset="0"/>
              <a:buChar char="•"/>
            </a:pPr>
            <a:r>
              <a:rPr lang="en-US" dirty="0" err="1">
                <a:solidFill>
                  <a:srgbClr val="FF0000"/>
                </a:solidFill>
              </a:rPr>
              <a:t>MPI_Comm_rank</a:t>
            </a:r>
            <a:r>
              <a:rPr lang="en-US" dirty="0">
                <a:solidFill>
                  <a:srgbClr val="FF0000"/>
                </a:solidFill>
              </a:rPr>
              <a:t>(MPI_COMM_WORLD,  &amp;rank) </a:t>
            </a:r>
            <a:r>
              <a:rPr lang="en-US" dirty="0">
                <a:solidFill>
                  <a:schemeClr val="bg1"/>
                </a:solidFill>
              </a:rPr>
              <a:t>that returns rank, i.e.,</a:t>
            </a:r>
            <a:br>
              <a:rPr lang="en-US" dirty="0">
                <a:solidFill>
                  <a:schemeClr val="bg1"/>
                </a:solidFill>
              </a:rPr>
            </a:br>
            <a:r>
              <a:rPr lang="en-US" dirty="0">
                <a:solidFill>
                  <a:schemeClr val="bg1"/>
                </a:solidFill>
              </a:rPr>
              <a:t>an ID of each process.</a:t>
            </a:r>
          </a:p>
        </p:txBody>
      </p:sp>
      <p:sp>
        <p:nvSpPr>
          <p:cNvPr id="22" name="TextBox 21">
            <a:extLst>
              <a:ext uri="{FF2B5EF4-FFF2-40B4-BE49-F238E27FC236}">
                <a16:creationId xmlns:a16="http://schemas.microsoft.com/office/drawing/2014/main" id="{FF6FDC0E-E05F-686D-DABD-0C0BCB1A1219}"/>
              </a:ext>
            </a:extLst>
          </p:cNvPr>
          <p:cNvSpPr txBox="1"/>
          <p:nvPr/>
        </p:nvSpPr>
        <p:spPr>
          <a:xfrm>
            <a:off x="94738" y="6091372"/>
            <a:ext cx="1225226" cy="369332"/>
          </a:xfrm>
          <a:prstGeom prst="rect">
            <a:avLst/>
          </a:prstGeom>
          <a:noFill/>
        </p:spPr>
        <p:txBody>
          <a:bodyPr wrap="square" rtlCol="0">
            <a:spAutoFit/>
          </a:bodyPr>
          <a:lstStyle/>
          <a:p>
            <a:r>
              <a:rPr lang="en-US" dirty="0"/>
              <a:t>To run:</a:t>
            </a:r>
          </a:p>
        </p:txBody>
      </p:sp>
      <p:pic>
        <p:nvPicPr>
          <p:cNvPr id="24" name="Picture 23">
            <a:extLst>
              <a:ext uri="{FF2B5EF4-FFF2-40B4-BE49-F238E27FC236}">
                <a16:creationId xmlns:a16="http://schemas.microsoft.com/office/drawing/2014/main" id="{47E31751-82D0-979C-31FE-4ACA2B27BFEE}"/>
              </a:ext>
            </a:extLst>
          </p:cNvPr>
          <p:cNvPicPr>
            <a:picLocks noChangeAspect="1"/>
          </p:cNvPicPr>
          <p:nvPr/>
        </p:nvPicPr>
        <p:blipFill>
          <a:blip r:embed="rId4"/>
          <a:stretch>
            <a:fillRect/>
          </a:stretch>
        </p:blipFill>
        <p:spPr>
          <a:xfrm>
            <a:off x="1319964" y="5868576"/>
            <a:ext cx="5639587" cy="619211"/>
          </a:xfrm>
          <a:prstGeom prst="rect">
            <a:avLst/>
          </a:prstGeom>
        </p:spPr>
      </p:pic>
      <p:sp>
        <p:nvSpPr>
          <p:cNvPr id="27" name="TextBox 26">
            <a:extLst>
              <a:ext uri="{FF2B5EF4-FFF2-40B4-BE49-F238E27FC236}">
                <a16:creationId xmlns:a16="http://schemas.microsoft.com/office/drawing/2014/main" id="{72F447EE-3A63-9171-F91F-E0158BBFB26B}"/>
              </a:ext>
            </a:extLst>
          </p:cNvPr>
          <p:cNvSpPr txBox="1"/>
          <p:nvPr/>
        </p:nvSpPr>
        <p:spPr>
          <a:xfrm>
            <a:off x="7134934" y="5993516"/>
            <a:ext cx="4623174" cy="646331"/>
          </a:xfrm>
          <a:prstGeom prst="rect">
            <a:avLst/>
          </a:prstGeom>
          <a:noFill/>
        </p:spPr>
        <p:txBody>
          <a:bodyPr wrap="square" rtlCol="0">
            <a:spAutoFit/>
          </a:bodyPr>
          <a:lstStyle/>
          <a:p>
            <a:r>
              <a:rPr lang="en-US" dirty="0"/>
              <a:t>-n / -cores : means number of processes to run</a:t>
            </a:r>
          </a:p>
        </p:txBody>
      </p:sp>
    </p:spTree>
    <p:extLst>
      <p:ext uri="{BB962C8B-B14F-4D97-AF65-F5344CB8AC3E}">
        <p14:creationId xmlns:p14="http://schemas.microsoft.com/office/powerpoint/2010/main" val="2635900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2B4DD">
            <a:alpha val="4000"/>
          </a:srgbClr>
        </a:solidFill>
        <a:effectLst/>
      </p:bgPr>
    </p:bg>
    <p:spTree>
      <p:nvGrpSpPr>
        <p:cNvPr id="1" name="">
          <a:extLst>
            <a:ext uri="{FF2B5EF4-FFF2-40B4-BE49-F238E27FC236}">
              <a16:creationId xmlns:a16="http://schemas.microsoft.com/office/drawing/2014/main" id="{BFDE6FED-8BA5-D9AE-75AE-80D5922DC28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0E8D5F2-4C1A-D87F-5B61-6E4E215994BF}"/>
              </a:ext>
            </a:extLst>
          </p:cNvPr>
          <p:cNvSpPr>
            <a:spLocks noGrp="1"/>
          </p:cNvSpPr>
          <p:nvPr>
            <p:ph type="title"/>
          </p:nvPr>
        </p:nvSpPr>
        <p:spPr>
          <a:xfrm>
            <a:off x="612648" y="364158"/>
            <a:ext cx="10478486" cy="807361"/>
          </a:xfrm>
        </p:spPr>
        <p:txBody>
          <a:bodyPr anchor="b">
            <a:normAutofit/>
          </a:bodyPr>
          <a:lstStyle/>
          <a:p>
            <a:r>
              <a:rPr lang="en-US" dirty="0"/>
              <a:t>Process-to-Process Communication</a:t>
            </a:r>
            <a:endParaRPr lang="en-US" b="0" dirty="0"/>
          </a:p>
        </p:txBody>
      </p:sp>
      <p:sp>
        <p:nvSpPr>
          <p:cNvPr id="3" name="Content Placeholder 2">
            <a:extLst>
              <a:ext uri="{FF2B5EF4-FFF2-40B4-BE49-F238E27FC236}">
                <a16:creationId xmlns:a16="http://schemas.microsoft.com/office/drawing/2014/main" id="{ECAA068F-F2A8-6F83-89CC-B1A054824618}"/>
              </a:ext>
            </a:extLst>
          </p:cNvPr>
          <p:cNvSpPr>
            <a:spLocks noGrp="1"/>
          </p:cNvSpPr>
          <p:nvPr>
            <p:ph idx="1"/>
          </p:nvPr>
        </p:nvSpPr>
        <p:spPr>
          <a:xfrm>
            <a:off x="421131" y="1312433"/>
            <a:ext cx="6249133" cy="5260489"/>
          </a:xfrm>
        </p:spPr>
        <p:txBody>
          <a:bodyPr>
            <a:normAutofit fontScale="70000" lnSpcReduction="20000"/>
          </a:bodyPr>
          <a:lstStyle/>
          <a:p>
            <a:r>
              <a:rPr lang="en-US" sz="1800" dirty="0"/>
              <a:t>The message passing model formalizes the communication between processes that have separate address spaces.</a:t>
            </a:r>
          </a:p>
          <a:p>
            <a:r>
              <a:rPr lang="en-US" sz="1800" dirty="0"/>
              <a:t> The process-to-process communication has to implement two essential tasks: </a:t>
            </a:r>
            <a:r>
              <a:rPr lang="en-US" sz="1800" dirty="0">
                <a:solidFill>
                  <a:srgbClr val="FF0000"/>
                </a:solidFill>
              </a:rPr>
              <a:t>data movement and synchronization of processes; therefore, it requires cooperation of sender and receiver processes</a:t>
            </a:r>
            <a:r>
              <a:rPr lang="en-US" sz="1800" dirty="0"/>
              <a:t>. </a:t>
            </a:r>
          </a:p>
          <a:p>
            <a:r>
              <a:rPr lang="en-US" sz="1800" dirty="0">
                <a:solidFill>
                  <a:srgbClr val="FF0000"/>
                </a:solidFill>
              </a:rPr>
              <a:t>Consequently, every send operation expects a pairing/matching receive operation</a:t>
            </a:r>
          </a:p>
          <a:p>
            <a:r>
              <a:rPr lang="en-US" sz="1800" dirty="0"/>
              <a:t>Process_0 will have to wait on the return from the previous call, before it can send a new message. On the receiver side, Process_1 can do some useful work instead of idling while waiting on the matching message reception. It is a communication system that must ensure that the message will be reliably transferred between both processes.</a:t>
            </a:r>
          </a:p>
          <a:p>
            <a:r>
              <a:rPr lang="en-US" sz="1800" dirty="0"/>
              <a:t>Although that blocking send/receive operations enable a simple way for synchronization of processes, </a:t>
            </a:r>
            <a:r>
              <a:rPr lang="en-US" sz="1800" dirty="0">
                <a:solidFill>
                  <a:srgbClr val="FF0000"/>
                </a:solidFill>
              </a:rPr>
              <a:t>they could introduce unnecessary delays in cases where sender and receiver do not reach communication point at the same real time. </a:t>
            </a:r>
            <a:r>
              <a:rPr lang="en-US" sz="1800" dirty="0"/>
              <a:t>For example, if Process_0 issues a send call significantly before the matching receives call in Process_1,Process_0willstart waiting to the actual message data transfer. In the same </a:t>
            </a:r>
            <a:r>
              <a:rPr lang="en-US" sz="1800" dirty="0" err="1"/>
              <a:t>way,</a:t>
            </a:r>
            <a:r>
              <a:rPr lang="en-US" sz="1800" dirty="0" err="1">
                <a:solidFill>
                  <a:srgbClr val="FF0000"/>
                </a:solidFill>
              </a:rPr>
              <a:t>processes</a:t>
            </a:r>
            <a:r>
              <a:rPr lang="en-US" sz="1800" dirty="0">
                <a:solidFill>
                  <a:srgbClr val="FF0000"/>
                </a:solidFill>
              </a:rPr>
              <a:t>’ idling can happen if a process that produces many messages is much faster than the consumer process. </a:t>
            </a:r>
            <a:r>
              <a:rPr lang="en-US" sz="1800" dirty="0"/>
              <a:t>Message buffering may alleviate the idling to some extent, but if the amount of data exceeds the capacity of the message buffer, which can always happen, Process_0 will be blocked again.</a:t>
            </a:r>
          </a:p>
        </p:txBody>
      </p:sp>
      <p:pic>
        <p:nvPicPr>
          <p:cNvPr id="4" name="Picture 3">
            <a:extLst>
              <a:ext uri="{FF2B5EF4-FFF2-40B4-BE49-F238E27FC236}">
                <a16:creationId xmlns:a16="http://schemas.microsoft.com/office/drawing/2014/main" id="{18F8A6CD-47AC-7569-95C6-2307672C8B16}"/>
              </a:ext>
            </a:extLst>
          </p:cNvPr>
          <p:cNvPicPr>
            <a:picLocks noChangeAspect="1"/>
          </p:cNvPicPr>
          <p:nvPr/>
        </p:nvPicPr>
        <p:blipFill>
          <a:blip r:embed="rId2"/>
          <a:stretch>
            <a:fillRect/>
          </a:stretch>
        </p:blipFill>
        <p:spPr>
          <a:xfrm>
            <a:off x="7091394" y="1171519"/>
            <a:ext cx="5100605" cy="4659126"/>
          </a:xfrm>
          <a:prstGeom prst="rect">
            <a:avLst/>
          </a:prstGeom>
        </p:spPr>
      </p:pic>
    </p:spTree>
    <p:extLst>
      <p:ext uri="{BB962C8B-B14F-4D97-AF65-F5344CB8AC3E}">
        <p14:creationId xmlns:p14="http://schemas.microsoft.com/office/powerpoint/2010/main" val="2540410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09E80-3928-58E4-22FD-0E47DC3F2D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8799E-D6FC-F350-93E4-5F2BA5616298}"/>
              </a:ext>
            </a:extLst>
          </p:cNvPr>
          <p:cNvSpPr>
            <a:spLocks noGrp="1"/>
          </p:cNvSpPr>
          <p:nvPr>
            <p:ph idx="1"/>
          </p:nvPr>
        </p:nvSpPr>
        <p:spPr>
          <a:xfrm>
            <a:off x="4260028" y="875898"/>
            <a:ext cx="7745290" cy="5982101"/>
          </a:xfrm>
        </p:spPr>
        <p:txBody>
          <a:bodyPr>
            <a:normAutofit/>
          </a:bodyPr>
          <a:lstStyle/>
          <a:p>
            <a:r>
              <a:rPr lang="en-US" b="1" dirty="0" err="1"/>
              <a:t>smessage</a:t>
            </a:r>
            <a:r>
              <a:rPr lang="en-US" dirty="0"/>
              <a:t> : specifies a send buffer which contains the data elements to be sent in successive order;</a:t>
            </a:r>
          </a:p>
          <a:p>
            <a:r>
              <a:rPr lang="en-US" b="1" dirty="0"/>
              <a:t>count</a:t>
            </a:r>
            <a:r>
              <a:rPr lang="en-US" dirty="0"/>
              <a:t> :is the number of elements to be sent from the send buffer;</a:t>
            </a:r>
          </a:p>
          <a:p>
            <a:r>
              <a:rPr lang="en-US" b="1" dirty="0"/>
              <a:t>datatype</a:t>
            </a:r>
            <a:r>
              <a:rPr lang="en-US" dirty="0"/>
              <a:t> : is the data type of each entry of the send buffer; all entries have the same data type;</a:t>
            </a:r>
          </a:p>
          <a:p>
            <a:r>
              <a:rPr lang="en-US" b="1" dirty="0" err="1"/>
              <a:t>dest</a:t>
            </a:r>
            <a:r>
              <a:rPr lang="en-US" dirty="0"/>
              <a:t> : specifies the rank of the target process which should receive the data; each process of a communicator has a unique rank; the ranks are numbered from 0 to the number of processes minus one;</a:t>
            </a:r>
          </a:p>
          <a:p>
            <a:r>
              <a:rPr lang="en-US" b="1" dirty="0"/>
              <a:t>tag</a:t>
            </a:r>
            <a:r>
              <a:rPr lang="en-US" dirty="0"/>
              <a:t>:  is a message tag which can be used by the receiver to distinguish different messages from the same sender;</a:t>
            </a:r>
          </a:p>
          <a:p>
            <a:r>
              <a:rPr lang="en-US" b="1" dirty="0"/>
              <a:t>comm</a:t>
            </a:r>
            <a:r>
              <a:rPr lang="en-US" dirty="0"/>
              <a:t> : specifies the communicator used for the communication.</a:t>
            </a:r>
            <a:endParaRPr lang="en-US" dirty="0">
              <a:solidFill>
                <a:srgbClr val="FF0000"/>
              </a:solidFill>
            </a:endParaRPr>
          </a:p>
        </p:txBody>
      </p:sp>
      <p:sp>
        <p:nvSpPr>
          <p:cNvPr id="6" name="Title 1">
            <a:extLst>
              <a:ext uri="{FF2B5EF4-FFF2-40B4-BE49-F238E27FC236}">
                <a16:creationId xmlns:a16="http://schemas.microsoft.com/office/drawing/2014/main" id="{827D387C-EF66-E8EE-92E9-FBA0CB4BAD33}"/>
              </a:ext>
            </a:extLst>
          </p:cNvPr>
          <p:cNvSpPr>
            <a:spLocks noGrp="1"/>
          </p:cNvSpPr>
          <p:nvPr>
            <p:ph type="title"/>
          </p:nvPr>
        </p:nvSpPr>
        <p:spPr>
          <a:xfrm>
            <a:off x="612647" y="338936"/>
            <a:ext cx="7745290" cy="708166"/>
          </a:xfrm>
        </p:spPr>
        <p:txBody>
          <a:bodyPr anchor="b">
            <a:normAutofit fontScale="90000"/>
          </a:bodyPr>
          <a:lstStyle/>
          <a:p>
            <a:r>
              <a:rPr lang="en-US" sz="3200" dirty="0"/>
              <a:t>Process-to-Process Communication</a:t>
            </a:r>
            <a:br>
              <a:rPr lang="en-US" sz="3300" dirty="0"/>
            </a:br>
            <a:r>
              <a:rPr lang="en-US" sz="2000" b="0" dirty="0"/>
              <a:t>code</a:t>
            </a:r>
          </a:p>
        </p:txBody>
      </p:sp>
      <p:pic>
        <p:nvPicPr>
          <p:cNvPr id="4" name="Picture 3">
            <a:extLst>
              <a:ext uri="{FF2B5EF4-FFF2-40B4-BE49-F238E27FC236}">
                <a16:creationId xmlns:a16="http://schemas.microsoft.com/office/drawing/2014/main" id="{6CE763D0-F254-7DEC-F8E4-DA500126814D}"/>
              </a:ext>
            </a:extLst>
          </p:cNvPr>
          <p:cNvPicPr>
            <a:picLocks noChangeAspect="1"/>
          </p:cNvPicPr>
          <p:nvPr/>
        </p:nvPicPr>
        <p:blipFill>
          <a:blip r:embed="rId2"/>
          <a:stretch>
            <a:fillRect/>
          </a:stretch>
        </p:blipFill>
        <p:spPr>
          <a:xfrm>
            <a:off x="418007" y="1203158"/>
            <a:ext cx="3610479" cy="1914792"/>
          </a:xfrm>
          <a:prstGeom prst="rect">
            <a:avLst/>
          </a:prstGeom>
        </p:spPr>
      </p:pic>
      <p:sp>
        <p:nvSpPr>
          <p:cNvPr id="5" name="TextBox 4">
            <a:extLst>
              <a:ext uri="{FF2B5EF4-FFF2-40B4-BE49-F238E27FC236}">
                <a16:creationId xmlns:a16="http://schemas.microsoft.com/office/drawing/2014/main" id="{7C9360F0-3BB0-52D5-6DAB-543A9BDC3F00}"/>
              </a:ext>
            </a:extLst>
          </p:cNvPr>
          <p:cNvSpPr txBox="1"/>
          <p:nvPr/>
        </p:nvSpPr>
        <p:spPr>
          <a:xfrm>
            <a:off x="311972" y="3550024"/>
            <a:ext cx="3610479"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The size of the message in bytes can be computed by multiplying the number count of entries with the number of bytes used for type datatype</a:t>
            </a:r>
          </a:p>
          <a:p>
            <a:pPr marL="285750" indent="-285750">
              <a:buFont typeface="Arial" panose="020B0604020202020204" pitchFamily="34" charset="0"/>
              <a:buChar char="•"/>
            </a:pPr>
            <a:r>
              <a:rPr lang="en-US" dirty="0"/>
              <a:t>The tag parameter should be an integer value between</a:t>
            </a:r>
            <a:br>
              <a:rPr lang="en-US" dirty="0"/>
            </a:br>
            <a:r>
              <a:rPr lang="en-US" dirty="0"/>
              <a:t> 0 and 32767.</a:t>
            </a:r>
          </a:p>
          <a:p>
            <a:pPr marL="285750" indent="-285750">
              <a:buFont typeface="Arial" panose="020B0604020202020204" pitchFamily="34" charset="0"/>
              <a:buChar char="•"/>
            </a:pPr>
            <a:r>
              <a:rPr lang="en-US" dirty="0"/>
              <a:t>Larger values can be permitted by specific MPI libraries.</a:t>
            </a:r>
          </a:p>
        </p:txBody>
      </p:sp>
    </p:spTree>
    <p:extLst>
      <p:ext uri="{BB962C8B-B14F-4D97-AF65-F5344CB8AC3E}">
        <p14:creationId xmlns:p14="http://schemas.microsoft.com/office/powerpoint/2010/main" val="2953779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BD410-F93E-0D41-FB5C-019F1A90E48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4212F71-19C8-32A4-12B7-34F7ECD742B0}"/>
              </a:ext>
            </a:extLst>
          </p:cNvPr>
          <p:cNvSpPr>
            <a:spLocks noGrp="1"/>
          </p:cNvSpPr>
          <p:nvPr>
            <p:ph type="title"/>
          </p:nvPr>
        </p:nvSpPr>
        <p:spPr>
          <a:xfrm>
            <a:off x="612647" y="338936"/>
            <a:ext cx="7745290" cy="708166"/>
          </a:xfrm>
        </p:spPr>
        <p:txBody>
          <a:bodyPr anchor="b">
            <a:normAutofit fontScale="90000"/>
          </a:bodyPr>
          <a:lstStyle/>
          <a:p>
            <a:r>
              <a:rPr lang="en-US" sz="3200" dirty="0"/>
              <a:t>Process-to-Process Communication</a:t>
            </a:r>
            <a:br>
              <a:rPr lang="en-US" sz="3300" dirty="0"/>
            </a:br>
            <a:r>
              <a:rPr lang="en-US" sz="2000" b="0" dirty="0"/>
              <a:t>code</a:t>
            </a:r>
          </a:p>
        </p:txBody>
      </p:sp>
      <p:pic>
        <p:nvPicPr>
          <p:cNvPr id="4" name="Picture 3">
            <a:extLst>
              <a:ext uri="{FF2B5EF4-FFF2-40B4-BE49-F238E27FC236}">
                <a16:creationId xmlns:a16="http://schemas.microsoft.com/office/drawing/2014/main" id="{A5BDD21C-F9D3-6753-893A-2898CDFD624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8007" y="1339610"/>
            <a:ext cx="3610479" cy="1641888"/>
          </a:xfrm>
          <a:prstGeom prst="rect">
            <a:avLst/>
          </a:prstGeom>
        </p:spPr>
      </p:pic>
      <p:sp>
        <p:nvSpPr>
          <p:cNvPr id="5" name="TextBox 4">
            <a:extLst>
              <a:ext uri="{FF2B5EF4-FFF2-40B4-BE49-F238E27FC236}">
                <a16:creationId xmlns:a16="http://schemas.microsoft.com/office/drawing/2014/main" id="{3F163268-1ECA-FA7D-39AA-162BBF92FB86}"/>
              </a:ext>
            </a:extLst>
          </p:cNvPr>
          <p:cNvSpPr txBox="1"/>
          <p:nvPr/>
        </p:nvSpPr>
        <p:spPr>
          <a:xfrm>
            <a:off x="311972" y="3550024"/>
            <a:ext cx="3610479"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The size of the message in bytes can be computed by multiplying the number count of entries with the number of bytes used for type datatype</a:t>
            </a:r>
          </a:p>
          <a:p>
            <a:pPr marL="285750" indent="-285750">
              <a:buFont typeface="Arial" panose="020B0604020202020204" pitchFamily="34" charset="0"/>
              <a:buChar char="•"/>
            </a:pPr>
            <a:r>
              <a:rPr lang="en-US" dirty="0"/>
              <a:t>The tag parameter should be an integer value between</a:t>
            </a:r>
            <a:br>
              <a:rPr lang="en-US" dirty="0"/>
            </a:br>
            <a:r>
              <a:rPr lang="en-US" dirty="0"/>
              <a:t> 0 and 32767.</a:t>
            </a:r>
          </a:p>
          <a:p>
            <a:pPr marL="285750" indent="-285750">
              <a:buFont typeface="Arial" panose="020B0604020202020204" pitchFamily="34" charset="0"/>
              <a:buChar char="•"/>
            </a:pPr>
            <a:r>
              <a:rPr lang="en-US" dirty="0"/>
              <a:t>Larger values can be permitted by specific MPI libraries.</a:t>
            </a:r>
          </a:p>
        </p:txBody>
      </p:sp>
      <p:pic>
        <p:nvPicPr>
          <p:cNvPr id="9" name="Picture 8">
            <a:extLst>
              <a:ext uri="{FF2B5EF4-FFF2-40B4-BE49-F238E27FC236}">
                <a16:creationId xmlns:a16="http://schemas.microsoft.com/office/drawing/2014/main" id="{FD23EF81-D08D-8F1B-EE72-B33BD3E683A5}"/>
              </a:ext>
            </a:extLst>
          </p:cNvPr>
          <p:cNvPicPr>
            <a:picLocks noChangeAspect="1"/>
          </p:cNvPicPr>
          <p:nvPr/>
        </p:nvPicPr>
        <p:blipFill>
          <a:blip r:embed="rId3"/>
          <a:stretch>
            <a:fillRect/>
          </a:stretch>
        </p:blipFill>
        <p:spPr>
          <a:xfrm>
            <a:off x="4848331" y="1339610"/>
            <a:ext cx="6842439" cy="3491397"/>
          </a:xfrm>
          <a:prstGeom prst="rect">
            <a:avLst/>
          </a:prstGeom>
        </p:spPr>
      </p:pic>
    </p:spTree>
    <p:extLst>
      <p:ext uri="{BB962C8B-B14F-4D97-AF65-F5344CB8AC3E}">
        <p14:creationId xmlns:p14="http://schemas.microsoft.com/office/powerpoint/2010/main" val="3211853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7CBAB-1CD9-EEDC-6FD9-0A03CC7256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BC91F33-F72F-AA2A-5D58-A58FECFF378C}"/>
              </a:ext>
            </a:extLst>
          </p:cNvPr>
          <p:cNvSpPr>
            <a:spLocks noGrp="1"/>
          </p:cNvSpPr>
          <p:nvPr>
            <p:ph type="title"/>
          </p:nvPr>
        </p:nvSpPr>
        <p:spPr>
          <a:xfrm>
            <a:off x="317138" y="156615"/>
            <a:ext cx="7745290" cy="708166"/>
          </a:xfrm>
        </p:spPr>
        <p:txBody>
          <a:bodyPr anchor="b">
            <a:normAutofit fontScale="90000"/>
          </a:bodyPr>
          <a:lstStyle/>
          <a:p>
            <a:r>
              <a:rPr lang="en-US" sz="3200" dirty="0"/>
              <a:t>Process-to-Process Communication</a:t>
            </a:r>
            <a:br>
              <a:rPr lang="en-US" sz="3300" dirty="0"/>
            </a:br>
            <a:r>
              <a:rPr lang="en-US" sz="2000" b="0" dirty="0"/>
              <a:t>code</a:t>
            </a:r>
          </a:p>
        </p:txBody>
      </p:sp>
      <p:sp>
        <p:nvSpPr>
          <p:cNvPr id="5" name="TextBox 4">
            <a:extLst>
              <a:ext uri="{FF2B5EF4-FFF2-40B4-BE49-F238E27FC236}">
                <a16:creationId xmlns:a16="http://schemas.microsoft.com/office/drawing/2014/main" id="{B2077E8F-0EBC-8B89-0478-936104E9B7AF}"/>
              </a:ext>
            </a:extLst>
          </p:cNvPr>
          <p:cNvSpPr txBox="1"/>
          <p:nvPr/>
        </p:nvSpPr>
        <p:spPr>
          <a:xfrm>
            <a:off x="268280" y="878105"/>
            <a:ext cx="1165543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The most important predefined MPI data types and the corresponding C datatypes</a:t>
            </a:r>
          </a:p>
          <a:p>
            <a:pPr marL="285750" indent="-285750">
              <a:buFont typeface="Arial" panose="020B0604020202020204" pitchFamily="34" charset="0"/>
              <a:buChar char="•"/>
            </a:pPr>
            <a:r>
              <a:rPr lang="en-US" dirty="0"/>
              <a:t>By using source =MPI_ANY_SOURCE, a process can receive a message from an arbitrary other process.</a:t>
            </a:r>
          </a:p>
          <a:p>
            <a:pPr marL="285750" indent="-285750">
              <a:buFont typeface="Arial" panose="020B0604020202020204" pitchFamily="34" charset="0"/>
              <a:buChar char="•"/>
            </a:pPr>
            <a:r>
              <a:rPr lang="en-US" dirty="0"/>
              <a:t>Similarly, by using tag =</a:t>
            </a:r>
            <a:r>
              <a:rPr lang="en-US" dirty="0" err="1"/>
              <a:t>MPI_ANY_TAG,a</a:t>
            </a:r>
            <a:r>
              <a:rPr lang="en-US" dirty="0"/>
              <a:t> process can receive a message with an arbitrary tag</a:t>
            </a:r>
          </a:p>
          <a:p>
            <a:pPr marL="285750" indent="-285750">
              <a:buFont typeface="Arial" panose="020B0604020202020204" pitchFamily="34" charset="0"/>
              <a:buChar char="•"/>
            </a:pPr>
            <a:r>
              <a:rPr lang="en-US" dirty="0"/>
              <a:t>the status data structure contains the information, from which process the message received has been sent and which tag has been used by the sender. After completion of </a:t>
            </a:r>
            <a:r>
              <a:rPr lang="en-US" dirty="0" err="1"/>
              <a:t>MPI_Recv</a:t>
            </a:r>
            <a:r>
              <a:rPr lang="en-US" dirty="0"/>
              <a:t>(), status contains the following information:</a:t>
            </a:r>
          </a:p>
        </p:txBody>
      </p:sp>
      <p:pic>
        <p:nvPicPr>
          <p:cNvPr id="8" name="Picture 7">
            <a:extLst>
              <a:ext uri="{FF2B5EF4-FFF2-40B4-BE49-F238E27FC236}">
                <a16:creationId xmlns:a16="http://schemas.microsoft.com/office/drawing/2014/main" id="{8046CA3F-FC84-09B7-9EEF-F541FA73CE8D}"/>
              </a:ext>
            </a:extLst>
          </p:cNvPr>
          <p:cNvPicPr>
            <a:picLocks noChangeAspect="1"/>
          </p:cNvPicPr>
          <p:nvPr/>
        </p:nvPicPr>
        <p:blipFill>
          <a:blip r:embed="rId2"/>
          <a:stretch>
            <a:fillRect/>
          </a:stretch>
        </p:blipFill>
        <p:spPr>
          <a:xfrm>
            <a:off x="5342021" y="2427795"/>
            <a:ext cx="6849979" cy="4273590"/>
          </a:xfrm>
          <a:prstGeom prst="rect">
            <a:avLst/>
          </a:prstGeom>
        </p:spPr>
      </p:pic>
      <p:pic>
        <p:nvPicPr>
          <p:cNvPr id="11" name="Picture 10">
            <a:extLst>
              <a:ext uri="{FF2B5EF4-FFF2-40B4-BE49-F238E27FC236}">
                <a16:creationId xmlns:a16="http://schemas.microsoft.com/office/drawing/2014/main" id="{60ABBED7-738B-9AC6-BFB7-FA22AFB5805E}"/>
              </a:ext>
            </a:extLst>
          </p:cNvPr>
          <p:cNvPicPr>
            <a:picLocks noChangeAspect="1"/>
          </p:cNvPicPr>
          <p:nvPr/>
        </p:nvPicPr>
        <p:blipFill>
          <a:blip r:embed="rId3"/>
          <a:stretch>
            <a:fillRect/>
          </a:stretch>
        </p:blipFill>
        <p:spPr>
          <a:xfrm>
            <a:off x="268281" y="3291989"/>
            <a:ext cx="4720816" cy="1472515"/>
          </a:xfrm>
          <a:prstGeom prst="rect">
            <a:avLst/>
          </a:prstGeom>
        </p:spPr>
      </p:pic>
    </p:spTree>
    <p:extLst>
      <p:ext uri="{BB962C8B-B14F-4D97-AF65-F5344CB8AC3E}">
        <p14:creationId xmlns:p14="http://schemas.microsoft.com/office/powerpoint/2010/main" val="1442455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98D5-45FF-7A99-C900-DF212148AB4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6071AA2-6F02-43BE-6D68-8E4486AC4F01}"/>
              </a:ext>
            </a:extLst>
          </p:cNvPr>
          <p:cNvSpPr>
            <a:spLocks noGrp="1"/>
          </p:cNvSpPr>
          <p:nvPr>
            <p:ph type="title"/>
          </p:nvPr>
        </p:nvSpPr>
        <p:spPr>
          <a:xfrm>
            <a:off x="317138" y="156615"/>
            <a:ext cx="7745290" cy="708166"/>
          </a:xfrm>
        </p:spPr>
        <p:txBody>
          <a:bodyPr anchor="b">
            <a:normAutofit fontScale="90000"/>
          </a:bodyPr>
          <a:lstStyle/>
          <a:p>
            <a:r>
              <a:rPr lang="en-US" sz="3200" dirty="0"/>
              <a:t>Process-to-Process Communication</a:t>
            </a:r>
            <a:br>
              <a:rPr lang="en-US" sz="3300" dirty="0"/>
            </a:br>
            <a:r>
              <a:rPr lang="en-US" sz="2000" b="0" dirty="0"/>
              <a:t>code</a:t>
            </a:r>
          </a:p>
        </p:txBody>
      </p:sp>
      <p:sp>
        <p:nvSpPr>
          <p:cNvPr id="5" name="TextBox 4">
            <a:extLst>
              <a:ext uri="{FF2B5EF4-FFF2-40B4-BE49-F238E27FC236}">
                <a16:creationId xmlns:a16="http://schemas.microsoft.com/office/drawing/2014/main" id="{81CB2D2A-BBB0-FB1B-5BD3-1C982A26D0B7}"/>
              </a:ext>
            </a:extLst>
          </p:cNvPr>
          <p:cNvSpPr txBox="1"/>
          <p:nvPr/>
        </p:nvSpPr>
        <p:spPr>
          <a:xfrm>
            <a:off x="268280" y="878105"/>
            <a:ext cx="11655439" cy="646331"/>
          </a:xfrm>
          <a:prstGeom prst="rect">
            <a:avLst/>
          </a:prstGeom>
          <a:noFill/>
        </p:spPr>
        <p:txBody>
          <a:bodyPr wrap="square" rtlCol="0">
            <a:spAutoFit/>
          </a:bodyPr>
          <a:lstStyle/>
          <a:p>
            <a:pPr marL="285750" indent="-285750">
              <a:buFont typeface="Arial" panose="020B0604020202020204" pitchFamily="34" charset="0"/>
              <a:buChar char="•"/>
            </a:pPr>
            <a:r>
              <a:rPr lang="en-US" dirty="0"/>
              <a:t>Send and receive operations must be used with </a:t>
            </a:r>
            <a:r>
              <a:rPr lang="en-US" dirty="0" err="1"/>
              <a:t>care,since</a:t>
            </a:r>
            <a:r>
              <a:rPr lang="en-US" dirty="0"/>
              <a:t> deadlocks can occur in I</a:t>
            </a:r>
            <a:br>
              <a:rPr lang="en-US" dirty="0"/>
            </a:br>
            <a:r>
              <a:rPr lang="en-US" dirty="0" err="1"/>
              <a:t>ll</a:t>
            </a:r>
            <a:r>
              <a:rPr lang="en-US" dirty="0"/>
              <a:t>-constructed </a:t>
            </a:r>
            <a:r>
              <a:rPr lang="en-US" dirty="0" err="1"/>
              <a:t>programs.This</a:t>
            </a:r>
            <a:r>
              <a:rPr lang="en-US" dirty="0"/>
              <a:t> can be illustrated by the following example:</a:t>
            </a:r>
          </a:p>
        </p:txBody>
      </p:sp>
      <p:pic>
        <p:nvPicPr>
          <p:cNvPr id="3" name="Picture 2">
            <a:extLst>
              <a:ext uri="{FF2B5EF4-FFF2-40B4-BE49-F238E27FC236}">
                <a16:creationId xmlns:a16="http://schemas.microsoft.com/office/drawing/2014/main" id="{85C216F7-3BB3-0E56-95DA-40A5C480C573}"/>
              </a:ext>
            </a:extLst>
          </p:cNvPr>
          <p:cNvPicPr>
            <a:picLocks noChangeAspect="1"/>
          </p:cNvPicPr>
          <p:nvPr/>
        </p:nvPicPr>
        <p:blipFill>
          <a:blip r:embed="rId2"/>
          <a:stretch>
            <a:fillRect/>
          </a:stretch>
        </p:blipFill>
        <p:spPr>
          <a:xfrm>
            <a:off x="268280" y="1989241"/>
            <a:ext cx="4945404" cy="1952898"/>
          </a:xfrm>
          <a:prstGeom prst="rect">
            <a:avLst/>
          </a:prstGeom>
        </p:spPr>
      </p:pic>
      <p:pic>
        <p:nvPicPr>
          <p:cNvPr id="9" name="Picture 8">
            <a:extLst>
              <a:ext uri="{FF2B5EF4-FFF2-40B4-BE49-F238E27FC236}">
                <a16:creationId xmlns:a16="http://schemas.microsoft.com/office/drawing/2014/main" id="{1286AFE2-A8EC-56FB-C551-37F089CFAAB3}"/>
              </a:ext>
            </a:extLst>
          </p:cNvPr>
          <p:cNvPicPr>
            <a:picLocks noChangeAspect="1"/>
          </p:cNvPicPr>
          <p:nvPr/>
        </p:nvPicPr>
        <p:blipFill>
          <a:blip r:embed="rId3"/>
          <a:stretch>
            <a:fillRect/>
          </a:stretch>
        </p:blipFill>
        <p:spPr>
          <a:xfrm>
            <a:off x="5514043" y="1878762"/>
            <a:ext cx="6677957" cy="2173856"/>
          </a:xfrm>
          <a:prstGeom prst="rect">
            <a:avLst/>
          </a:prstGeom>
        </p:spPr>
      </p:pic>
      <p:pic>
        <p:nvPicPr>
          <p:cNvPr id="12" name="Picture 11">
            <a:extLst>
              <a:ext uri="{FF2B5EF4-FFF2-40B4-BE49-F238E27FC236}">
                <a16:creationId xmlns:a16="http://schemas.microsoft.com/office/drawing/2014/main" id="{4F631562-33AC-0158-A453-5E5E20FC6E0B}"/>
              </a:ext>
            </a:extLst>
          </p:cNvPr>
          <p:cNvPicPr>
            <a:picLocks noChangeAspect="1"/>
          </p:cNvPicPr>
          <p:nvPr/>
        </p:nvPicPr>
        <p:blipFill>
          <a:blip r:embed="rId4"/>
          <a:stretch>
            <a:fillRect/>
          </a:stretch>
        </p:blipFill>
        <p:spPr>
          <a:xfrm>
            <a:off x="1574905" y="4176908"/>
            <a:ext cx="7278116" cy="2524477"/>
          </a:xfrm>
          <a:prstGeom prst="rect">
            <a:avLst/>
          </a:prstGeom>
        </p:spPr>
      </p:pic>
    </p:spTree>
    <p:extLst>
      <p:ext uri="{BB962C8B-B14F-4D97-AF65-F5344CB8AC3E}">
        <p14:creationId xmlns:p14="http://schemas.microsoft.com/office/powerpoint/2010/main" val="941818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8FB3B-53A1-E968-8EE1-DBBACEA0263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837E2A9-B995-A32F-D6EE-ACC962B09031}"/>
              </a:ext>
            </a:extLst>
          </p:cNvPr>
          <p:cNvSpPr>
            <a:spLocks noGrp="1"/>
          </p:cNvSpPr>
          <p:nvPr>
            <p:ph type="title"/>
          </p:nvPr>
        </p:nvSpPr>
        <p:spPr>
          <a:xfrm>
            <a:off x="317138" y="156615"/>
            <a:ext cx="7745290" cy="708166"/>
          </a:xfrm>
        </p:spPr>
        <p:txBody>
          <a:bodyPr anchor="b">
            <a:normAutofit fontScale="90000"/>
          </a:bodyPr>
          <a:lstStyle/>
          <a:p>
            <a:r>
              <a:rPr lang="en-US" sz="3200" dirty="0"/>
              <a:t>Process-to-Process Communication</a:t>
            </a:r>
            <a:br>
              <a:rPr lang="en-US" sz="3300" dirty="0"/>
            </a:br>
            <a:r>
              <a:rPr lang="en-US" sz="2000" b="0" dirty="0"/>
              <a:t>avoid deadlock</a:t>
            </a:r>
          </a:p>
        </p:txBody>
      </p:sp>
      <p:sp>
        <p:nvSpPr>
          <p:cNvPr id="5" name="TextBox 4">
            <a:extLst>
              <a:ext uri="{FF2B5EF4-FFF2-40B4-BE49-F238E27FC236}">
                <a16:creationId xmlns:a16="http://schemas.microsoft.com/office/drawing/2014/main" id="{D5EDF5A1-C2D3-4F4A-9C8C-A21332C2207B}"/>
              </a:ext>
            </a:extLst>
          </p:cNvPr>
          <p:cNvSpPr txBox="1"/>
          <p:nvPr/>
        </p:nvSpPr>
        <p:spPr>
          <a:xfrm>
            <a:off x="268280" y="878105"/>
            <a:ext cx="11655439" cy="646331"/>
          </a:xfrm>
          <a:prstGeom prst="rect">
            <a:avLst/>
          </a:prstGeom>
          <a:noFill/>
        </p:spPr>
        <p:txBody>
          <a:bodyPr wrap="square" rtlCol="0">
            <a:spAutoFit/>
          </a:bodyPr>
          <a:lstStyle/>
          <a:p>
            <a:pPr marL="285750" indent="-285750">
              <a:buFont typeface="Arial" panose="020B0604020202020204" pitchFamily="34" charset="0"/>
              <a:buChar char="•"/>
            </a:pPr>
            <a:r>
              <a:rPr lang="en-US"/>
              <a:t>Send and receive operations must be used with care,since deadlocks can occur in I</a:t>
            </a:r>
            <a:br>
              <a:rPr lang="en-US"/>
            </a:br>
            <a:r>
              <a:rPr lang="en-US"/>
              <a:t>ll-constructed programs.This can be illustrated by the following example:</a:t>
            </a:r>
            <a:endParaRPr lang="en-US" dirty="0"/>
          </a:p>
        </p:txBody>
      </p:sp>
      <p:pic>
        <p:nvPicPr>
          <p:cNvPr id="4" name="Picture 3">
            <a:extLst>
              <a:ext uri="{FF2B5EF4-FFF2-40B4-BE49-F238E27FC236}">
                <a16:creationId xmlns:a16="http://schemas.microsoft.com/office/drawing/2014/main" id="{FFDD5338-D81E-6A34-1E46-5B2DA9F97911}"/>
              </a:ext>
            </a:extLst>
          </p:cNvPr>
          <p:cNvPicPr>
            <a:picLocks noChangeAspect="1"/>
          </p:cNvPicPr>
          <p:nvPr/>
        </p:nvPicPr>
        <p:blipFill>
          <a:blip r:embed="rId2"/>
          <a:stretch>
            <a:fillRect/>
          </a:stretch>
        </p:blipFill>
        <p:spPr>
          <a:xfrm>
            <a:off x="609601" y="2104839"/>
            <a:ext cx="9496926" cy="4103455"/>
          </a:xfrm>
          <a:prstGeom prst="rect">
            <a:avLst/>
          </a:prstGeom>
        </p:spPr>
      </p:pic>
    </p:spTree>
    <p:extLst>
      <p:ext uri="{BB962C8B-B14F-4D97-AF65-F5344CB8AC3E}">
        <p14:creationId xmlns:p14="http://schemas.microsoft.com/office/powerpoint/2010/main" val="3805790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CB7C-A4C3-5A6A-1306-E9B54B6126E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47F420D-DE2F-4F86-0401-CF15704E18AB}"/>
              </a:ext>
            </a:extLst>
          </p:cNvPr>
          <p:cNvSpPr>
            <a:spLocks noGrp="1"/>
          </p:cNvSpPr>
          <p:nvPr>
            <p:ph type="title"/>
          </p:nvPr>
        </p:nvSpPr>
        <p:spPr>
          <a:xfrm>
            <a:off x="317138" y="156615"/>
            <a:ext cx="7745290" cy="708166"/>
          </a:xfrm>
        </p:spPr>
        <p:txBody>
          <a:bodyPr anchor="b">
            <a:normAutofit fontScale="90000"/>
          </a:bodyPr>
          <a:lstStyle/>
          <a:p>
            <a:r>
              <a:rPr lang="en-US" sz="3200" dirty="0"/>
              <a:t>Process-to-Process Communication</a:t>
            </a:r>
            <a:br>
              <a:rPr lang="en-US" sz="3300" dirty="0"/>
            </a:br>
            <a:r>
              <a:rPr lang="en-US" sz="2000" b="0" dirty="0"/>
              <a:t>avoid deadlock</a:t>
            </a:r>
          </a:p>
        </p:txBody>
      </p:sp>
      <p:sp>
        <p:nvSpPr>
          <p:cNvPr id="5" name="TextBox 4">
            <a:extLst>
              <a:ext uri="{FF2B5EF4-FFF2-40B4-BE49-F238E27FC236}">
                <a16:creationId xmlns:a16="http://schemas.microsoft.com/office/drawing/2014/main" id="{75828502-4964-67AF-697A-4B5FED52089A}"/>
              </a:ext>
            </a:extLst>
          </p:cNvPr>
          <p:cNvSpPr txBox="1"/>
          <p:nvPr/>
        </p:nvSpPr>
        <p:spPr>
          <a:xfrm>
            <a:off x="268280" y="878105"/>
            <a:ext cx="11655439" cy="646331"/>
          </a:xfrm>
          <a:prstGeom prst="rect">
            <a:avLst/>
          </a:prstGeom>
          <a:noFill/>
        </p:spPr>
        <p:txBody>
          <a:bodyPr wrap="square" rtlCol="0">
            <a:spAutoFit/>
          </a:bodyPr>
          <a:lstStyle/>
          <a:p>
            <a:pPr marL="285750" indent="-285750">
              <a:buFont typeface="Arial" panose="020B0604020202020204" pitchFamily="34" charset="0"/>
              <a:buChar char="•"/>
            </a:pPr>
            <a:r>
              <a:rPr lang="en-US" dirty="0"/>
              <a:t>In many situations, processes both send and receive data.</a:t>
            </a:r>
          </a:p>
          <a:p>
            <a:pPr marL="285750" indent="-285750">
              <a:buFont typeface="Arial" panose="020B0604020202020204" pitchFamily="34" charset="0"/>
              <a:buChar char="•"/>
            </a:pPr>
            <a:r>
              <a:rPr lang="en-US" dirty="0"/>
              <a:t>MPI provides the following operations to support this behavior: </a:t>
            </a:r>
          </a:p>
        </p:txBody>
      </p:sp>
      <p:pic>
        <p:nvPicPr>
          <p:cNvPr id="3" name="Picture 2">
            <a:extLst>
              <a:ext uri="{FF2B5EF4-FFF2-40B4-BE49-F238E27FC236}">
                <a16:creationId xmlns:a16="http://schemas.microsoft.com/office/drawing/2014/main" id="{97013599-4E6C-8BA6-B9E3-01A164B7A10E}"/>
              </a:ext>
            </a:extLst>
          </p:cNvPr>
          <p:cNvPicPr>
            <a:picLocks noChangeAspect="1"/>
          </p:cNvPicPr>
          <p:nvPr/>
        </p:nvPicPr>
        <p:blipFill>
          <a:blip r:embed="rId2"/>
          <a:stretch>
            <a:fillRect/>
          </a:stretch>
        </p:blipFill>
        <p:spPr>
          <a:xfrm>
            <a:off x="144378" y="1760518"/>
            <a:ext cx="6754168" cy="4940867"/>
          </a:xfrm>
          <a:prstGeom prst="rect">
            <a:avLst/>
          </a:prstGeom>
        </p:spPr>
      </p:pic>
      <p:sp>
        <p:nvSpPr>
          <p:cNvPr id="7" name="TextBox 6">
            <a:extLst>
              <a:ext uri="{FF2B5EF4-FFF2-40B4-BE49-F238E27FC236}">
                <a16:creationId xmlns:a16="http://schemas.microsoft.com/office/drawing/2014/main" id="{8A699337-E4E7-EBEA-E10C-673056FC41C5}"/>
              </a:ext>
            </a:extLst>
          </p:cNvPr>
          <p:cNvSpPr txBox="1"/>
          <p:nvPr/>
        </p:nvSpPr>
        <p:spPr>
          <a:xfrm>
            <a:off x="6932893" y="1953023"/>
            <a:ext cx="5259107" cy="3693319"/>
          </a:xfrm>
          <a:prstGeom prst="rect">
            <a:avLst/>
          </a:prstGeom>
          <a:noFill/>
        </p:spPr>
        <p:txBody>
          <a:bodyPr wrap="square" rtlCol="0">
            <a:spAutoFit/>
          </a:bodyPr>
          <a:lstStyle/>
          <a:p>
            <a:pPr marL="285750" indent="-285750">
              <a:buFont typeface="Arial" panose="020B0604020202020204" pitchFamily="34" charset="0"/>
              <a:buChar char="•"/>
            </a:pPr>
            <a:r>
              <a:rPr lang="en-US" dirty="0"/>
              <a:t>Using </a:t>
            </a:r>
            <a:r>
              <a:rPr lang="en-US" dirty="0" err="1"/>
              <a:t>MPI_Sendrecv</a:t>
            </a:r>
            <a:r>
              <a:rPr lang="en-US" dirty="0"/>
              <a:t>(), the programmer does not need to worry about the order of the send and receive operations. </a:t>
            </a:r>
          </a:p>
          <a:p>
            <a:pPr marL="285750" indent="-285750">
              <a:buFont typeface="Arial" panose="020B0604020202020204" pitchFamily="34" charset="0"/>
              <a:buChar char="•"/>
            </a:pPr>
            <a:r>
              <a:rPr lang="en-US" dirty="0"/>
              <a:t>The MPI runtime system guarantees deadlock freedom, also for the case that no internal system buffers are used. </a:t>
            </a:r>
          </a:p>
          <a:p>
            <a:pPr marL="285750" indent="-285750">
              <a:buFont typeface="Arial" panose="020B0604020202020204" pitchFamily="34" charset="0"/>
              <a:buChar char="•"/>
            </a:pPr>
            <a:r>
              <a:rPr lang="en-US" dirty="0"/>
              <a:t>The parameters </a:t>
            </a:r>
            <a:r>
              <a:rPr lang="en-US" dirty="0" err="1"/>
              <a:t>sendbuf</a:t>
            </a:r>
            <a:r>
              <a:rPr lang="en-US" dirty="0"/>
              <a:t> and </a:t>
            </a:r>
            <a:r>
              <a:rPr lang="en-US" dirty="0" err="1"/>
              <a:t>recvbuf</a:t>
            </a:r>
            <a:r>
              <a:rPr lang="en-US" dirty="0"/>
              <a:t>, specifying the send and receive buffer of the executing pro </a:t>
            </a:r>
            <a:r>
              <a:rPr lang="en-US" dirty="0" err="1"/>
              <a:t>cess</a:t>
            </a:r>
            <a:r>
              <a:rPr lang="en-US" dirty="0"/>
              <a:t>, must be disjoint, non-overlapping memory locations.</a:t>
            </a:r>
          </a:p>
          <a:p>
            <a:pPr marL="285750" indent="-285750">
              <a:buFont typeface="Arial" panose="020B0604020202020204" pitchFamily="34" charset="0"/>
              <a:buChar char="•"/>
            </a:pPr>
            <a:r>
              <a:rPr lang="en-US" dirty="0"/>
              <a:t> But the buffers may have different lengths, and the entries stored may even contain elements of different data types</a:t>
            </a:r>
          </a:p>
        </p:txBody>
      </p:sp>
    </p:spTree>
    <p:extLst>
      <p:ext uri="{BB962C8B-B14F-4D97-AF65-F5344CB8AC3E}">
        <p14:creationId xmlns:p14="http://schemas.microsoft.com/office/powerpoint/2010/main" val="3971950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07C3-01C2-F836-E62C-3B767C0A257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9D150EC-6CAA-35D0-445C-8E7A5150E79C}"/>
              </a:ext>
            </a:extLst>
          </p:cNvPr>
          <p:cNvSpPr>
            <a:spLocks noGrp="1"/>
          </p:cNvSpPr>
          <p:nvPr>
            <p:ph type="title"/>
          </p:nvPr>
        </p:nvSpPr>
        <p:spPr>
          <a:xfrm>
            <a:off x="317138" y="156615"/>
            <a:ext cx="7745290" cy="708166"/>
          </a:xfrm>
        </p:spPr>
        <p:txBody>
          <a:bodyPr anchor="b">
            <a:normAutofit fontScale="90000"/>
          </a:bodyPr>
          <a:lstStyle/>
          <a:p>
            <a:r>
              <a:rPr lang="en-US" sz="3200" dirty="0"/>
              <a:t>Process-to-Process Communication</a:t>
            </a:r>
            <a:br>
              <a:rPr lang="en-US" sz="3300" dirty="0"/>
            </a:br>
            <a:r>
              <a:rPr lang="en-US" sz="2000" b="0" dirty="0"/>
              <a:t>avoid deadlock</a:t>
            </a:r>
          </a:p>
        </p:txBody>
      </p:sp>
      <p:sp>
        <p:nvSpPr>
          <p:cNvPr id="5" name="TextBox 4">
            <a:extLst>
              <a:ext uri="{FF2B5EF4-FFF2-40B4-BE49-F238E27FC236}">
                <a16:creationId xmlns:a16="http://schemas.microsoft.com/office/drawing/2014/main" id="{CF41054C-D525-13DA-E779-AB6C13E482FD}"/>
              </a:ext>
            </a:extLst>
          </p:cNvPr>
          <p:cNvSpPr txBox="1"/>
          <p:nvPr/>
        </p:nvSpPr>
        <p:spPr>
          <a:xfrm>
            <a:off x="268280" y="878105"/>
            <a:ext cx="11655439" cy="646331"/>
          </a:xfrm>
          <a:prstGeom prst="rect">
            <a:avLst/>
          </a:prstGeom>
          <a:noFill/>
        </p:spPr>
        <p:txBody>
          <a:bodyPr wrap="square" rtlCol="0">
            <a:spAutoFit/>
          </a:bodyPr>
          <a:lstStyle/>
          <a:p>
            <a:pPr marL="285750" indent="-285750">
              <a:buFont typeface="Arial" panose="020B0604020202020204" pitchFamily="34" charset="0"/>
              <a:buChar char="•"/>
            </a:pPr>
            <a:r>
              <a:rPr lang="en-US" dirty="0"/>
              <a:t>In many situations, processes both send and receive data.</a:t>
            </a:r>
          </a:p>
          <a:p>
            <a:pPr marL="285750" indent="-285750">
              <a:buFont typeface="Arial" panose="020B0604020202020204" pitchFamily="34" charset="0"/>
              <a:buChar char="•"/>
            </a:pPr>
            <a:r>
              <a:rPr lang="en-US" dirty="0"/>
              <a:t>MPI provides the following operations to support this behavior: </a:t>
            </a:r>
          </a:p>
        </p:txBody>
      </p:sp>
      <p:sp>
        <p:nvSpPr>
          <p:cNvPr id="7" name="TextBox 6">
            <a:extLst>
              <a:ext uri="{FF2B5EF4-FFF2-40B4-BE49-F238E27FC236}">
                <a16:creationId xmlns:a16="http://schemas.microsoft.com/office/drawing/2014/main" id="{4E1B9141-0B5D-D2E5-FB93-F0CC427BCA46}"/>
              </a:ext>
            </a:extLst>
          </p:cNvPr>
          <p:cNvSpPr txBox="1"/>
          <p:nvPr/>
        </p:nvSpPr>
        <p:spPr>
          <a:xfrm>
            <a:off x="6095999" y="2301777"/>
            <a:ext cx="525910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Here, buffer specifies the buffer that is used as both, send and receive buffer. For this function, count is the number of elements to be sent and to be received; these elements now have to have identical type.</a:t>
            </a:r>
          </a:p>
        </p:txBody>
      </p:sp>
      <p:pic>
        <p:nvPicPr>
          <p:cNvPr id="4" name="Picture 3">
            <a:extLst>
              <a:ext uri="{FF2B5EF4-FFF2-40B4-BE49-F238E27FC236}">
                <a16:creationId xmlns:a16="http://schemas.microsoft.com/office/drawing/2014/main" id="{2C3B06F9-CE53-F526-715A-B657642053A4}"/>
              </a:ext>
            </a:extLst>
          </p:cNvPr>
          <p:cNvPicPr>
            <a:picLocks noChangeAspect="1"/>
          </p:cNvPicPr>
          <p:nvPr/>
        </p:nvPicPr>
        <p:blipFill>
          <a:blip r:embed="rId2"/>
          <a:stretch>
            <a:fillRect/>
          </a:stretch>
        </p:blipFill>
        <p:spPr>
          <a:xfrm>
            <a:off x="317138" y="2103894"/>
            <a:ext cx="5556860" cy="3350422"/>
          </a:xfrm>
          <a:prstGeom prst="rect">
            <a:avLst/>
          </a:prstGeom>
        </p:spPr>
      </p:pic>
    </p:spTree>
    <p:extLst>
      <p:ext uri="{BB962C8B-B14F-4D97-AF65-F5344CB8AC3E}">
        <p14:creationId xmlns:p14="http://schemas.microsoft.com/office/powerpoint/2010/main" val="3546856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B5A4C-F1F5-EEF1-B81A-608019103310}"/>
              </a:ext>
            </a:extLst>
          </p:cNvPr>
          <p:cNvSpPr>
            <a:spLocks noGrp="1"/>
          </p:cNvSpPr>
          <p:nvPr>
            <p:ph type="title"/>
          </p:nvPr>
        </p:nvSpPr>
        <p:spPr/>
        <p:txBody>
          <a:bodyPr/>
          <a:lstStyle/>
          <a:p>
            <a:r>
              <a:rPr lang="en-US" dirty="0"/>
              <a:t>Exercise 1_MPI</a:t>
            </a:r>
          </a:p>
        </p:txBody>
      </p:sp>
      <p:sp>
        <p:nvSpPr>
          <p:cNvPr id="3" name="Content Placeholder 2">
            <a:extLst>
              <a:ext uri="{FF2B5EF4-FFF2-40B4-BE49-F238E27FC236}">
                <a16:creationId xmlns:a16="http://schemas.microsoft.com/office/drawing/2014/main" id="{9B432CF9-176C-3FD0-570F-B4E90435364A}"/>
              </a:ext>
            </a:extLst>
          </p:cNvPr>
          <p:cNvSpPr>
            <a:spLocks noGrp="1"/>
          </p:cNvSpPr>
          <p:nvPr>
            <p:ph idx="1"/>
          </p:nvPr>
        </p:nvSpPr>
        <p:spPr/>
        <p:txBody>
          <a:bodyPr/>
          <a:lstStyle/>
          <a:p>
            <a:r>
              <a:rPr lang="en-US" dirty="0"/>
              <a:t>Perform round robin using </a:t>
            </a:r>
            <a:r>
              <a:rPr lang="en-US" dirty="0" err="1"/>
              <a:t>mpi</a:t>
            </a:r>
            <a:endParaRPr lang="en-US" dirty="0"/>
          </a:p>
        </p:txBody>
      </p:sp>
    </p:spTree>
    <p:extLst>
      <p:ext uri="{BB962C8B-B14F-4D97-AF65-F5344CB8AC3E}">
        <p14:creationId xmlns:p14="http://schemas.microsoft.com/office/powerpoint/2010/main" val="14651013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3023</TotalTime>
  <Words>1968</Words>
  <Application>Microsoft Office PowerPoint</Application>
  <PresentationFormat>Widescreen</PresentationFormat>
  <Paragraphs>95</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Neue Haas Grotesk Text Pro</vt:lpstr>
      <vt:lpstr>VanillaVTI</vt:lpstr>
      <vt:lpstr>Parallel computing</vt:lpstr>
      <vt:lpstr>Distributed memory architecture what is this?? And what is its problem??</vt:lpstr>
      <vt:lpstr>Distributed memory architecture what is this?? And what is its problem??</vt:lpstr>
      <vt:lpstr>Distributed memory architecture communication solution</vt:lpstr>
      <vt:lpstr>MPI Message-Passing Interface </vt:lpstr>
      <vt:lpstr>MPI Message-Passing Interface </vt:lpstr>
      <vt:lpstr>MPI Message-Passing Interface </vt:lpstr>
      <vt:lpstr>MPI Message-Passing Interface </vt:lpstr>
      <vt:lpstr>MPI code</vt:lpstr>
      <vt:lpstr>Process-to-Process Communication</vt:lpstr>
      <vt:lpstr>Process-to-Process Communication code</vt:lpstr>
      <vt:lpstr>Process-to-Process Communication code</vt:lpstr>
      <vt:lpstr>Process-to-Process Communication code</vt:lpstr>
      <vt:lpstr>Process-to-Process Communication code</vt:lpstr>
      <vt:lpstr>Process-to-Process Communication avoid deadlock</vt:lpstr>
      <vt:lpstr>Process-to-Process Communication avoid deadlock</vt:lpstr>
      <vt:lpstr>Process-to-Process Communication avoid deadlock</vt:lpstr>
      <vt:lpstr>Exercise 1_MPI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26</cp:revision>
  <dcterms:created xsi:type="dcterms:W3CDTF">2026-02-12T13:52:08Z</dcterms:created>
  <dcterms:modified xsi:type="dcterms:W3CDTF">2026-04-22T20:50:38Z</dcterms:modified>
</cp:coreProperties>
</file>