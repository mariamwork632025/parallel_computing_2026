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9"/>
  </p:notesMasterIdLst>
  <p:sldIdLst>
    <p:sldId id="256" r:id="rId2"/>
    <p:sldId id="322" r:id="rId3"/>
    <p:sldId id="324" r:id="rId4"/>
    <p:sldId id="323" r:id="rId5"/>
    <p:sldId id="325" r:id="rId6"/>
    <p:sldId id="326" r:id="rId7"/>
    <p:sldId id="32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71C2"/>
    <a:srgbClr val="82B4DD"/>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3/20/2026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F1B71-1322-0961-7CCD-900B196891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4D7B0-1677-37B0-11FB-709A3E1DF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817A86-DDAD-E919-2BE9-3BDB09EE2B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0872D6-142C-A926-728F-78B5693FBEB5}"/>
              </a:ext>
            </a:extLst>
          </p:cNvPr>
          <p:cNvSpPr>
            <a:spLocks noGrp="1"/>
          </p:cNvSpPr>
          <p:nvPr>
            <p:ph type="sldNum" sz="quarter" idx="5"/>
          </p:nvPr>
        </p:nvSpPr>
        <p:spPr/>
        <p:txBody>
          <a:bodyPr/>
          <a:lstStyle/>
          <a:p>
            <a:fld id="{9908E562-24ED-41D7-AEB8-880B26994F1F}" type="slidenum">
              <a:rPr lang="en-US" smtClean="0"/>
              <a:t>3</a:t>
            </a:fld>
            <a:endParaRPr lang="en-US"/>
          </a:p>
        </p:txBody>
      </p:sp>
    </p:spTree>
    <p:extLst>
      <p:ext uri="{BB962C8B-B14F-4D97-AF65-F5344CB8AC3E}">
        <p14:creationId xmlns:p14="http://schemas.microsoft.com/office/powerpoint/2010/main" val="847020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91BEA-79BE-FD0A-A53E-3C274726ED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3DF11-9B69-F001-E2F9-FE4A5967FB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D7BEB-E6B2-8267-4899-81A4CD2ACE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D4EE57-B0DF-6A0A-F365-6C451E8BACF5}"/>
              </a:ext>
            </a:extLst>
          </p:cNvPr>
          <p:cNvSpPr>
            <a:spLocks noGrp="1"/>
          </p:cNvSpPr>
          <p:nvPr>
            <p:ph type="sldNum" sz="quarter" idx="5"/>
          </p:nvPr>
        </p:nvSpPr>
        <p:spPr/>
        <p:txBody>
          <a:bodyPr/>
          <a:lstStyle/>
          <a:p>
            <a:fld id="{9908E562-24ED-41D7-AEB8-880B26994F1F}" type="slidenum">
              <a:rPr lang="en-US" smtClean="0"/>
              <a:t>4</a:t>
            </a:fld>
            <a:endParaRPr lang="en-US"/>
          </a:p>
        </p:txBody>
      </p:sp>
    </p:spTree>
    <p:extLst>
      <p:ext uri="{BB962C8B-B14F-4D97-AF65-F5344CB8AC3E}">
        <p14:creationId xmlns:p14="http://schemas.microsoft.com/office/powerpoint/2010/main" val="149683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77B18-56DA-3C1A-1258-197618665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A9B79E-8773-7409-8E1A-42574F93F3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379BAE-0BFB-71C0-5AF5-4619EC20D7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47BB9-E6B9-723D-A222-435E6FE3928B}"/>
              </a:ext>
            </a:extLst>
          </p:cNvPr>
          <p:cNvSpPr>
            <a:spLocks noGrp="1"/>
          </p:cNvSpPr>
          <p:nvPr>
            <p:ph type="sldNum" sz="quarter" idx="5"/>
          </p:nvPr>
        </p:nvSpPr>
        <p:spPr/>
        <p:txBody>
          <a:bodyPr/>
          <a:lstStyle/>
          <a:p>
            <a:fld id="{9908E562-24ED-41D7-AEB8-880B26994F1F}" type="slidenum">
              <a:rPr lang="en-US" smtClean="0"/>
              <a:t>5</a:t>
            </a:fld>
            <a:endParaRPr lang="en-US"/>
          </a:p>
        </p:txBody>
      </p:sp>
    </p:spTree>
    <p:extLst>
      <p:ext uri="{BB962C8B-B14F-4D97-AF65-F5344CB8AC3E}">
        <p14:creationId xmlns:p14="http://schemas.microsoft.com/office/powerpoint/2010/main" val="1372589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C2BFB-4877-599A-BA42-D3DA6624C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5CA2BD-2D15-B5E8-A372-6096430118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372FF-4D58-516D-C974-49BBD32724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8A96CA-EC26-D7DB-E03A-F31FF4547FB5}"/>
              </a:ext>
            </a:extLst>
          </p:cNvPr>
          <p:cNvSpPr>
            <a:spLocks noGrp="1"/>
          </p:cNvSpPr>
          <p:nvPr>
            <p:ph type="sldNum" sz="quarter" idx="5"/>
          </p:nvPr>
        </p:nvSpPr>
        <p:spPr/>
        <p:txBody>
          <a:bodyPr/>
          <a:lstStyle/>
          <a:p>
            <a:fld id="{9908E562-24ED-41D7-AEB8-880B26994F1F}" type="slidenum">
              <a:rPr lang="en-US" smtClean="0"/>
              <a:t>6</a:t>
            </a:fld>
            <a:endParaRPr lang="en-US"/>
          </a:p>
        </p:txBody>
      </p:sp>
    </p:spTree>
    <p:extLst>
      <p:ext uri="{BB962C8B-B14F-4D97-AF65-F5344CB8AC3E}">
        <p14:creationId xmlns:p14="http://schemas.microsoft.com/office/powerpoint/2010/main" val="1567834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4E8D1-A783-F69D-664E-984A4A228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038A03-635A-4902-7723-E2391533E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6A7A1-90DD-1AB1-5F93-84EAFAD6BE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8DEA63-BF57-9113-9263-F97756F922B3}"/>
              </a:ext>
            </a:extLst>
          </p:cNvPr>
          <p:cNvSpPr>
            <a:spLocks noGrp="1"/>
          </p:cNvSpPr>
          <p:nvPr>
            <p:ph type="sldNum" sz="quarter" idx="5"/>
          </p:nvPr>
        </p:nvSpPr>
        <p:spPr/>
        <p:txBody>
          <a:bodyPr/>
          <a:lstStyle/>
          <a:p>
            <a:fld id="{9908E562-24ED-41D7-AEB8-880B26994F1F}" type="slidenum">
              <a:rPr lang="en-US" smtClean="0"/>
              <a:t>7</a:t>
            </a:fld>
            <a:endParaRPr lang="en-US"/>
          </a:p>
        </p:txBody>
      </p:sp>
    </p:spTree>
    <p:extLst>
      <p:ext uri="{BB962C8B-B14F-4D97-AF65-F5344CB8AC3E}">
        <p14:creationId xmlns:p14="http://schemas.microsoft.com/office/powerpoint/2010/main" val="2310231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3/20/2026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3/20/2026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3/20/2026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3/20/2026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3/20/2026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3/20/2026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3/20/2026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3/20/2026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3/20/2026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dirty="0"/>
              <a:t>Sec.10</a:t>
            </a:r>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B5A4C-F1F5-EEF1-B81A-608019103310}"/>
              </a:ext>
            </a:extLst>
          </p:cNvPr>
          <p:cNvSpPr>
            <a:spLocks noGrp="1"/>
          </p:cNvSpPr>
          <p:nvPr>
            <p:ph type="title"/>
          </p:nvPr>
        </p:nvSpPr>
        <p:spPr/>
        <p:txBody>
          <a:bodyPr/>
          <a:lstStyle/>
          <a:p>
            <a:r>
              <a:rPr lang="en-US"/>
              <a:t>Exercise 7</a:t>
            </a:r>
            <a:endParaRPr lang="en-US" dirty="0"/>
          </a:p>
        </p:txBody>
      </p:sp>
      <p:sp>
        <p:nvSpPr>
          <p:cNvPr id="3" name="Content Placeholder 2">
            <a:extLst>
              <a:ext uri="{FF2B5EF4-FFF2-40B4-BE49-F238E27FC236}">
                <a16:creationId xmlns:a16="http://schemas.microsoft.com/office/drawing/2014/main" id="{9B432CF9-176C-3FD0-570F-B4E90435364A}"/>
              </a:ext>
            </a:extLst>
          </p:cNvPr>
          <p:cNvSpPr>
            <a:spLocks noGrp="1"/>
          </p:cNvSpPr>
          <p:nvPr>
            <p:ph idx="1"/>
          </p:nvPr>
        </p:nvSpPr>
        <p:spPr/>
        <p:txBody>
          <a:bodyPr/>
          <a:lstStyle/>
          <a:p>
            <a:r>
              <a:rPr lang="en-US" dirty="0"/>
              <a:t>Solve Fibonacci sequence using a task work-sharing construct</a:t>
            </a:r>
          </a:p>
          <a:p>
            <a:r>
              <a:rPr lang="en-US" dirty="0">
                <a:solidFill>
                  <a:srgbClr val="FF0000"/>
                </a:solidFill>
              </a:rPr>
              <a:t>The readers–writers problem manifests itself whenever a shared resource is accessed by threads trying to modify it alongside threads trying to read it. In its simplest form, the problem is governed by the following two conditions:</a:t>
            </a:r>
            <a:br>
              <a:rPr lang="en-US" dirty="0">
                <a:solidFill>
                  <a:srgbClr val="FF0000"/>
                </a:solidFill>
              </a:rPr>
            </a:br>
            <a:r>
              <a:rPr lang="en-US" dirty="0">
                <a:solidFill>
                  <a:srgbClr val="FF0000"/>
                </a:solidFill>
              </a:rPr>
              <a:t> • Each writer must have exclusive access to the resource while it is modifying it. All other threads, including readers, are blocked. </a:t>
            </a:r>
            <a:br>
              <a:rPr lang="en-US" dirty="0">
                <a:solidFill>
                  <a:srgbClr val="FF0000"/>
                </a:solidFill>
              </a:rPr>
            </a:br>
            <a:r>
              <a:rPr lang="en-US" dirty="0">
                <a:solidFill>
                  <a:srgbClr val="FF0000"/>
                </a:solidFill>
              </a:rPr>
              <a:t>• If a reader is accessing the resource, other readers may do so as well. Obviously, adhering to the previous condition, writer threads cannot access the resource while a reader is doing so.</a:t>
            </a:r>
          </a:p>
        </p:txBody>
      </p:sp>
    </p:spTree>
    <p:extLst>
      <p:ext uri="{BB962C8B-B14F-4D97-AF65-F5344CB8AC3E}">
        <p14:creationId xmlns:p14="http://schemas.microsoft.com/office/powerpoint/2010/main" val="4151503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EB9A6-BFD8-3FD4-1135-923BB26ADEBE}"/>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D9ADC8-10FE-D043-16EA-FA2D3862E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32EB81-8245-5319-0248-6C592C7D3CC0}"/>
              </a:ext>
            </a:extLst>
          </p:cNvPr>
          <p:cNvSpPr>
            <a:spLocks noGrp="1"/>
          </p:cNvSpPr>
          <p:nvPr>
            <p:ph type="title"/>
          </p:nvPr>
        </p:nvSpPr>
        <p:spPr>
          <a:xfrm>
            <a:off x="233604" y="194557"/>
            <a:ext cx="5862396" cy="708166"/>
          </a:xfrm>
        </p:spPr>
        <p:txBody>
          <a:bodyPr anchor="b">
            <a:normAutofit fontScale="90000"/>
          </a:bodyPr>
          <a:lstStyle/>
          <a:p>
            <a:r>
              <a:rPr lang="en-US" sz="3300" dirty="0"/>
              <a:t>Linked list with task</a:t>
            </a:r>
            <a:br>
              <a:rPr lang="en-US" sz="3300" dirty="0"/>
            </a:br>
            <a:endParaRPr lang="en-US" sz="2000" b="0" dirty="0"/>
          </a:p>
        </p:txBody>
      </p:sp>
      <p:sp>
        <p:nvSpPr>
          <p:cNvPr id="3" name="Content Placeholder 2">
            <a:extLst>
              <a:ext uri="{FF2B5EF4-FFF2-40B4-BE49-F238E27FC236}">
                <a16:creationId xmlns:a16="http://schemas.microsoft.com/office/drawing/2014/main" id="{73F14F5D-8605-AEDD-71CA-760040E29606}"/>
              </a:ext>
            </a:extLst>
          </p:cNvPr>
          <p:cNvSpPr>
            <a:spLocks noGrp="1"/>
          </p:cNvSpPr>
          <p:nvPr>
            <p:ph idx="1"/>
          </p:nvPr>
        </p:nvSpPr>
        <p:spPr>
          <a:xfrm>
            <a:off x="215414" y="1451362"/>
            <a:ext cx="11761172" cy="5212081"/>
          </a:xfrm>
        </p:spPr>
        <p:txBody>
          <a:bodyPr>
            <a:normAutofit/>
          </a:bodyPr>
          <a:lstStyle/>
          <a:p>
            <a:pPr>
              <a:lnSpc>
                <a:spcPct val="110000"/>
              </a:lnSpc>
            </a:pPr>
            <a:r>
              <a:rPr lang="en-US" dirty="0"/>
              <a:t>There is however an issue that we bypassed: how many tasks are we allowed to generate? If the linked list had one million elements, would it make sense to generate one million tasks in one go? Does OpenMP have the appropriate structures for accommodating such a scenario? Would it even be sensible to have something like this, even if it was possible?</a:t>
            </a:r>
          </a:p>
          <a:p>
            <a:pPr>
              <a:lnSpc>
                <a:spcPct val="110000"/>
              </a:lnSpc>
            </a:pPr>
            <a:r>
              <a:rPr lang="en-US" dirty="0"/>
              <a:t>OpenMP addresses this issue two ways. Firstly, the OpenMP runtime may suspend the generating task and execute one or more of the generated tasks, if the task “pool” grows too big. Secondly, the programmer may direct OpenMP to suspend the current task and execute the generated task. A number of clauses that can accompany the task directive can control this behavior.</a:t>
            </a:r>
            <a:endParaRPr lang="en-US" dirty="0">
              <a:solidFill>
                <a:srgbClr val="FF0000"/>
              </a:solidFill>
            </a:endParaRPr>
          </a:p>
        </p:txBody>
      </p:sp>
    </p:spTree>
    <p:extLst>
      <p:ext uri="{BB962C8B-B14F-4D97-AF65-F5344CB8AC3E}">
        <p14:creationId xmlns:p14="http://schemas.microsoft.com/office/powerpoint/2010/main" val="1907228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A6BF4-7D9F-AEA2-1B2F-C5EBE6AAC83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F46E056-07EB-7841-FD8C-26E948B92E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811C04-5DCA-6911-EC6B-698B447D9EB0}"/>
              </a:ext>
            </a:extLst>
          </p:cNvPr>
          <p:cNvSpPr>
            <a:spLocks noGrp="1"/>
          </p:cNvSpPr>
          <p:nvPr>
            <p:ph type="title"/>
          </p:nvPr>
        </p:nvSpPr>
        <p:spPr>
          <a:xfrm>
            <a:off x="233604" y="194557"/>
            <a:ext cx="5862396" cy="708166"/>
          </a:xfrm>
        </p:spPr>
        <p:txBody>
          <a:bodyPr anchor="b">
            <a:normAutofit fontScale="90000"/>
          </a:bodyPr>
          <a:lstStyle/>
          <a:p>
            <a:r>
              <a:rPr lang="en-US" sz="3300" dirty="0"/>
              <a:t>Task clause </a:t>
            </a:r>
            <a:br>
              <a:rPr lang="en-US" sz="3300" dirty="0"/>
            </a:br>
            <a:r>
              <a:rPr lang="en-US" sz="2000" b="0" dirty="0"/>
              <a:t>what is this??</a:t>
            </a:r>
          </a:p>
        </p:txBody>
      </p:sp>
      <p:sp>
        <p:nvSpPr>
          <p:cNvPr id="3" name="Content Placeholder 2">
            <a:extLst>
              <a:ext uri="{FF2B5EF4-FFF2-40B4-BE49-F238E27FC236}">
                <a16:creationId xmlns:a16="http://schemas.microsoft.com/office/drawing/2014/main" id="{FADCA28A-64EE-928A-2BD3-0C837093340D}"/>
              </a:ext>
            </a:extLst>
          </p:cNvPr>
          <p:cNvSpPr>
            <a:spLocks noGrp="1"/>
          </p:cNvSpPr>
          <p:nvPr>
            <p:ph idx="1"/>
          </p:nvPr>
        </p:nvSpPr>
        <p:spPr>
          <a:xfrm>
            <a:off x="215414" y="1451362"/>
            <a:ext cx="11761172" cy="5212081"/>
          </a:xfrm>
        </p:spPr>
        <p:txBody>
          <a:bodyPr>
            <a:normAutofit/>
          </a:bodyPr>
          <a:lstStyle/>
          <a:p>
            <a:pPr>
              <a:lnSpc>
                <a:spcPct val="110000"/>
              </a:lnSpc>
            </a:pPr>
            <a:r>
              <a:rPr lang="en-US" b="1" dirty="0"/>
              <a:t>if(scalar-expression): </a:t>
            </a:r>
            <a:r>
              <a:rPr lang="en-US" dirty="0"/>
              <a:t>If the expression evaluates to 0, the generated task be comes </a:t>
            </a:r>
            <a:r>
              <a:rPr lang="en-US" dirty="0" err="1"/>
              <a:t>undeferred</a:t>
            </a:r>
            <a:r>
              <a:rPr lang="en-US" dirty="0"/>
              <a:t>, i.e., the current task is suspended, until the generated task completes execution. The generated task may be executed by a different thread. An </a:t>
            </a:r>
            <a:r>
              <a:rPr lang="en-US" dirty="0" err="1"/>
              <a:t>undeferred</a:t>
            </a:r>
            <a:r>
              <a:rPr lang="en-US" dirty="0"/>
              <a:t> task that is executed immediately by the thread that generated it is called an included task.</a:t>
            </a:r>
          </a:p>
          <a:p>
            <a:pPr>
              <a:lnSpc>
                <a:spcPct val="110000"/>
              </a:lnSpc>
            </a:pPr>
            <a:r>
              <a:rPr lang="en-US" b="1" dirty="0"/>
              <a:t>final(scalar-expression): </a:t>
            </a:r>
            <a:r>
              <a:rPr lang="en-US" dirty="0"/>
              <a:t>When the expression evaluates to true, the task and all its child tasks (i.e., other tasks that can be generated by its execution) become final and included. This means that a task and all its descendants will be executed by a single thread.</a:t>
            </a:r>
          </a:p>
          <a:p>
            <a:pPr>
              <a:lnSpc>
                <a:spcPct val="110000"/>
              </a:lnSpc>
            </a:pPr>
            <a:r>
              <a:rPr lang="en-US" b="1" dirty="0"/>
              <a:t>untied</a:t>
            </a:r>
            <a:r>
              <a:rPr lang="en-US" dirty="0"/>
              <a:t>: A task is by default tied to a thread: if it gets suspended, it will wait for the particular thread to run it again, even if there are other idle threads. This, in principle, creates better CPU cache utilization. If the untied clause is given, a task may resume execution on any free thread. </a:t>
            </a:r>
          </a:p>
          <a:p>
            <a:pPr>
              <a:lnSpc>
                <a:spcPct val="110000"/>
              </a:lnSpc>
            </a:pPr>
            <a:r>
              <a:rPr lang="en-US" b="1" dirty="0"/>
              <a:t>mergeable</a:t>
            </a:r>
            <a:r>
              <a:rPr lang="en-US" dirty="0"/>
              <a:t>: A merged task is a task that shares the data environment of the task that generated it. If the mergeable clause is present and an </a:t>
            </a:r>
            <a:r>
              <a:rPr lang="en-US" dirty="0" err="1"/>
              <a:t>undeferred</a:t>
            </a:r>
            <a:r>
              <a:rPr lang="en-US" dirty="0"/>
              <a:t> task is generated (via an if or final clause), then OpenMP may generate a merged task.</a:t>
            </a:r>
            <a:endParaRPr lang="en-US" dirty="0">
              <a:solidFill>
                <a:srgbClr val="FF0000"/>
              </a:solidFill>
            </a:endParaRPr>
          </a:p>
        </p:txBody>
      </p:sp>
      <p:pic>
        <p:nvPicPr>
          <p:cNvPr id="5" name="Picture 4">
            <a:extLst>
              <a:ext uri="{FF2B5EF4-FFF2-40B4-BE49-F238E27FC236}">
                <a16:creationId xmlns:a16="http://schemas.microsoft.com/office/drawing/2014/main" id="{70F474E6-0B3E-F86E-A2CC-9B573D66DD08}"/>
              </a:ext>
            </a:extLst>
          </p:cNvPr>
          <p:cNvPicPr>
            <a:picLocks noChangeAspect="1"/>
          </p:cNvPicPr>
          <p:nvPr/>
        </p:nvPicPr>
        <p:blipFill>
          <a:blip r:embed="rId3"/>
          <a:stretch>
            <a:fillRect/>
          </a:stretch>
        </p:blipFill>
        <p:spPr>
          <a:xfrm>
            <a:off x="2912526" y="685633"/>
            <a:ext cx="7687748" cy="628738"/>
          </a:xfrm>
          <a:prstGeom prst="rect">
            <a:avLst/>
          </a:prstGeom>
        </p:spPr>
      </p:pic>
    </p:spTree>
    <p:extLst>
      <p:ext uri="{BB962C8B-B14F-4D97-AF65-F5344CB8AC3E}">
        <p14:creationId xmlns:p14="http://schemas.microsoft.com/office/powerpoint/2010/main" val="2854420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D8329-DFA7-80C1-8B4D-62BC9EA1EF47}"/>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204A84-0148-5782-37CB-EE12876AF9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053E9E-ED85-1B88-02B6-38C5A9EE5857}"/>
              </a:ext>
            </a:extLst>
          </p:cNvPr>
          <p:cNvSpPr>
            <a:spLocks noGrp="1"/>
          </p:cNvSpPr>
          <p:nvPr>
            <p:ph type="title"/>
          </p:nvPr>
        </p:nvSpPr>
        <p:spPr>
          <a:xfrm>
            <a:off x="233604" y="194557"/>
            <a:ext cx="7630236" cy="708166"/>
          </a:xfrm>
        </p:spPr>
        <p:txBody>
          <a:bodyPr anchor="b">
            <a:normAutofit fontScale="90000"/>
          </a:bodyPr>
          <a:lstStyle/>
          <a:p>
            <a:r>
              <a:rPr lang="en-US" sz="3300" dirty="0"/>
              <a:t>Difference between task and sections</a:t>
            </a:r>
            <a:br>
              <a:rPr lang="en-US" sz="3300" dirty="0"/>
            </a:br>
            <a:r>
              <a:rPr lang="en-US" sz="2000" b="0" dirty="0"/>
              <a:t>what is this??</a:t>
            </a:r>
          </a:p>
        </p:txBody>
      </p:sp>
      <p:graphicFrame>
        <p:nvGraphicFramePr>
          <p:cNvPr id="6" name="Content Placeholder 5">
            <a:extLst>
              <a:ext uri="{FF2B5EF4-FFF2-40B4-BE49-F238E27FC236}">
                <a16:creationId xmlns:a16="http://schemas.microsoft.com/office/drawing/2014/main" id="{B0B800A8-0B13-51C9-AAAC-015E88A28117}"/>
              </a:ext>
            </a:extLst>
          </p:cNvPr>
          <p:cNvGraphicFramePr>
            <a:graphicFrameLocks noGrp="1"/>
          </p:cNvGraphicFramePr>
          <p:nvPr>
            <p:ph idx="1"/>
            <p:extLst>
              <p:ext uri="{D42A27DB-BD31-4B8C-83A1-F6EECF244321}">
                <p14:modId xmlns:p14="http://schemas.microsoft.com/office/powerpoint/2010/main" val="629101306"/>
              </p:ext>
            </p:extLst>
          </p:nvPr>
        </p:nvGraphicFramePr>
        <p:xfrm>
          <a:off x="650240" y="1766888"/>
          <a:ext cx="10626406" cy="4851400"/>
        </p:xfrm>
        <a:graphic>
          <a:graphicData uri="http://schemas.openxmlformats.org/drawingml/2006/table">
            <a:tbl>
              <a:tblPr firstRow="1" bandRow="1">
                <a:tableStyleId>{5C22544A-7EE6-4342-B048-85BDC9FD1C3A}</a:tableStyleId>
              </a:tblPr>
              <a:tblGrid>
                <a:gridCol w="3523932">
                  <a:extLst>
                    <a:ext uri="{9D8B030D-6E8A-4147-A177-3AD203B41FA5}">
                      <a16:colId xmlns:a16="http://schemas.microsoft.com/office/drawing/2014/main" val="703458725"/>
                    </a:ext>
                  </a:extLst>
                </a:gridCol>
                <a:gridCol w="3551237">
                  <a:extLst>
                    <a:ext uri="{9D8B030D-6E8A-4147-A177-3AD203B41FA5}">
                      <a16:colId xmlns:a16="http://schemas.microsoft.com/office/drawing/2014/main" val="246168452"/>
                    </a:ext>
                  </a:extLst>
                </a:gridCol>
                <a:gridCol w="3551237">
                  <a:extLst>
                    <a:ext uri="{9D8B030D-6E8A-4147-A177-3AD203B41FA5}">
                      <a16:colId xmlns:a16="http://schemas.microsoft.com/office/drawing/2014/main" val="1406954588"/>
                    </a:ext>
                  </a:extLst>
                </a:gridCol>
              </a:tblGrid>
              <a:tr h="370840">
                <a:tc>
                  <a:txBody>
                    <a:bodyPr/>
                    <a:lstStyle/>
                    <a:p>
                      <a:pPr algn="ctr"/>
                      <a:r>
                        <a:rPr lang="en-US" dirty="0"/>
                        <a:t>Aspect</a:t>
                      </a:r>
                    </a:p>
                  </a:txBody>
                  <a:tcPr anchor="ctr"/>
                </a:tc>
                <a:tc>
                  <a:txBody>
                    <a:bodyPr/>
                    <a:lstStyle/>
                    <a:p>
                      <a:pPr algn="ctr"/>
                      <a:r>
                        <a:rPr lang="en-US" dirty="0"/>
                        <a:t>Sections </a:t>
                      </a:r>
                    </a:p>
                  </a:txBody>
                  <a:tcPr anchor="ctr"/>
                </a:tc>
                <a:tc>
                  <a:txBody>
                    <a:bodyPr/>
                    <a:lstStyle/>
                    <a:p>
                      <a:pPr algn="ctr"/>
                      <a:r>
                        <a:rPr lang="en-US" dirty="0"/>
                        <a:t>Task </a:t>
                      </a:r>
                    </a:p>
                  </a:txBody>
                  <a:tcPr anchor="ctr"/>
                </a:tc>
                <a:extLst>
                  <a:ext uri="{0D108BD9-81ED-4DB2-BD59-A6C34878D82A}">
                    <a16:rowId xmlns:a16="http://schemas.microsoft.com/office/drawing/2014/main" val="2250437466"/>
                  </a:ext>
                </a:extLst>
              </a:tr>
              <a:tr h="370840">
                <a:tc>
                  <a:txBody>
                    <a:bodyPr/>
                    <a:lstStyle/>
                    <a:p>
                      <a:pPr algn="ctr"/>
                      <a:r>
                        <a:rPr lang="en-US" dirty="0"/>
                        <a:t>Purpose</a:t>
                      </a:r>
                    </a:p>
                  </a:txBody>
                  <a:tcPr anchor="ctr"/>
                </a:tc>
                <a:tc>
                  <a:txBody>
                    <a:bodyPr/>
                    <a:lstStyle/>
                    <a:p>
                      <a:pPr algn="ctr"/>
                      <a:r>
                        <a:rPr lang="en-US" dirty="0"/>
                        <a:t>Divides work into a fixed number of independent code blocks. Each block is executed once by one thread in the team.</a:t>
                      </a:r>
                    </a:p>
                  </a:txBody>
                  <a:tcPr anchor="ctr"/>
                </a:tc>
                <a:tc>
                  <a:txBody>
                    <a:bodyPr/>
                    <a:lstStyle/>
                    <a:p>
                      <a:pPr algn="ctr"/>
                      <a:r>
                        <a:rPr lang="en-US" dirty="0"/>
                        <a:t>Defines units of work dynamically. Tasks can be created at runtime and scheduled by the OpenMP runtime system.</a:t>
                      </a:r>
                    </a:p>
                  </a:txBody>
                  <a:tcPr anchor="ctr"/>
                </a:tc>
                <a:extLst>
                  <a:ext uri="{0D108BD9-81ED-4DB2-BD59-A6C34878D82A}">
                    <a16:rowId xmlns:a16="http://schemas.microsoft.com/office/drawing/2014/main" val="4105764936"/>
                  </a:ext>
                </a:extLst>
              </a:tr>
              <a:tr h="370840">
                <a:tc>
                  <a:txBody>
                    <a:bodyPr/>
                    <a:lstStyle/>
                    <a:p>
                      <a:pPr algn="ctr"/>
                      <a:r>
                        <a:rPr lang="en-US" dirty="0"/>
                        <a:t>Execution model</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Static work-sharing: threads in the team are assigned one </a:t>
                      </a:r>
                      <a:r>
                        <a:rPr lang="en-US" sz="1800" kern="1200" dirty="0">
                          <a:solidFill>
                            <a:schemeClr val="dk1"/>
                          </a:solidFill>
                          <a:latin typeface="+mn-lt"/>
                          <a:ea typeface="+mn-ea"/>
                          <a:cs typeface="+mn-cs"/>
                        </a:rPr>
                        <a:t>section</a:t>
                      </a:r>
                      <a:r>
                        <a:rPr lang="en-US" dirty="0"/>
                        <a:t> each.</a:t>
                      </a:r>
                    </a:p>
                    <a:p>
                      <a:pPr algn="ctr"/>
                      <a:endParaRPr lang="en-US" dirty="0"/>
                    </a:p>
                  </a:txBody>
                  <a:tcPr anchor="ctr"/>
                </a:tc>
                <a:tc>
                  <a:txBody>
                    <a:bodyPr/>
                    <a:lstStyle/>
                    <a:p>
                      <a:pPr algn="ctr"/>
                      <a:r>
                        <a:rPr lang="en-US" dirty="0"/>
                        <a:t>Dynamic scheduling: tasks are queued and executed by available threads, possibly later.</a:t>
                      </a:r>
                    </a:p>
                  </a:txBody>
                  <a:tcPr anchor="ctr"/>
                </a:tc>
                <a:extLst>
                  <a:ext uri="{0D108BD9-81ED-4DB2-BD59-A6C34878D82A}">
                    <a16:rowId xmlns:a16="http://schemas.microsoft.com/office/drawing/2014/main" val="217242964"/>
                  </a:ext>
                </a:extLst>
              </a:tr>
              <a:tr h="370840">
                <a:tc>
                  <a:txBody>
                    <a:bodyPr/>
                    <a:lstStyle/>
                    <a:p>
                      <a:pPr algn="ctr"/>
                      <a:r>
                        <a:rPr lang="en-US" dirty="0"/>
                        <a:t>Flexibility</a:t>
                      </a:r>
                    </a:p>
                  </a:txBody>
                  <a:tcPr anchor="ctr"/>
                </a:tc>
                <a:tc>
                  <a:txBody>
                    <a:bodyPr/>
                    <a:lstStyle/>
                    <a:p>
                      <a:pPr algn="ctr"/>
                      <a:r>
                        <a:rPr lang="en-US" dirty="0"/>
                        <a:t>Limited: number of sections must be explicitly written in code.</a:t>
                      </a:r>
                    </a:p>
                  </a:txBody>
                  <a:tcPr anchor="ctr"/>
                </a:tc>
                <a:tc>
                  <a:txBody>
                    <a:bodyPr/>
                    <a:lstStyle/>
                    <a:p>
                      <a:pPr algn="ctr"/>
                      <a:r>
                        <a:rPr lang="en-US" dirty="0"/>
                        <a:t>High: tasks can be generated programmatically, even inside loops or recursive calls.</a:t>
                      </a:r>
                    </a:p>
                  </a:txBody>
                  <a:tcPr anchor="ctr"/>
                </a:tc>
                <a:extLst>
                  <a:ext uri="{0D108BD9-81ED-4DB2-BD59-A6C34878D82A}">
                    <a16:rowId xmlns:a16="http://schemas.microsoft.com/office/drawing/2014/main" val="280623025"/>
                  </a:ext>
                </a:extLst>
              </a:tr>
              <a:tr h="370840">
                <a:tc>
                  <a:txBody>
                    <a:bodyPr/>
                    <a:lstStyle/>
                    <a:p>
                      <a:pPr algn="ctr"/>
                      <a:r>
                        <a:rPr lang="en-US" dirty="0"/>
                        <a:t>Synchronization</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Implicit barrier at the end of </a:t>
                      </a:r>
                      <a:r>
                        <a:rPr lang="en-US" sz="1800" kern="1200" dirty="0">
                          <a:solidFill>
                            <a:schemeClr val="dk1"/>
                          </a:solidFill>
                          <a:latin typeface="+mn-lt"/>
                          <a:ea typeface="+mn-ea"/>
                          <a:cs typeface="+mn-cs"/>
                        </a:rPr>
                        <a:t>sections</a:t>
                      </a:r>
                      <a:r>
                        <a:rPr lang="en-US" dirty="0"/>
                        <a:t> unless </a:t>
                      </a:r>
                      <a:r>
                        <a:rPr lang="en-US" sz="1800" kern="1200" dirty="0" err="1">
                          <a:solidFill>
                            <a:schemeClr val="dk1"/>
                          </a:solidFill>
                          <a:latin typeface="+mn-lt"/>
                          <a:ea typeface="+mn-ea"/>
                          <a:cs typeface="+mn-cs"/>
                        </a:rPr>
                        <a:t>nowait</a:t>
                      </a:r>
                      <a:r>
                        <a:rPr lang="en-US" dirty="0"/>
                        <a:t> is used.</a:t>
                      </a:r>
                    </a:p>
                    <a:p>
                      <a:pPr algn="ctr"/>
                      <a:endParaRPr 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Tasks can synchronize with </a:t>
                      </a:r>
                      <a:r>
                        <a:rPr lang="en-US" sz="1800" kern="1200" dirty="0" err="1">
                          <a:solidFill>
                            <a:schemeClr val="dk1"/>
                          </a:solidFill>
                          <a:latin typeface="+mn-lt"/>
                          <a:ea typeface="+mn-ea"/>
                          <a:cs typeface="+mn-cs"/>
                        </a:rPr>
                        <a:t>taskwait</a:t>
                      </a:r>
                      <a:r>
                        <a:rPr lang="en-US" dirty="0"/>
                        <a:t>, giving more control.</a:t>
                      </a:r>
                    </a:p>
                    <a:p>
                      <a:pPr algn="ctr"/>
                      <a:endParaRPr lang="en-US" dirty="0"/>
                    </a:p>
                  </a:txBody>
                  <a:tcPr anchor="ctr"/>
                </a:tc>
                <a:extLst>
                  <a:ext uri="{0D108BD9-81ED-4DB2-BD59-A6C34878D82A}">
                    <a16:rowId xmlns:a16="http://schemas.microsoft.com/office/drawing/2014/main" val="2934535303"/>
                  </a:ext>
                </a:extLst>
              </a:tr>
            </a:tbl>
          </a:graphicData>
        </a:graphic>
      </p:graphicFrame>
    </p:spTree>
    <p:extLst>
      <p:ext uri="{BB962C8B-B14F-4D97-AF65-F5344CB8AC3E}">
        <p14:creationId xmlns:p14="http://schemas.microsoft.com/office/powerpoint/2010/main" val="2916984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1117-E5C3-B9AD-6C0B-1B2EDDCE2F5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80830E-6CAF-334E-DE9F-B3A45ABC85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1D89F1-4772-1775-55B2-96948BC8B0DF}"/>
              </a:ext>
            </a:extLst>
          </p:cNvPr>
          <p:cNvSpPr>
            <a:spLocks noGrp="1"/>
          </p:cNvSpPr>
          <p:nvPr>
            <p:ph type="title"/>
          </p:nvPr>
        </p:nvSpPr>
        <p:spPr>
          <a:xfrm>
            <a:off x="233604" y="194557"/>
            <a:ext cx="5862396" cy="708166"/>
          </a:xfrm>
        </p:spPr>
        <p:txBody>
          <a:bodyPr anchor="b">
            <a:normAutofit fontScale="90000"/>
          </a:bodyPr>
          <a:lstStyle/>
          <a:p>
            <a:r>
              <a:rPr lang="en-US" sz="3300" dirty="0"/>
              <a:t>Data environment</a:t>
            </a:r>
            <a:br>
              <a:rPr lang="en-US" sz="3300" dirty="0"/>
            </a:br>
            <a:endParaRPr lang="en-US" sz="2000" b="0" dirty="0"/>
          </a:p>
        </p:txBody>
      </p:sp>
      <p:sp>
        <p:nvSpPr>
          <p:cNvPr id="3" name="Content Placeholder 2">
            <a:extLst>
              <a:ext uri="{FF2B5EF4-FFF2-40B4-BE49-F238E27FC236}">
                <a16:creationId xmlns:a16="http://schemas.microsoft.com/office/drawing/2014/main" id="{859384A1-F11C-D251-768F-446D1B3F46D1}"/>
              </a:ext>
            </a:extLst>
          </p:cNvPr>
          <p:cNvSpPr>
            <a:spLocks noGrp="1"/>
          </p:cNvSpPr>
          <p:nvPr>
            <p:ph idx="1"/>
          </p:nvPr>
        </p:nvSpPr>
        <p:spPr>
          <a:xfrm>
            <a:off x="215414" y="822959"/>
            <a:ext cx="11761172" cy="5212081"/>
          </a:xfrm>
        </p:spPr>
        <p:txBody>
          <a:bodyPr>
            <a:normAutofit/>
          </a:bodyPr>
          <a:lstStyle/>
          <a:p>
            <a:pPr>
              <a:lnSpc>
                <a:spcPct val="110000"/>
              </a:lnSpc>
            </a:pPr>
            <a:r>
              <a:rPr lang="en-US" dirty="0"/>
              <a:t>In shared address space program, each and every thread can see anything on the heap so there’s all these shared variables.</a:t>
            </a:r>
          </a:p>
          <a:p>
            <a:pPr>
              <a:lnSpc>
                <a:spcPct val="110000"/>
              </a:lnSpc>
            </a:pPr>
            <a:r>
              <a:rPr lang="en-US" dirty="0"/>
              <a:t>Data environment = shared variables + variables that are on the stack of the thread</a:t>
            </a:r>
          </a:p>
          <a:p>
            <a:pPr>
              <a:lnSpc>
                <a:spcPct val="110000"/>
              </a:lnSpc>
            </a:pPr>
            <a:r>
              <a:rPr lang="en-US" dirty="0"/>
              <a:t>OpenMP is shared memory programming model</a:t>
            </a:r>
            <a:br>
              <a:rPr lang="en-US" dirty="0"/>
            </a:br>
            <a:r>
              <a:rPr lang="en-US" dirty="0">
                <a:sym typeface="Wingdings" panose="05000000000000000000" pitchFamily="2" charset="2"/>
              </a:rPr>
              <a:t> most variables are shared by default</a:t>
            </a:r>
            <a:br>
              <a:rPr lang="en-US" dirty="0">
                <a:sym typeface="Wingdings" panose="05000000000000000000" pitchFamily="2" charset="2"/>
              </a:rPr>
            </a:br>
            <a:r>
              <a:rPr lang="en-US" dirty="0">
                <a:sym typeface="Wingdings" panose="05000000000000000000" pitchFamily="2" charset="2"/>
              </a:rPr>
              <a:t> most variables are setting on the heap and all the threads can see them.</a:t>
            </a:r>
          </a:p>
          <a:p>
            <a:pPr>
              <a:lnSpc>
                <a:spcPct val="110000"/>
              </a:lnSpc>
            </a:pPr>
            <a:r>
              <a:rPr lang="en-US" dirty="0">
                <a:sym typeface="Wingdings" panose="05000000000000000000" pitchFamily="2" charset="2"/>
              </a:rPr>
              <a:t>Global variables are shared among threads.</a:t>
            </a:r>
          </a:p>
          <a:p>
            <a:pPr>
              <a:lnSpc>
                <a:spcPct val="110000"/>
              </a:lnSpc>
            </a:pPr>
            <a:r>
              <a:rPr lang="en-US" dirty="0">
                <a:sym typeface="Wingdings" panose="05000000000000000000" pitchFamily="2" charset="2"/>
              </a:rPr>
              <a:t>Variables declared inside the parallel region those go on the stack.</a:t>
            </a:r>
          </a:p>
          <a:p>
            <a:pPr>
              <a:lnSpc>
                <a:spcPct val="110000"/>
              </a:lnSpc>
            </a:pPr>
            <a:r>
              <a:rPr lang="en-US" dirty="0">
                <a:sym typeface="Wingdings" panose="05000000000000000000" pitchFamily="2" charset="2"/>
              </a:rPr>
              <a:t>There are times that wants to change the storage attributes </a:t>
            </a:r>
            <a:br>
              <a:rPr lang="en-US" dirty="0">
                <a:sym typeface="Wingdings" panose="05000000000000000000" pitchFamily="2" charset="2"/>
              </a:rPr>
            </a:br>
            <a:r>
              <a:rPr lang="en-US" dirty="0">
                <a:sym typeface="Wingdings" panose="05000000000000000000" pitchFamily="2" charset="2"/>
              </a:rPr>
              <a:t> I’ve a construct and I’ve some variables that exist prior to that construct; I want to change their storage attribute inside the construct.</a:t>
            </a:r>
          </a:p>
          <a:p>
            <a:pPr marL="0" indent="0" algn="ctr">
              <a:lnSpc>
                <a:spcPct val="110000"/>
              </a:lnSpc>
              <a:buNone/>
            </a:pPr>
            <a:r>
              <a:rPr lang="en-US" dirty="0">
                <a:solidFill>
                  <a:srgbClr val="FF0000"/>
                </a:solidFill>
                <a:sym typeface="Wingdings" panose="05000000000000000000" pitchFamily="2" charset="2"/>
              </a:rPr>
              <a:t>How to do that??</a:t>
            </a:r>
          </a:p>
        </p:txBody>
      </p:sp>
    </p:spTree>
    <p:extLst>
      <p:ext uri="{BB962C8B-B14F-4D97-AF65-F5344CB8AC3E}">
        <p14:creationId xmlns:p14="http://schemas.microsoft.com/office/powerpoint/2010/main" val="1413810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4BDE8-F27F-D3B5-C335-653155A019B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7499EC6-D131-1ED2-C18F-0F67027B8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E276A5-4258-94C4-61B4-B76836BD9362}"/>
              </a:ext>
            </a:extLst>
          </p:cNvPr>
          <p:cNvSpPr>
            <a:spLocks noGrp="1"/>
          </p:cNvSpPr>
          <p:nvPr>
            <p:ph type="title"/>
          </p:nvPr>
        </p:nvSpPr>
        <p:spPr>
          <a:xfrm>
            <a:off x="394968" y="114793"/>
            <a:ext cx="5862396" cy="708166"/>
          </a:xfrm>
        </p:spPr>
        <p:txBody>
          <a:bodyPr anchor="b">
            <a:normAutofit fontScale="90000"/>
          </a:bodyPr>
          <a:lstStyle/>
          <a:p>
            <a:r>
              <a:rPr lang="en-US" sz="3300" dirty="0"/>
              <a:t>Data environment</a:t>
            </a:r>
            <a:br>
              <a:rPr lang="en-US" sz="3300" dirty="0"/>
            </a:br>
            <a:endParaRPr lang="en-US" sz="2000" b="0" dirty="0"/>
          </a:p>
        </p:txBody>
      </p:sp>
      <p:sp>
        <p:nvSpPr>
          <p:cNvPr id="3" name="Content Placeholder 2">
            <a:extLst>
              <a:ext uri="{FF2B5EF4-FFF2-40B4-BE49-F238E27FC236}">
                <a16:creationId xmlns:a16="http://schemas.microsoft.com/office/drawing/2014/main" id="{5C59E78F-94FD-FEC2-11F8-8E54AA3FAD79}"/>
              </a:ext>
            </a:extLst>
          </p:cNvPr>
          <p:cNvSpPr>
            <a:spLocks noGrp="1"/>
          </p:cNvSpPr>
          <p:nvPr>
            <p:ph idx="1"/>
          </p:nvPr>
        </p:nvSpPr>
        <p:spPr>
          <a:xfrm>
            <a:off x="215414" y="822959"/>
            <a:ext cx="11761172" cy="5212081"/>
          </a:xfrm>
        </p:spPr>
        <p:txBody>
          <a:bodyPr>
            <a:normAutofit/>
          </a:bodyPr>
          <a:lstStyle/>
          <a:p>
            <a:pPr>
              <a:lnSpc>
                <a:spcPct val="110000"/>
              </a:lnSpc>
            </a:pPr>
            <a:r>
              <a:rPr lang="en-US" b="1" dirty="0"/>
              <a:t>Shared</a:t>
            </a:r>
            <a:r>
              <a:rPr lang="en-US" dirty="0"/>
              <a:t> </a:t>
            </a:r>
            <a:r>
              <a:rPr lang="en-US" dirty="0">
                <a:sym typeface="Wingdings" panose="05000000000000000000" pitchFamily="2" charset="2"/>
              </a:rPr>
              <a:t> normally being global [the normal setting]</a:t>
            </a:r>
          </a:p>
          <a:p>
            <a:pPr>
              <a:lnSpc>
                <a:spcPct val="110000"/>
              </a:lnSpc>
            </a:pPr>
            <a:r>
              <a:rPr lang="en-US" b="1" dirty="0">
                <a:sym typeface="Wingdings" panose="05000000000000000000" pitchFamily="2" charset="2"/>
              </a:rPr>
              <a:t>Private</a:t>
            </a:r>
            <a:r>
              <a:rPr lang="en-US" dirty="0">
                <a:sym typeface="Wingdings" panose="05000000000000000000" pitchFamily="2" charset="2"/>
              </a:rPr>
              <a:t>  </a:t>
            </a:r>
            <a:r>
              <a:rPr lang="en-US" u="sng" dirty="0">
                <a:sym typeface="Wingdings" panose="05000000000000000000" pitchFamily="2" charset="2"/>
              </a:rPr>
              <a:t>gives a private copy of variable for each thread and it’s uninitialized</a:t>
            </a:r>
            <a:r>
              <a:rPr lang="en-US" dirty="0">
                <a:sym typeface="Wingdings" panose="05000000000000000000" pitchFamily="2" charset="2"/>
              </a:rPr>
              <a:t>.</a:t>
            </a:r>
          </a:p>
          <a:p>
            <a:pPr>
              <a:lnSpc>
                <a:spcPct val="110000"/>
              </a:lnSpc>
            </a:pPr>
            <a:endParaRPr lang="en-US" dirty="0">
              <a:sym typeface="Wingdings" panose="05000000000000000000" pitchFamily="2" charset="2"/>
            </a:endParaRPr>
          </a:p>
          <a:p>
            <a:pPr>
              <a:lnSpc>
                <a:spcPct val="110000"/>
              </a:lnSpc>
            </a:pPr>
            <a:endParaRPr lang="en-US" dirty="0">
              <a:sym typeface="Wingdings" panose="05000000000000000000" pitchFamily="2" charset="2"/>
            </a:endParaRPr>
          </a:p>
          <a:p>
            <a:pPr>
              <a:lnSpc>
                <a:spcPct val="110000"/>
              </a:lnSpc>
            </a:pPr>
            <a:r>
              <a:rPr lang="en-US" b="1" dirty="0">
                <a:sym typeface="Wingdings" panose="05000000000000000000" pitchFamily="2" charset="2"/>
              </a:rPr>
              <a:t>First</a:t>
            </a:r>
            <a:r>
              <a:rPr lang="en-US" dirty="0">
                <a:sym typeface="Wingdings" panose="05000000000000000000" pitchFamily="2" charset="2"/>
              </a:rPr>
              <a:t> </a:t>
            </a:r>
            <a:r>
              <a:rPr lang="en-US" b="1" dirty="0">
                <a:sym typeface="Wingdings" panose="05000000000000000000" pitchFamily="2" charset="2"/>
              </a:rPr>
              <a:t>private</a:t>
            </a:r>
            <a:r>
              <a:rPr lang="en-US" dirty="0">
                <a:sym typeface="Wingdings" panose="05000000000000000000" pitchFamily="2" charset="2"/>
              </a:rPr>
              <a:t>  </a:t>
            </a:r>
            <a:r>
              <a:rPr lang="en-US" u="sng" dirty="0">
                <a:sym typeface="Wingdings" panose="05000000000000000000" pitchFamily="2" charset="2"/>
              </a:rPr>
              <a:t>it creates private copy but it will initialize it to the global copy</a:t>
            </a:r>
          </a:p>
          <a:p>
            <a:pPr>
              <a:lnSpc>
                <a:spcPct val="110000"/>
              </a:lnSpc>
            </a:pPr>
            <a:endParaRPr lang="en-US" dirty="0">
              <a:sym typeface="Wingdings" panose="05000000000000000000" pitchFamily="2" charset="2"/>
            </a:endParaRPr>
          </a:p>
          <a:p>
            <a:pPr>
              <a:lnSpc>
                <a:spcPct val="110000"/>
              </a:lnSpc>
            </a:pPr>
            <a:endParaRPr lang="en-US" dirty="0">
              <a:sym typeface="Wingdings" panose="05000000000000000000" pitchFamily="2" charset="2"/>
            </a:endParaRPr>
          </a:p>
          <a:p>
            <a:pPr>
              <a:lnSpc>
                <a:spcPct val="110000"/>
              </a:lnSpc>
            </a:pPr>
            <a:endParaRPr lang="en-US" dirty="0">
              <a:sym typeface="Wingdings" panose="05000000000000000000" pitchFamily="2" charset="2"/>
            </a:endParaRPr>
          </a:p>
          <a:p>
            <a:pPr>
              <a:lnSpc>
                <a:spcPct val="110000"/>
              </a:lnSpc>
            </a:pPr>
            <a:r>
              <a:rPr lang="en-US" b="1" dirty="0">
                <a:sym typeface="Wingdings" panose="05000000000000000000" pitchFamily="2" charset="2"/>
              </a:rPr>
              <a:t>Last</a:t>
            </a:r>
            <a:r>
              <a:rPr lang="en-US" dirty="0">
                <a:sym typeface="Wingdings" panose="05000000000000000000" pitchFamily="2" charset="2"/>
              </a:rPr>
              <a:t> </a:t>
            </a:r>
            <a:r>
              <a:rPr lang="en-US" b="1" dirty="0">
                <a:sym typeface="Wingdings" panose="05000000000000000000" pitchFamily="2" charset="2"/>
              </a:rPr>
              <a:t>private</a:t>
            </a:r>
            <a:r>
              <a:rPr lang="en-US" dirty="0">
                <a:sym typeface="Wingdings" panose="05000000000000000000" pitchFamily="2" charset="2"/>
              </a:rPr>
              <a:t>  </a:t>
            </a:r>
            <a:r>
              <a:rPr lang="en-US" u="sng" dirty="0">
                <a:sym typeface="Wingdings" panose="05000000000000000000" pitchFamily="2" charset="2"/>
              </a:rPr>
              <a:t>I want to retain the last value of the local variable, I want to know that the last value when I go outside the loop [whatever last iteration does, thread ran last iteration, copy its value to the global scope]</a:t>
            </a:r>
          </a:p>
          <a:p>
            <a:pPr>
              <a:lnSpc>
                <a:spcPct val="110000"/>
              </a:lnSpc>
            </a:pPr>
            <a:endParaRPr lang="en-US" dirty="0">
              <a:sym typeface="Wingdings" panose="05000000000000000000" pitchFamily="2" charset="2"/>
            </a:endParaRPr>
          </a:p>
          <a:p>
            <a:pPr>
              <a:lnSpc>
                <a:spcPct val="110000"/>
              </a:lnSpc>
            </a:pPr>
            <a:endParaRPr lang="en-US" dirty="0">
              <a:sym typeface="Wingdings" panose="05000000000000000000" pitchFamily="2" charset="2"/>
            </a:endParaRPr>
          </a:p>
          <a:p>
            <a:pPr marL="0" indent="0">
              <a:lnSpc>
                <a:spcPct val="110000"/>
              </a:lnSpc>
              <a:buNone/>
            </a:pPr>
            <a:endParaRPr lang="en-US" dirty="0">
              <a:sym typeface="Wingdings" panose="05000000000000000000" pitchFamily="2" charset="2"/>
            </a:endParaRPr>
          </a:p>
          <a:p>
            <a:pPr>
              <a:lnSpc>
                <a:spcPct val="110000"/>
              </a:lnSpc>
            </a:pPr>
            <a:endParaRPr lang="en-US" dirty="0">
              <a:sym typeface="Wingdings" panose="05000000000000000000" pitchFamily="2" charset="2"/>
            </a:endParaRPr>
          </a:p>
          <a:p>
            <a:pPr marL="0" indent="0">
              <a:lnSpc>
                <a:spcPct val="110000"/>
              </a:lnSpc>
              <a:buNone/>
            </a:pPr>
            <a:endParaRPr lang="en-US" dirty="0"/>
          </a:p>
        </p:txBody>
      </p:sp>
      <p:pic>
        <p:nvPicPr>
          <p:cNvPr id="5" name="Picture 4">
            <a:extLst>
              <a:ext uri="{FF2B5EF4-FFF2-40B4-BE49-F238E27FC236}">
                <a16:creationId xmlns:a16="http://schemas.microsoft.com/office/drawing/2014/main" id="{2CD73E82-F464-5720-5FD7-73C47BDD5B4B}"/>
              </a:ext>
            </a:extLst>
          </p:cNvPr>
          <p:cNvPicPr>
            <a:picLocks noChangeAspect="1"/>
          </p:cNvPicPr>
          <p:nvPr/>
        </p:nvPicPr>
        <p:blipFill>
          <a:blip r:embed="rId3"/>
          <a:stretch>
            <a:fillRect/>
          </a:stretch>
        </p:blipFill>
        <p:spPr>
          <a:xfrm>
            <a:off x="7298366" y="1855986"/>
            <a:ext cx="4372585" cy="628738"/>
          </a:xfrm>
          <a:prstGeom prst="rect">
            <a:avLst/>
          </a:prstGeom>
        </p:spPr>
      </p:pic>
      <p:cxnSp>
        <p:nvCxnSpPr>
          <p:cNvPr id="7" name="Connector: Curved 6">
            <a:extLst>
              <a:ext uri="{FF2B5EF4-FFF2-40B4-BE49-F238E27FC236}">
                <a16:creationId xmlns:a16="http://schemas.microsoft.com/office/drawing/2014/main" id="{2B8228C5-2F7E-80C9-A0A6-E30216DD5C2B}"/>
              </a:ext>
            </a:extLst>
          </p:cNvPr>
          <p:cNvCxnSpPr>
            <a:cxnSpLocks/>
            <a:stCxn id="5" idx="1"/>
          </p:cNvCxnSpPr>
          <p:nvPr/>
        </p:nvCxnSpPr>
        <p:spPr>
          <a:xfrm rot="10800000">
            <a:off x="6637468" y="2011681"/>
            <a:ext cx="660898" cy="158675"/>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E25DC41F-9FFD-700F-5401-253576278BA7}"/>
              </a:ext>
            </a:extLst>
          </p:cNvPr>
          <p:cNvSpPr txBox="1"/>
          <p:nvPr/>
        </p:nvSpPr>
        <p:spPr>
          <a:xfrm>
            <a:off x="1818173" y="1708690"/>
            <a:ext cx="4711588" cy="923330"/>
          </a:xfrm>
          <a:prstGeom prst="rect">
            <a:avLst/>
          </a:prstGeom>
          <a:noFill/>
        </p:spPr>
        <p:txBody>
          <a:bodyPr wrap="square" rtlCol="0">
            <a:spAutoFit/>
          </a:bodyPr>
          <a:lstStyle/>
          <a:p>
            <a:r>
              <a:rPr lang="en-US" dirty="0"/>
              <a:t>I’ve said inside this parallel region , I want you to create a variable named temp that is private to each thread.</a:t>
            </a:r>
          </a:p>
        </p:txBody>
      </p:sp>
      <p:pic>
        <p:nvPicPr>
          <p:cNvPr id="14" name="Picture 13">
            <a:extLst>
              <a:ext uri="{FF2B5EF4-FFF2-40B4-BE49-F238E27FC236}">
                <a16:creationId xmlns:a16="http://schemas.microsoft.com/office/drawing/2014/main" id="{F1085647-1006-EA9B-B178-1F1EDAD0F20E}"/>
              </a:ext>
            </a:extLst>
          </p:cNvPr>
          <p:cNvPicPr>
            <a:picLocks noChangeAspect="1"/>
          </p:cNvPicPr>
          <p:nvPr/>
        </p:nvPicPr>
        <p:blipFill>
          <a:blip r:embed="rId4"/>
          <a:stretch>
            <a:fillRect/>
          </a:stretch>
        </p:blipFill>
        <p:spPr>
          <a:xfrm>
            <a:off x="6898260" y="3251204"/>
            <a:ext cx="4772691" cy="628738"/>
          </a:xfrm>
          <a:prstGeom prst="rect">
            <a:avLst/>
          </a:prstGeom>
        </p:spPr>
      </p:pic>
      <p:cxnSp>
        <p:nvCxnSpPr>
          <p:cNvPr id="15" name="Connector: Curved 14">
            <a:extLst>
              <a:ext uri="{FF2B5EF4-FFF2-40B4-BE49-F238E27FC236}">
                <a16:creationId xmlns:a16="http://schemas.microsoft.com/office/drawing/2014/main" id="{0282C17E-956B-9F29-B6C2-D843878F6148}"/>
              </a:ext>
            </a:extLst>
          </p:cNvPr>
          <p:cNvCxnSpPr>
            <a:cxnSpLocks/>
          </p:cNvCxnSpPr>
          <p:nvPr/>
        </p:nvCxnSpPr>
        <p:spPr>
          <a:xfrm rot="10800000">
            <a:off x="6203707" y="3482358"/>
            <a:ext cx="660898" cy="158675"/>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099E52D-A5E7-2ECF-85D1-6C0A59AB57A8}"/>
              </a:ext>
            </a:extLst>
          </p:cNvPr>
          <p:cNvSpPr txBox="1"/>
          <p:nvPr/>
        </p:nvSpPr>
        <p:spPr>
          <a:xfrm>
            <a:off x="1384412" y="3179367"/>
            <a:ext cx="4711588" cy="1200329"/>
          </a:xfrm>
          <a:prstGeom prst="rect">
            <a:avLst/>
          </a:prstGeom>
          <a:noFill/>
        </p:spPr>
        <p:txBody>
          <a:bodyPr wrap="square" rtlCol="0">
            <a:spAutoFit/>
          </a:bodyPr>
          <a:lstStyle/>
          <a:p>
            <a:r>
              <a:rPr lang="en-US" dirty="0"/>
              <a:t>I’ve said inside this parallel region , I want you to create a variable named temp that is private to each thread and initialized by 0.</a:t>
            </a:r>
          </a:p>
        </p:txBody>
      </p:sp>
      <p:pic>
        <p:nvPicPr>
          <p:cNvPr id="18" name="Picture 17">
            <a:extLst>
              <a:ext uri="{FF2B5EF4-FFF2-40B4-BE49-F238E27FC236}">
                <a16:creationId xmlns:a16="http://schemas.microsoft.com/office/drawing/2014/main" id="{44EFE036-B528-F76B-22CA-FEB7EC7F7362}"/>
              </a:ext>
            </a:extLst>
          </p:cNvPr>
          <p:cNvPicPr>
            <a:picLocks noChangeAspect="1"/>
          </p:cNvPicPr>
          <p:nvPr/>
        </p:nvPicPr>
        <p:blipFill>
          <a:blip r:embed="rId5"/>
          <a:stretch>
            <a:fillRect/>
          </a:stretch>
        </p:blipFill>
        <p:spPr>
          <a:xfrm>
            <a:off x="7126892" y="5794747"/>
            <a:ext cx="4544059" cy="581106"/>
          </a:xfrm>
          <a:prstGeom prst="rect">
            <a:avLst/>
          </a:prstGeom>
        </p:spPr>
      </p:pic>
      <p:cxnSp>
        <p:nvCxnSpPr>
          <p:cNvPr id="19" name="Connector: Curved 18">
            <a:extLst>
              <a:ext uri="{FF2B5EF4-FFF2-40B4-BE49-F238E27FC236}">
                <a16:creationId xmlns:a16="http://schemas.microsoft.com/office/drawing/2014/main" id="{26C63D31-C916-2FBF-A521-F3F5857A4E3B}"/>
              </a:ext>
            </a:extLst>
          </p:cNvPr>
          <p:cNvCxnSpPr>
            <a:cxnSpLocks/>
          </p:cNvCxnSpPr>
          <p:nvPr/>
        </p:nvCxnSpPr>
        <p:spPr>
          <a:xfrm rot="10800000">
            <a:off x="6455106" y="5901064"/>
            <a:ext cx="660898" cy="158675"/>
          </a:xfrm>
          <a:prstGeom prst="curvedConnector3">
            <a:avLst>
              <a:gd name="adj1" fmla="val 50000"/>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3810BC22-3B21-2DFE-3AAB-929F19FDDF60}"/>
              </a:ext>
            </a:extLst>
          </p:cNvPr>
          <p:cNvSpPr txBox="1"/>
          <p:nvPr/>
        </p:nvSpPr>
        <p:spPr>
          <a:xfrm>
            <a:off x="1172584" y="5598073"/>
            <a:ext cx="5174815" cy="1200329"/>
          </a:xfrm>
          <a:prstGeom prst="rect">
            <a:avLst/>
          </a:prstGeom>
          <a:noFill/>
        </p:spPr>
        <p:txBody>
          <a:bodyPr wrap="square" rtlCol="0">
            <a:spAutoFit/>
          </a:bodyPr>
          <a:lstStyle/>
          <a:p>
            <a:r>
              <a:rPr lang="en-US" dirty="0"/>
              <a:t>I’ve said inside this parallel region , I want you to create a variable named temp that is private to each thread and the last value of it stored in the global copy [like reduction].</a:t>
            </a:r>
          </a:p>
        </p:txBody>
      </p:sp>
    </p:spTree>
    <p:extLst>
      <p:ext uri="{BB962C8B-B14F-4D97-AF65-F5344CB8AC3E}">
        <p14:creationId xmlns:p14="http://schemas.microsoft.com/office/powerpoint/2010/main" val="95537284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2788</TotalTime>
  <Words>967</Words>
  <Application>Microsoft Office PowerPoint</Application>
  <PresentationFormat>Widescreen</PresentationFormat>
  <Paragraphs>59</Paragraphs>
  <Slides>7</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Neue Haas Grotesk Text Pro</vt:lpstr>
      <vt:lpstr>Wingdings</vt:lpstr>
      <vt:lpstr>VanillaVTI</vt:lpstr>
      <vt:lpstr>Parallel computing</vt:lpstr>
      <vt:lpstr>Exercise 7</vt:lpstr>
      <vt:lpstr>Linked list with task </vt:lpstr>
      <vt:lpstr>Task clause  what is this??</vt:lpstr>
      <vt:lpstr>Difference between task and sections what is this??</vt:lpstr>
      <vt:lpstr>Data environment </vt:lpstr>
      <vt:lpstr>Data environment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23</cp:revision>
  <dcterms:created xsi:type="dcterms:W3CDTF">2026-02-12T13:52:08Z</dcterms:created>
  <dcterms:modified xsi:type="dcterms:W3CDTF">2026-03-20T13:15:16Z</dcterms:modified>
</cp:coreProperties>
</file>