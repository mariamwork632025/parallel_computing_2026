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22"/>
  </p:notesMasterIdLst>
  <p:sldIdLst>
    <p:sldId id="256" r:id="rId2"/>
    <p:sldId id="285" r:id="rId3"/>
    <p:sldId id="296" r:id="rId4"/>
    <p:sldId id="305" r:id="rId5"/>
    <p:sldId id="306" r:id="rId6"/>
    <p:sldId id="307" r:id="rId7"/>
    <p:sldId id="308" r:id="rId8"/>
    <p:sldId id="309" r:id="rId9"/>
    <p:sldId id="310" r:id="rId10"/>
    <p:sldId id="311" r:id="rId11"/>
    <p:sldId id="312" r:id="rId12"/>
    <p:sldId id="313" r:id="rId13"/>
    <p:sldId id="314" r:id="rId14"/>
    <p:sldId id="315" r:id="rId15"/>
    <p:sldId id="316" r:id="rId16"/>
    <p:sldId id="317" r:id="rId17"/>
    <p:sldId id="319" r:id="rId18"/>
    <p:sldId id="320" r:id="rId19"/>
    <p:sldId id="321" r:id="rId20"/>
    <p:sldId id="30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1C2"/>
    <a:srgbClr val="82B4DD"/>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22"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08E562-24ED-41D7-AEB8-880B26994F1F}" type="slidenum">
              <a:rPr lang="en-US" smtClean="0"/>
              <a:t>2</a:t>
            </a:fld>
            <a:endParaRPr lang="en-US"/>
          </a:p>
        </p:txBody>
      </p:sp>
    </p:spTree>
    <p:extLst>
      <p:ext uri="{BB962C8B-B14F-4D97-AF65-F5344CB8AC3E}">
        <p14:creationId xmlns:p14="http://schemas.microsoft.com/office/powerpoint/2010/main" val="268004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A664-761E-02E7-752F-150D89A98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313E8-4B41-7EEB-054A-89A9596D4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03119-77A7-F99B-35DE-61ED365602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52437A-1BCF-BA42-B0D2-263D3D223E3D}"/>
              </a:ext>
            </a:extLst>
          </p:cNvPr>
          <p:cNvSpPr>
            <a:spLocks noGrp="1"/>
          </p:cNvSpPr>
          <p:nvPr>
            <p:ph type="sldNum" sz="quarter" idx="5"/>
          </p:nvPr>
        </p:nvSpPr>
        <p:spPr/>
        <p:txBody>
          <a:bodyPr/>
          <a:lstStyle/>
          <a:p>
            <a:fld id="{9908E562-24ED-41D7-AEB8-880B26994F1F}" type="slidenum">
              <a:rPr lang="en-US" smtClean="0"/>
              <a:t>10</a:t>
            </a:fld>
            <a:endParaRPr lang="en-US"/>
          </a:p>
        </p:txBody>
      </p:sp>
    </p:spTree>
    <p:extLst>
      <p:ext uri="{BB962C8B-B14F-4D97-AF65-F5344CB8AC3E}">
        <p14:creationId xmlns:p14="http://schemas.microsoft.com/office/powerpoint/2010/main" val="912534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7448D-B914-4AC8-337B-B935563FC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4A394-BB77-CAE8-83BB-2546445453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6B09F-B8CA-0CC9-D6B2-E7EFD16F31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44DBDB-D1DA-29AA-24A0-0DAB3CBB3583}"/>
              </a:ext>
            </a:extLst>
          </p:cNvPr>
          <p:cNvSpPr>
            <a:spLocks noGrp="1"/>
          </p:cNvSpPr>
          <p:nvPr>
            <p:ph type="sldNum" sz="quarter" idx="5"/>
          </p:nvPr>
        </p:nvSpPr>
        <p:spPr/>
        <p:txBody>
          <a:bodyPr/>
          <a:lstStyle/>
          <a:p>
            <a:fld id="{9908E562-24ED-41D7-AEB8-880B26994F1F}" type="slidenum">
              <a:rPr lang="en-US" smtClean="0"/>
              <a:t>11</a:t>
            </a:fld>
            <a:endParaRPr lang="en-US"/>
          </a:p>
        </p:txBody>
      </p:sp>
    </p:spTree>
    <p:extLst>
      <p:ext uri="{BB962C8B-B14F-4D97-AF65-F5344CB8AC3E}">
        <p14:creationId xmlns:p14="http://schemas.microsoft.com/office/powerpoint/2010/main" val="1656018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07E51-7304-2EAA-CB01-032B0B089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947E6-ADB8-ECB6-63F5-09F44B0522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07B576-63D7-56F8-ACB4-8128033D8B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5E9D82-A8F6-79DA-D89D-DFAE35C0A9EC}"/>
              </a:ext>
            </a:extLst>
          </p:cNvPr>
          <p:cNvSpPr>
            <a:spLocks noGrp="1"/>
          </p:cNvSpPr>
          <p:nvPr>
            <p:ph type="sldNum" sz="quarter" idx="5"/>
          </p:nvPr>
        </p:nvSpPr>
        <p:spPr/>
        <p:txBody>
          <a:bodyPr/>
          <a:lstStyle/>
          <a:p>
            <a:fld id="{9908E562-24ED-41D7-AEB8-880B26994F1F}" type="slidenum">
              <a:rPr lang="en-US" smtClean="0"/>
              <a:t>12</a:t>
            </a:fld>
            <a:endParaRPr lang="en-US"/>
          </a:p>
        </p:txBody>
      </p:sp>
    </p:spTree>
    <p:extLst>
      <p:ext uri="{BB962C8B-B14F-4D97-AF65-F5344CB8AC3E}">
        <p14:creationId xmlns:p14="http://schemas.microsoft.com/office/powerpoint/2010/main" val="1674146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17990-B909-164F-45AB-B38D6C0F2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015D57-E648-E3F1-1B0E-14E88DFB2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A765B-A8D0-13C6-96D2-CD94561963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66E8E9-5787-B234-F99D-43C1719863BA}"/>
              </a:ext>
            </a:extLst>
          </p:cNvPr>
          <p:cNvSpPr>
            <a:spLocks noGrp="1"/>
          </p:cNvSpPr>
          <p:nvPr>
            <p:ph type="sldNum" sz="quarter" idx="5"/>
          </p:nvPr>
        </p:nvSpPr>
        <p:spPr/>
        <p:txBody>
          <a:bodyPr/>
          <a:lstStyle/>
          <a:p>
            <a:fld id="{9908E562-24ED-41D7-AEB8-880B26994F1F}" type="slidenum">
              <a:rPr lang="en-US" smtClean="0"/>
              <a:t>13</a:t>
            </a:fld>
            <a:endParaRPr lang="en-US"/>
          </a:p>
        </p:txBody>
      </p:sp>
    </p:spTree>
    <p:extLst>
      <p:ext uri="{BB962C8B-B14F-4D97-AF65-F5344CB8AC3E}">
        <p14:creationId xmlns:p14="http://schemas.microsoft.com/office/powerpoint/2010/main" val="1679644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CF4F3-D504-22F8-4FA9-D8FC42426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D7974-D08A-BCFB-AC24-9E4DD7A04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D39C1-D939-5C48-E40B-FA67570D527C}"/>
              </a:ext>
            </a:extLst>
          </p:cNvPr>
          <p:cNvSpPr>
            <a:spLocks noGrp="1"/>
          </p:cNvSpPr>
          <p:nvPr>
            <p:ph type="body" idx="1"/>
          </p:nvPr>
        </p:nvSpPr>
        <p:spPr/>
        <p:txBody>
          <a:bodyPr/>
          <a:lstStyle/>
          <a:p>
            <a:r>
              <a:rPr lang="en-US" dirty="0" err="1"/>
              <a:t>Omp_lock_t</a:t>
            </a:r>
            <a:r>
              <a:rPr lang="en-US" dirty="0">
                <a:sym typeface="Wingdings" panose="05000000000000000000" pitchFamily="2" charset="2"/>
              </a:rPr>
              <a:t> lock type</a:t>
            </a:r>
            <a:endParaRPr lang="en-US" dirty="0"/>
          </a:p>
        </p:txBody>
      </p:sp>
      <p:sp>
        <p:nvSpPr>
          <p:cNvPr id="4" name="Slide Number Placeholder 3">
            <a:extLst>
              <a:ext uri="{FF2B5EF4-FFF2-40B4-BE49-F238E27FC236}">
                <a16:creationId xmlns:a16="http://schemas.microsoft.com/office/drawing/2014/main" id="{A84C2A5C-84B7-F0E5-5650-0CBBCF99BC95}"/>
              </a:ext>
            </a:extLst>
          </p:cNvPr>
          <p:cNvSpPr>
            <a:spLocks noGrp="1"/>
          </p:cNvSpPr>
          <p:nvPr>
            <p:ph type="sldNum" sz="quarter" idx="5"/>
          </p:nvPr>
        </p:nvSpPr>
        <p:spPr/>
        <p:txBody>
          <a:bodyPr/>
          <a:lstStyle/>
          <a:p>
            <a:fld id="{9908E562-24ED-41D7-AEB8-880B26994F1F}" type="slidenum">
              <a:rPr lang="en-US" smtClean="0"/>
              <a:t>14</a:t>
            </a:fld>
            <a:endParaRPr lang="en-US"/>
          </a:p>
        </p:txBody>
      </p:sp>
    </p:spTree>
    <p:extLst>
      <p:ext uri="{BB962C8B-B14F-4D97-AF65-F5344CB8AC3E}">
        <p14:creationId xmlns:p14="http://schemas.microsoft.com/office/powerpoint/2010/main" val="955867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5480A-C031-D3BC-5210-A874B373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B203D-C17C-61FF-13ED-4C49A697B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ABB54-39C4-7BD7-EEEA-87B38755A722}"/>
              </a:ext>
            </a:extLst>
          </p:cNvPr>
          <p:cNvSpPr>
            <a:spLocks noGrp="1"/>
          </p:cNvSpPr>
          <p:nvPr>
            <p:ph type="body" idx="1"/>
          </p:nvPr>
        </p:nvSpPr>
        <p:spPr/>
        <p:txBody>
          <a:bodyPr/>
          <a:lstStyle/>
          <a:p>
            <a:r>
              <a:rPr lang="en-US" dirty="0" err="1"/>
              <a:t>Omp_lock_t</a:t>
            </a:r>
            <a:r>
              <a:rPr lang="en-US" dirty="0">
                <a:sym typeface="Wingdings" panose="05000000000000000000" pitchFamily="2" charset="2"/>
              </a:rPr>
              <a:t> lock type</a:t>
            </a:r>
            <a:endParaRPr lang="en-US" dirty="0"/>
          </a:p>
        </p:txBody>
      </p:sp>
      <p:sp>
        <p:nvSpPr>
          <p:cNvPr id="4" name="Slide Number Placeholder 3">
            <a:extLst>
              <a:ext uri="{FF2B5EF4-FFF2-40B4-BE49-F238E27FC236}">
                <a16:creationId xmlns:a16="http://schemas.microsoft.com/office/drawing/2014/main" id="{1DAB1F82-45DF-6071-CC62-C862C7673537}"/>
              </a:ext>
            </a:extLst>
          </p:cNvPr>
          <p:cNvSpPr>
            <a:spLocks noGrp="1"/>
          </p:cNvSpPr>
          <p:nvPr>
            <p:ph type="sldNum" sz="quarter" idx="5"/>
          </p:nvPr>
        </p:nvSpPr>
        <p:spPr/>
        <p:txBody>
          <a:bodyPr/>
          <a:lstStyle/>
          <a:p>
            <a:fld id="{9908E562-24ED-41D7-AEB8-880B26994F1F}" type="slidenum">
              <a:rPr lang="en-US" smtClean="0"/>
              <a:t>15</a:t>
            </a:fld>
            <a:endParaRPr lang="en-US"/>
          </a:p>
        </p:txBody>
      </p:sp>
    </p:spTree>
    <p:extLst>
      <p:ext uri="{BB962C8B-B14F-4D97-AF65-F5344CB8AC3E}">
        <p14:creationId xmlns:p14="http://schemas.microsoft.com/office/powerpoint/2010/main" val="2540576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56A10-0419-B283-BA3F-E210CA23F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FF3B5-7353-C156-60BA-EEAF2535A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2E8E7-B21F-B8C2-E514-1170C9D641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6DFC3C-4931-EECF-33AB-A35313AF2DF5}"/>
              </a:ext>
            </a:extLst>
          </p:cNvPr>
          <p:cNvSpPr>
            <a:spLocks noGrp="1"/>
          </p:cNvSpPr>
          <p:nvPr>
            <p:ph type="sldNum" sz="quarter" idx="5"/>
          </p:nvPr>
        </p:nvSpPr>
        <p:spPr/>
        <p:txBody>
          <a:bodyPr/>
          <a:lstStyle/>
          <a:p>
            <a:fld id="{9908E562-24ED-41D7-AEB8-880B26994F1F}" type="slidenum">
              <a:rPr lang="en-US" smtClean="0"/>
              <a:t>16</a:t>
            </a:fld>
            <a:endParaRPr lang="en-US"/>
          </a:p>
        </p:txBody>
      </p:sp>
    </p:spTree>
    <p:extLst>
      <p:ext uri="{BB962C8B-B14F-4D97-AF65-F5344CB8AC3E}">
        <p14:creationId xmlns:p14="http://schemas.microsoft.com/office/powerpoint/2010/main" val="1989485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A6485-5462-6A61-2A61-925893858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5AACB-6975-94F6-12D7-ADF40C3E7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2AE84-4A77-5768-FD3D-43593356E5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B7869A-865C-FE83-D809-4130E5DFD47F}"/>
              </a:ext>
            </a:extLst>
          </p:cNvPr>
          <p:cNvSpPr>
            <a:spLocks noGrp="1"/>
          </p:cNvSpPr>
          <p:nvPr>
            <p:ph type="sldNum" sz="quarter" idx="5"/>
          </p:nvPr>
        </p:nvSpPr>
        <p:spPr/>
        <p:txBody>
          <a:bodyPr/>
          <a:lstStyle/>
          <a:p>
            <a:fld id="{9908E562-24ED-41D7-AEB8-880B26994F1F}" type="slidenum">
              <a:rPr lang="en-US" smtClean="0"/>
              <a:t>17</a:t>
            </a:fld>
            <a:endParaRPr lang="en-US"/>
          </a:p>
        </p:txBody>
      </p:sp>
    </p:spTree>
    <p:extLst>
      <p:ext uri="{BB962C8B-B14F-4D97-AF65-F5344CB8AC3E}">
        <p14:creationId xmlns:p14="http://schemas.microsoft.com/office/powerpoint/2010/main" val="2893441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9B16E-B6CB-18DE-AB02-259D6D94E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B1A64-FB7B-1822-5356-3DD285A8F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08677-7680-2B4B-4772-C33C9A492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28DF58-D7F3-1644-6BC2-78440DEC795B}"/>
              </a:ext>
            </a:extLst>
          </p:cNvPr>
          <p:cNvSpPr>
            <a:spLocks noGrp="1"/>
          </p:cNvSpPr>
          <p:nvPr>
            <p:ph type="sldNum" sz="quarter" idx="5"/>
          </p:nvPr>
        </p:nvSpPr>
        <p:spPr/>
        <p:txBody>
          <a:bodyPr/>
          <a:lstStyle/>
          <a:p>
            <a:fld id="{9908E562-24ED-41D7-AEB8-880B26994F1F}" type="slidenum">
              <a:rPr lang="en-US" smtClean="0"/>
              <a:t>18</a:t>
            </a:fld>
            <a:endParaRPr lang="en-US"/>
          </a:p>
        </p:txBody>
      </p:sp>
    </p:spTree>
    <p:extLst>
      <p:ext uri="{BB962C8B-B14F-4D97-AF65-F5344CB8AC3E}">
        <p14:creationId xmlns:p14="http://schemas.microsoft.com/office/powerpoint/2010/main" val="3096662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60F78-211C-8816-2AFB-9AEF9DD1F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6A0C9-0089-3A58-FB28-9370C1B28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49369-D40D-4401-30FD-DF93634705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3AEC87-E31F-EE57-60A8-51D100745913}"/>
              </a:ext>
            </a:extLst>
          </p:cNvPr>
          <p:cNvSpPr>
            <a:spLocks noGrp="1"/>
          </p:cNvSpPr>
          <p:nvPr>
            <p:ph type="sldNum" sz="quarter" idx="5"/>
          </p:nvPr>
        </p:nvSpPr>
        <p:spPr/>
        <p:txBody>
          <a:bodyPr/>
          <a:lstStyle/>
          <a:p>
            <a:fld id="{9908E562-24ED-41D7-AEB8-880B26994F1F}" type="slidenum">
              <a:rPr lang="en-US" smtClean="0"/>
              <a:t>19</a:t>
            </a:fld>
            <a:endParaRPr lang="en-US"/>
          </a:p>
        </p:txBody>
      </p:sp>
    </p:spTree>
    <p:extLst>
      <p:ext uri="{BB962C8B-B14F-4D97-AF65-F5344CB8AC3E}">
        <p14:creationId xmlns:p14="http://schemas.microsoft.com/office/powerpoint/2010/main" val="2435446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3/30/2026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3/30/2026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3/30/2026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3/30/2026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3/30/2026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3/30/2026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3/30/2026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3/30/2026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3/30/2026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a:t>Sec.9</a:t>
            </a:r>
            <a:endParaRPr lang="en-US" sz="2200" dirty="0"/>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7A321-9B4A-415B-B92B-0410EDB07B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998DAC-91F4-4ABA-F88C-B22D9A31F82F}"/>
              </a:ext>
            </a:extLst>
          </p:cNvPr>
          <p:cNvSpPr>
            <a:spLocks noGrp="1"/>
          </p:cNvSpPr>
          <p:nvPr>
            <p:ph type="title"/>
          </p:nvPr>
        </p:nvSpPr>
        <p:spPr>
          <a:xfrm>
            <a:off x="233604" y="194557"/>
            <a:ext cx="5862396" cy="708166"/>
          </a:xfrm>
        </p:spPr>
        <p:txBody>
          <a:bodyPr anchor="b">
            <a:normAutofit fontScale="90000"/>
          </a:bodyPr>
          <a:lstStyle/>
          <a:p>
            <a:r>
              <a:rPr lang="en-US" sz="3300" dirty="0"/>
              <a:t>Locks </a:t>
            </a:r>
            <a:br>
              <a:rPr lang="en-US" sz="3300" dirty="0"/>
            </a:br>
            <a:r>
              <a:rPr lang="en-US" sz="2000" b="0" dirty="0"/>
              <a:t>what is this??</a:t>
            </a:r>
          </a:p>
        </p:txBody>
      </p:sp>
      <p:sp>
        <p:nvSpPr>
          <p:cNvPr id="3" name="Content Placeholder 2">
            <a:extLst>
              <a:ext uri="{FF2B5EF4-FFF2-40B4-BE49-F238E27FC236}">
                <a16:creationId xmlns:a16="http://schemas.microsoft.com/office/drawing/2014/main" id="{179AB40D-D607-FB6C-94C1-5F9A26DB02C3}"/>
              </a:ext>
            </a:extLst>
          </p:cNvPr>
          <p:cNvSpPr>
            <a:spLocks noGrp="1"/>
          </p:cNvSpPr>
          <p:nvPr>
            <p:ph idx="1"/>
          </p:nvPr>
        </p:nvSpPr>
        <p:spPr>
          <a:xfrm>
            <a:off x="215414" y="1451362"/>
            <a:ext cx="11761172" cy="5212081"/>
          </a:xfrm>
        </p:spPr>
        <p:txBody>
          <a:bodyPr>
            <a:normAutofit/>
          </a:bodyPr>
          <a:lstStyle/>
          <a:p>
            <a:pPr>
              <a:lnSpc>
                <a:spcPct val="110000"/>
              </a:lnSpc>
            </a:pPr>
            <a:r>
              <a:rPr lang="en-US" dirty="0"/>
              <a:t>There are times you need some thing even more low-level, something where you have even greater control over how you do the synchronization.</a:t>
            </a:r>
          </a:p>
          <a:p>
            <a:pPr>
              <a:lnSpc>
                <a:spcPct val="110000"/>
              </a:lnSpc>
            </a:pPr>
            <a:r>
              <a:rPr lang="en-US" b="1" dirty="0"/>
              <a:t>Locks</a:t>
            </a:r>
            <a:r>
              <a:rPr lang="en-US" dirty="0"/>
              <a:t> </a:t>
            </a:r>
            <a:r>
              <a:rPr lang="en-US" dirty="0">
                <a:sym typeface="Wingdings" panose="05000000000000000000" pitchFamily="2" charset="2"/>
              </a:rPr>
              <a:t> is kind of the lowest level of mutual exclusion synchronization in concurrent programming.</a:t>
            </a:r>
          </a:p>
          <a:p>
            <a:pPr>
              <a:lnSpc>
                <a:spcPct val="110000"/>
              </a:lnSpc>
            </a:pPr>
            <a:r>
              <a:rPr lang="en-US" dirty="0">
                <a:sym typeface="Wingdings" panose="05000000000000000000" pitchFamily="2" charset="2"/>
              </a:rPr>
              <a:t>How does it work??</a:t>
            </a:r>
          </a:p>
          <a:p>
            <a:pPr>
              <a:lnSpc>
                <a:spcPct val="110000"/>
              </a:lnSpc>
            </a:pPr>
            <a:r>
              <a:rPr lang="en-US" dirty="0">
                <a:sym typeface="Wingdings" panose="05000000000000000000" pitchFamily="2" charset="2"/>
              </a:rPr>
              <a:t>First, if you hold the lock, you’re happy and you can go off and do what you want.</a:t>
            </a:r>
          </a:p>
          <a:p>
            <a:pPr>
              <a:lnSpc>
                <a:spcPct val="110000"/>
              </a:lnSpc>
            </a:pPr>
            <a:r>
              <a:rPr lang="en-US" dirty="0">
                <a:sym typeface="Wingdings" panose="05000000000000000000" pitchFamily="2" charset="2"/>
              </a:rPr>
              <a:t>Second, if you try to grab a lock and someone else is holding it, you’re waiting until they are done then you can go and grab the lock.</a:t>
            </a:r>
          </a:p>
          <a:p>
            <a:pPr>
              <a:lnSpc>
                <a:spcPct val="110000"/>
              </a:lnSpc>
            </a:pPr>
            <a:r>
              <a:rPr lang="en-US" dirty="0">
                <a:sym typeface="Wingdings" panose="05000000000000000000" pitchFamily="2" charset="2"/>
              </a:rPr>
              <a:t>Lock is a function API; you can do all sorts of low-level details with it that you can’t do with a high-level critical section</a:t>
            </a:r>
          </a:p>
          <a:p>
            <a:pPr marL="0" indent="0" algn="ctr">
              <a:lnSpc>
                <a:spcPct val="110000"/>
              </a:lnSpc>
              <a:buNone/>
            </a:pPr>
            <a:r>
              <a:rPr lang="en-US" dirty="0">
                <a:solidFill>
                  <a:srgbClr val="FF0000"/>
                </a:solidFill>
                <a:sym typeface="Wingdings" panose="05000000000000000000" pitchFamily="2" charset="2"/>
              </a:rPr>
              <a:t>What’s the base term behind locks??</a:t>
            </a:r>
            <a:endParaRPr lang="en-US" dirty="0">
              <a:solidFill>
                <a:srgbClr val="FF0000"/>
              </a:solidFill>
            </a:endParaRPr>
          </a:p>
        </p:txBody>
      </p:sp>
    </p:spTree>
    <p:extLst>
      <p:ext uri="{BB962C8B-B14F-4D97-AF65-F5344CB8AC3E}">
        <p14:creationId xmlns:p14="http://schemas.microsoft.com/office/powerpoint/2010/main" val="2019575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3E9E9-0C66-0E11-6C0F-0A80FE6E6D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50333-3FF4-E76F-F20E-2C78D2E7B718}"/>
              </a:ext>
            </a:extLst>
          </p:cNvPr>
          <p:cNvSpPr>
            <a:spLocks noGrp="1"/>
          </p:cNvSpPr>
          <p:nvPr>
            <p:ph idx="1"/>
          </p:nvPr>
        </p:nvSpPr>
        <p:spPr>
          <a:xfrm>
            <a:off x="612646" y="1155526"/>
            <a:ext cx="10653579" cy="5421855"/>
          </a:xfrm>
        </p:spPr>
        <p:txBody>
          <a:bodyPr>
            <a:normAutofit fontScale="92500" lnSpcReduction="20000"/>
          </a:bodyPr>
          <a:lstStyle/>
          <a:p>
            <a:r>
              <a:rPr lang="en-US" b="1" dirty="0"/>
              <a:t>What is a Semaphore?</a:t>
            </a:r>
          </a:p>
          <a:p>
            <a:r>
              <a:rPr lang="en-US" dirty="0"/>
              <a:t>A semaphore is a software abstraction proposed by the late Dutch computer scientist </a:t>
            </a:r>
            <a:r>
              <a:rPr lang="en-US" dirty="0" err="1"/>
              <a:t>Edsger</a:t>
            </a:r>
            <a:r>
              <a:rPr lang="en-US" dirty="0"/>
              <a:t> Dijkstra that supports two atomic operations:</a:t>
            </a:r>
          </a:p>
          <a:p>
            <a:pPr marL="457200" indent="-457200">
              <a:buFont typeface="+mj-lt"/>
              <a:buAutoNum type="arabicPeriod"/>
            </a:pPr>
            <a:r>
              <a:rPr lang="en-US" dirty="0"/>
              <a:t>P or lock</a:t>
            </a:r>
          </a:p>
          <a:p>
            <a:pPr marL="457200" indent="-457200">
              <a:buFont typeface="+mj-lt"/>
              <a:buAutoNum type="arabicPeriod"/>
            </a:pPr>
            <a:r>
              <a:rPr lang="en-US" dirty="0"/>
              <a:t>V or unlock</a:t>
            </a:r>
          </a:p>
          <a:p>
            <a:r>
              <a:rPr lang="en-US" dirty="0"/>
              <a:t>At its core, a </a:t>
            </a:r>
            <a:r>
              <a:rPr lang="en-US" b="1" dirty="0"/>
              <a:t>semaphore</a:t>
            </a:r>
            <a:r>
              <a:rPr lang="en-US" dirty="0"/>
              <a:t> is a signaling mechanism used to control access to a common resource by multiple processes or threads in a concurrent system. Think of it as a counter that keeps track of the number of available “permits” or “slots” for a particular resource.</a:t>
            </a:r>
          </a:p>
          <a:p>
            <a:r>
              <a:rPr lang="en-US" dirty="0"/>
              <a:t>Semaphores are particularly useful for scenarios where you need to limit the number of threads that can simultaneously perform a certain operation or access a fixed number of identical resources (e.g., database connections, printer slots, CPU cores).</a:t>
            </a:r>
          </a:p>
          <a:p>
            <a:r>
              <a:rPr lang="en-US" b="1" dirty="0"/>
              <a:t>There are two basic types of semaphores:</a:t>
            </a:r>
          </a:p>
          <a:p>
            <a:pPr marL="457200" indent="-457200">
              <a:buFont typeface="+mj-lt"/>
              <a:buAutoNum type="arabicPeriod"/>
            </a:pPr>
            <a:r>
              <a:rPr lang="en-US" b="1" dirty="0"/>
              <a:t>Binary semaphore</a:t>
            </a:r>
          </a:p>
          <a:p>
            <a:pPr marL="457200" indent="-457200">
              <a:buFont typeface="+mj-lt"/>
              <a:buAutoNum type="arabicPeriod"/>
            </a:pPr>
            <a:r>
              <a:rPr lang="en-US" b="1" dirty="0"/>
              <a:t>Counting semaphore</a:t>
            </a:r>
          </a:p>
        </p:txBody>
      </p:sp>
      <p:sp>
        <p:nvSpPr>
          <p:cNvPr id="6" name="Title 1">
            <a:extLst>
              <a:ext uri="{FF2B5EF4-FFF2-40B4-BE49-F238E27FC236}">
                <a16:creationId xmlns:a16="http://schemas.microsoft.com/office/drawing/2014/main" id="{2628714B-E393-35E4-66C7-9848B813F6FA}"/>
              </a:ext>
            </a:extLst>
          </p:cNvPr>
          <p:cNvSpPr txBox="1">
            <a:spLocks/>
          </p:cNvSpPr>
          <p:nvPr/>
        </p:nvSpPr>
        <p:spPr>
          <a:xfrm>
            <a:off x="491786" y="280619"/>
            <a:ext cx="9125549" cy="708166"/>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Base term</a:t>
            </a:r>
            <a:br>
              <a:rPr lang="en-US" sz="3300" dirty="0"/>
            </a:br>
            <a:r>
              <a:rPr lang="en-US" sz="2000" b="0" dirty="0"/>
              <a:t>semaphores and mutex</a:t>
            </a:r>
          </a:p>
        </p:txBody>
      </p:sp>
    </p:spTree>
    <p:extLst>
      <p:ext uri="{BB962C8B-B14F-4D97-AF65-F5344CB8AC3E}">
        <p14:creationId xmlns:p14="http://schemas.microsoft.com/office/powerpoint/2010/main" val="2578377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9FC72-C877-742C-5D43-FA27A4F062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45D609-367A-C274-0801-0413B9BE13A0}"/>
              </a:ext>
            </a:extLst>
          </p:cNvPr>
          <p:cNvSpPr>
            <a:spLocks noGrp="1"/>
          </p:cNvSpPr>
          <p:nvPr>
            <p:ph idx="1"/>
          </p:nvPr>
        </p:nvSpPr>
        <p:spPr>
          <a:xfrm>
            <a:off x="612646" y="1155526"/>
            <a:ext cx="10653579" cy="5421855"/>
          </a:xfrm>
        </p:spPr>
        <p:txBody>
          <a:bodyPr>
            <a:normAutofit/>
          </a:bodyPr>
          <a:lstStyle/>
          <a:p>
            <a:r>
              <a:rPr lang="en-US" dirty="0"/>
              <a:t>A </a:t>
            </a:r>
            <a:r>
              <a:rPr lang="en-US" b="1" dirty="0"/>
              <a:t>binary semaphore </a:t>
            </a:r>
            <a:r>
              <a:rPr lang="en-US" dirty="0"/>
              <a:t>has a state indicating whether it is locked or unlocked.</a:t>
            </a:r>
          </a:p>
          <a:p>
            <a:r>
              <a:rPr lang="en-US" b="1" dirty="0"/>
              <a:t>P</a:t>
            </a:r>
            <a:r>
              <a:rPr lang="en-US" dirty="0"/>
              <a:t>:If the semaphore is unlocked, it becomes locked and the call returns, allowing the thread to continue. If the semaphore is locked, then the thread is blocked and placed in a queue Q of waiting threads.</a:t>
            </a:r>
          </a:p>
          <a:p>
            <a:r>
              <a:rPr lang="en-US" b="1" dirty="0"/>
              <a:t>V</a:t>
            </a:r>
            <a:r>
              <a:rPr lang="en-US" dirty="0"/>
              <a:t>: If the semaphore’s queue is empty, the semaphore becomes unlocked. Other wise, a thread T is dequeued from Q and allowed to continue execution</a:t>
            </a:r>
          </a:p>
          <a:p>
            <a:r>
              <a:rPr lang="en-US" dirty="0"/>
              <a:t>If the queue employed by a semaphore is a FIFO queue, then the semaphore is called strong. Otherwise, it is called weak. In this case, there is no priority maintained between blocked threads, which could potentially lead to an indefinite block of a thread (a phenomenon called starvation)</a:t>
            </a:r>
            <a:endParaRPr lang="en-US" b="1" dirty="0"/>
          </a:p>
        </p:txBody>
      </p:sp>
      <p:sp>
        <p:nvSpPr>
          <p:cNvPr id="6" name="Title 1">
            <a:extLst>
              <a:ext uri="{FF2B5EF4-FFF2-40B4-BE49-F238E27FC236}">
                <a16:creationId xmlns:a16="http://schemas.microsoft.com/office/drawing/2014/main" id="{4A6242B0-1A03-F2A2-97D4-F0DD659B8247}"/>
              </a:ext>
            </a:extLst>
          </p:cNvPr>
          <p:cNvSpPr txBox="1">
            <a:spLocks/>
          </p:cNvSpPr>
          <p:nvPr/>
        </p:nvSpPr>
        <p:spPr>
          <a:xfrm>
            <a:off x="491786" y="280619"/>
            <a:ext cx="9125549" cy="708166"/>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Binary semaphore</a:t>
            </a:r>
            <a:br>
              <a:rPr lang="en-US" sz="3300" dirty="0"/>
            </a:br>
            <a:r>
              <a:rPr lang="en-US" sz="2000" b="0" dirty="0"/>
              <a:t>semaphores and mutex</a:t>
            </a:r>
          </a:p>
        </p:txBody>
      </p:sp>
    </p:spTree>
    <p:extLst>
      <p:ext uri="{BB962C8B-B14F-4D97-AF65-F5344CB8AC3E}">
        <p14:creationId xmlns:p14="http://schemas.microsoft.com/office/powerpoint/2010/main" val="4116134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FBC07-5940-DFDF-42BC-018933C596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FEECC7-9F75-43E8-8393-20D6DE83DEEC}"/>
              </a:ext>
            </a:extLst>
          </p:cNvPr>
          <p:cNvSpPr>
            <a:spLocks noGrp="1"/>
          </p:cNvSpPr>
          <p:nvPr>
            <p:ph idx="1"/>
          </p:nvPr>
        </p:nvSpPr>
        <p:spPr>
          <a:xfrm>
            <a:off x="612646" y="1155526"/>
            <a:ext cx="10653579" cy="5421855"/>
          </a:xfrm>
        </p:spPr>
        <p:txBody>
          <a:bodyPr>
            <a:normAutofit/>
          </a:bodyPr>
          <a:lstStyle/>
          <a:p>
            <a:r>
              <a:rPr lang="en-US" dirty="0"/>
              <a:t>A </a:t>
            </a:r>
            <a:r>
              <a:rPr lang="en-US" b="1" dirty="0"/>
              <a:t>counting semaphore </a:t>
            </a:r>
            <a:r>
              <a:rPr lang="en-US" dirty="0"/>
              <a:t>(also known as a general semaphore) has a counter C as a state, indicating how many resources of some type are available (e.g., messages, file handles, buffers, etc.).</a:t>
            </a:r>
          </a:p>
          <a:p>
            <a:r>
              <a:rPr lang="en-US" b="1" dirty="0"/>
              <a:t>P</a:t>
            </a:r>
            <a:r>
              <a:rPr lang="en-US" dirty="0"/>
              <a:t>:C is decremented. If its new value is negative, the thread is blocked and placed in the waiting-threads queue Q</a:t>
            </a:r>
          </a:p>
          <a:p>
            <a:r>
              <a:rPr lang="en-US" b="1" dirty="0"/>
              <a:t>V</a:t>
            </a:r>
            <a:r>
              <a:rPr lang="en-US" dirty="0"/>
              <a:t>:C is incremented. If the new value is zero or negative, a thread T is dequeued from Q and allowed to continue execution</a:t>
            </a:r>
            <a:endParaRPr lang="en-US" b="1" dirty="0"/>
          </a:p>
        </p:txBody>
      </p:sp>
      <p:sp>
        <p:nvSpPr>
          <p:cNvPr id="6" name="Title 1">
            <a:extLst>
              <a:ext uri="{FF2B5EF4-FFF2-40B4-BE49-F238E27FC236}">
                <a16:creationId xmlns:a16="http://schemas.microsoft.com/office/drawing/2014/main" id="{68EF00CC-CDA9-D9D7-F6A3-06F944133038}"/>
              </a:ext>
            </a:extLst>
          </p:cNvPr>
          <p:cNvSpPr txBox="1">
            <a:spLocks/>
          </p:cNvSpPr>
          <p:nvPr/>
        </p:nvSpPr>
        <p:spPr>
          <a:xfrm>
            <a:off x="491786" y="280619"/>
            <a:ext cx="9125549" cy="708166"/>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Counting semaphore</a:t>
            </a:r>
            <a:br>
              <a:rPr lang="en-US" sz="3300" dirty="0"/>
            </a:br>
            <a:r>
              <a:rPr lang="en-US" sz="2000" b="0" dirty="0"/>
              <a:t>semaphores and mutex</a:t>
            </a:r>
          </a:p>
        </p:txBody>
      </p:sp>
    </p:spTree>
    <p:extLst>
      <p:ext uri="{BB962C8B-B14F-4D97-AF65-F5344CB8AC3E}">
        <p14:creationId xmlns:p14="http://schemas.microsoft.com/office/powerpoint/2010/main" val="3397246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5A07A-0A76-34F0-8EDF-C6F9FAB1A46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92D7F7-1B3C-3881-4BB1-1A08FC4F45C7}"/>
              </a:ext>
            </a:extLst>
          </p:cNvPr>
          <p:cNvSpPr>
            <a:spLocks noGrp="1"/>
          </p:cNvSpPr>
          <p:nvPr>
            <p:ph idx="1"/>
          </p:nvPr>
        </p:nvSpPr>
        <p:spPr>
          <a:xfrm>
            <a:off x="491786" y="988784"/>
            <a:ext cx="10653579" cy="5869215"/>
          </a:xfrm>
        </p:spPr>
        <p:txBody>
          <a:bodyPr>
            <a:normAutofit/>
          </a:bodyPr>
          <a:lstStyle/>
          <a:p>
            <a:r>
              <a:rPr lang="en-US" dirty="0"/>
              <a:t>Semaphores are a fine-grain mechanism for controlling concurrency, and as such they offer the potential of extracting great performance but at the expense of development effort. </a:t>
            </a:r>
          </a:p>
          <a:p>
            <a:r>
              <a:rPr lang="en-US" dirty="0"/>
              <a:t>Not only are </a:t>
            </a:r>
            <a:r>
              <a:rPr lang="en-US" b="1" dirty="0"/>
              <a:t>race conditions </a:t>
            </a:r>
            <a:r>
              <a:rPr lang="en-US" dirty="0"/>
              <a:t>difficult to detect, but also the mutual exclusion required to eliminate them can produce side effects in the form of </a:t>
            </a:r>
            <a:r>
              <a:rPr lang="en-US" b="1" dirty="0"/>
              <a:t>deadlocks</a:t>
            </a:r>
            <a:r>
              <a:rPr lang="en-US" dirty="0"/>
              <a:t> or</a:t>
            </a:r>
            <a:r>
              <a:rPr lang="en-US" b="1" dirty="0"/>
              <a:t> starvation</a:t>
            </a:r>
            <a:r>
              <a:rPr lang="en-US" dirty="0"/>
              <a:t>.</a:t>
            </a:r>
          </a:p>
          <a:p>
            <a:r>
              <a:rPr lang="en-US" dirty="0"/>
              <a:t>A</a:t>
            </a:r>
            <a:r>
              <a:rPr lang="en-US" b="1" dirty="0"/>
              <a:t> deadlock </a:t>
            </a:r>
            <a:r>
              <a:rPr lang="en-US" dirty="0"/>
              <a:t>is a phenomenon involving multiple threads (two or more), where threads wait to get access to resources indefinitely, while holding and not releasing other resources</a:t>
            </a:r>
          </a:p>
          <a:p>
            <a:r>
              <a:rPr lang="en-US" b="1" dirty="0"/>
              <a:t>Starvation</a:t>
            </a:r>
            <a:r>
              <a:rPr lang="en-US" dirty="0"/>
              <a:t> happens when the execution of a thread or a process is suspended/disallowed for an indefinite amount of time, although it is capable of continuing execution. </a:t>
            </a:r>
          </a:p>
          <a:p>
            <a:r>
              <a:rPr lang="en-US" dirty="0"/>
              <a:t>Starvation is typically associated with enforcing of priorities or the lack of fairness in scheduling or access to resources</a:t>
            </a:r>
          </a:p>
          <a:p>
            <a:pPr marL="0" indent="0" algn="ctr">
              <a:buNone/>
            </a:pPr>
            <a:r>
              <a:rPr lang="en-US" b="1" dirty="0">
                <a:solidFill>
                  <a:srgbClr val="FF0000"/>
                </a:solidFill>
              </a:rPr>
              <a:t>To solve some of these problems we need mor restricted versions of semaphores</a:t>
            </a:r>
          </a:p>
        </p:txBody>
      </p:sp>
      <p:sp>
        <p:nvSpPr>
          <p:cNvPr id="6" name="Title 1">
            <a:extLst>
              <a:ext uri="{FF2B5EF4-FFF2-40B4-BE49-F238E27FC236}">
                <a16:creationId xmlns:a16="http://schemas.microsoft.com/office/drawing/2014/main" id="{39F6FF82-6B8A-2E1D-5A82-DCB0B3C1E7B2}"/>
              </a:ext>
            </a:extLst>
          </p:cNvPr>
          <p:cNvSpPr txBox="1">
            <a:spLocks/>
          </p:cNvSpPr>
          <p:nvPr/>
        </p:nvSpPr>
        <p:spPr>
          <a:xfrm>
            <a:off x="491786" y="280619"/>
            <a:ext cx="9125549" cy="708166"/>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Semaphores problems</a:t>
            </a:r>
            <a:br>
              <a:rPr lang="en-US" sz="3300" dirty="0"/>
            </a:br>
            <a:r>
              <a:rPr lang="en-US" sz="2000" b="0" dirty="0"/>
              <a:t>semaphores and mutex</a:t>
            </a:r>
          </a:p>
        </p:txBody>
      </p:sp>
    </p:spTree>
    <p:extLst>
      <p:ext uri="{BB962C8B-B14F-4D97-AF65-F5344CB8AC3E}">
        <p14:creationId xmlns:p14="http://schemas.microsoft.com/office/powerpoint/2010/main" val="2132635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B1EC3-267D-33BC-ADCE-C4009D2038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876A7-3C27-DB67-B56B-98D9ADE7FC08}"/>
              </a:ext>
            </a:extLst>
          </p:cNvPr>
          <p:cNvSpPr>
            <a:spLocks noGrp="1"/>
          </p:cNvSpPr>
          <p:nvPr>
            <p:ph idx="1"/>
          </p:nvPr>
        </p:nvSpPr>
        <p:spPr>
          <a:xfrm>
            <a:off x="612646" y="1155526"/>
            <a:ext cx="10653579" cy="5421855"/>
          </a:xfrm>
        </p:spPr>
        <p:txBody>
          <a:bodyPr>
            <a:normAutofit fontScale="92500" lnSpcReduction="10000"/>
          </a:bodyPr>
          <a:lstStyle/>
          <a:p>
            <a:r>
              <a:rPr lang="en-US" dirty="0"/>
              <a:t>A </a:t>
            </a:r>
            <a:r>
              <a:rPr lang="en-US" b="1" dirty="0"/>
              <a:t>mutex</a:t>
            </a:r>
            <a:r>
              <a:rPr lang="en-US" dirty="0"/>
              <a:t> (coming from </a:t>
            </a:r>
            <a:r>
              <a:rPr lang="en-US" b="1" dirty="0" err="1"/>
              <a:t>MUT</a:t>
            </a:r>
            <a:r>
              <a:rPr lang="en-US" dirty="0" err="1"/>
              <a:t>ual</a:t>
            </a:r>
            <a:r>
              <a:rPr lang="en-US" dirty="0"/>
              <a:t> </a:t>
            </a:r>
            <a:r>
              <a:rPr lang="en-US" b="1" dirty="0" err="1"/>
              <a:t>EX</a:t>
            </a:r>
            <a:r>
              <a:rPr lang="en-US" dirty="0" err="1"/>
              <a:t>clusion</a:t>
            </a:r>
            <a:r>
              <a:rPr lang="en-US" dirty="0"/>
              <a:t>) is a restricted variant of the binary semaphore which permits the lock–unlock sequence to be called by a single thread each time.</a:t>
            </a:r>
          </a:p>
          <a:p>
            <a:r>
              <a:rPr lang="en-US" dirty="0"/>
              <a:t>Once a thread succeeds in a lock call, it “owns” the mutex and it is the only one that can call the unlock method.</a:t>
            </a:r>
          </a:p>
          <a:p>
            <a:r>
              <a:rPr lang="en-US" dirty="0"/>
              <a:t> </a:t>
            </a:r>
            <a:r>
              <a:rPr lang="en-US" b="1" u="sng" dirty="0"/>
              <a:t>A binary semaphore on the other hand has no such restriction, i.e., one thread can call lock and another can call unlock.</a:t>
            </a:r>
          </a:p>
          <a:p>
            <a:r>
              <a:rPr lang="en-US" dirty="0"/>
              <a:t>MUTEX can solve race condition problem that faced semaphores, because by using a mutex to ensure atomicity to the changes applied to the shared variable</a:t>
            </a:r>
          </a:p>
          <a:p>
            <a:r>
              <a:rPr lang="en-US" dirty="0"/>
              <a:t>The introduction of the lock–unlock pair creates a critical section.</a:t>
            </a:r>
          </a:p>
          <a:p>
            <a:r>
              <a:rPr lang="en-US" dirty="0"/>
              <a:t>A </a:t>
            </a:r>
            <a:r>
              <a:rPr lang="en-US" b="1" dirty="0"/>
              <a:t>critical section </a:t>
            </a:r>
            <a:r>
              <a:rPr lang="en-US" dirty="0"/>
              <a:t>is a part of the program where access to the different threads is mutually exclusive, i.e., only one thread at any time can be inside it. </a:t>
            </a:r>
          </a:p>
          <a:p>
            <a:r>
              <a:rPr lang="en-US" b="1" dirty="0"/>
              <a:t>Critical sections </a:t>
            </a:r>
            <a:r>
              <a:rPr lang="en-US" dirty="0"/>
              <a:t>allow us to safely access shared resources, without the risk of putting them in an inconsistent state when writing or getting wrong data when reading.</a:t>
            </a:r>
          </a:p>
          <a:p>
            <a:pPr marL="0" indent="0" algn="ctr">
              <a:buNone/>
            </a:pPr>
            <a:r>
              <a:rPr lang="en-US" b="1" dirty="0">
                <a:solidFill>
                  <a:srgbClr val="FF0000"/>
                </a:solidFill>
              </a:rPr>
              <a:t>When do we use critical section or mutex??</a:t>
            </a:r>
          </a:p>
        </p:txBody>
      </p:sp>
      <p:sp>
        <p:nvSpPr>
          <p:cNvPr id="6" name="Title 1">
            <a:extLst>
              <a:ext uri="{FF2B5EF4-FFF2-40B4-BE49-F238E27FC236}">
                <a16:creationId xmlns:a16="http://schemas.microsoft.com/office/drawing/2014/main" id="{03232C37-C652-B662-DA5F-E4AD18DC22A9}"/>
              </a:ext>
            </a:extLst>
          </p:cNvPr>
          <p:cNvSpPr txBox="1">
            <a:spLocks/>
          </p:cNvSpPr>
          <p:nvPr/>
        </p:nvSpPr>
        <p:spPr>
          <a:xfrm>
            <a:off x="491786" y="280619"/>
            <a:ext cx="9125549" cy="708166"/>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MUTEX</a:t>
            </a:r>
            <a:br>
              <a:rPr lang="en-US" sz="3300" dirty="0"/>
            </a:br>
            <a:r>
              <a:rPr lang="en-US" sz="2000" b="0" dirty="0"/>
              <a:t>semaphores and mutex</a:t>
            </a:r>
          </a:p>
        </p:txBody>
      </p:sp>
    </p:spTree>
    <p:extLst>
      <p:ext uri="{BB962C8B-B14F-4D97-AF65-F5344CB8AC3E}">
        <p14:creationId xmlns:p14="http://schemas.microsoft.com/office/powerpoint/2010/main" val="69637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03E5C-FE34-B895-861B-FAE68D457A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3B3BCE-522F-21C9-2480-7694139D08D2}"/>
              </a:ext>
            </a:extLst>
          </p:cNvPr>
          <p:cNvSpPr>
            <a:spLocks noGrp="1"/>
          </p:cNvSpPr>
          <p:nvPr>
            <p:ph idx="1"/>
          </p:nvPr>
        </p:nvSpPr>
        <p:spPr>
          <a:xfrm>
            <a:off x="612646" y="1155526"/>
            <a:ext cx="10653579" cy="5421855"/>
          </a:xfrm>
        </p:spPr>
        <p:txBody>
          <a:bodyPr>
            <a:normAutofit/>
          </a:bodyPr>
          <a:lstStyle/>
          <a:p>
            <a:r>
              <a:rPr lang="en-US" dirty="0"/>
              <a:t>Critical sections have to remain small in length or time duration, because they defeat the purpose of introducing concurrency by forcing threads to execute them sequentially</a:t>
            </a:r>
          </a:p>
          <a:p>
            <a:r>
              <a:rPr lang="en-US" dirty="0"/>
              <a:t>the introduction of the critical section forces threads to execute the corresponding code in a sequential manner.</a:t>
            </a:r>
          </a:p>
          <a:p>
            <a:r>
              <a:rPr lang="en-US" dirty="0"/>
              <a:t>If we factor in the overhead of acquiring and releasing the lock, we end up with a slowdown instead of a speedup.</a:t>
            </a:r>
          </a:p>
          <a:p>
            <a:r>
              <a:rPr lang="en-US" dirty="0"/>
              <a:t>In order to avoid a performance hit, critical sections should be minimized both in frequency (how many times they get executed) and in time duration. </a:t>
            </a:r>
          </a:p>
          <a:p>
            <a:r>
              <a:rPr lang="en-US" dirty="0"/>
              <a:t>A proper alternative is using </a:t>
            </a:r>
            <a:r>
              <a:rPr lang="en-US" b="1" dirty="0"/>
              <a:t>mutex</a:t>
            </a:r>
          </a:p>
          <a:p>
            <a:pPr marL="0" indent="0" algn="ctr">
              <a:buNone/>
            </a:pPr>
            <a:r>
              <a:rPr lang="en-US" b="1" dirty="0">
                <a:solidFill>
                  <a:srgbClr val="FF0000"/>
                </a:solidFill>
              </a:rPr>
              <a:t>So, what is the relation between mutex and locks??</a:t>
            </a:r>
          </a:p>
        </p:txBody>
      </p:sp>
      <p:sp>
        <p:nvSpPr>
          <p:cNvPr id="6" name="Title 1">
            <a:extLst>
              <a:ext uri="{FF2B5EF4-FFF2-40B4-BE49-F238E27FC236}">
                <a16:creationId xmlns:a16="http://schemas.microsoft.com/office/drawing/2014/main" id="{1513C989-B7C3-A237-F8B7-BD21502F96F9}"/>
              </a:ext>
            </a:extLst>
          </p:cNvPr>
          <p:cNvSpPr txBox="1">
            <a:spLocks/>
          </p:cNvSpPr>
          <p:nvPr/>
        </p:nvSpPr>
        <p:spPr>
          <a:xfrm>
            <a:off x="491786" y="280619"/>
            <a:ext cx="9125549" cy="708166"/>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Critical section vs MUTEX</a:t>
            </a:r>
            <a:br>
              <a:rPr lang="en-US" sz="3300" dirty="0"/>
            </a:br>
            <a:r>
              <a:rPr lang="en-US" sz="2000" b="0" dirty="0"/>
              <a:t>semaphores and mutex</a:t>
            </a:r>
          </a:p>
        </p:txBody>
      </p:sp>
    </p:spTree>
    <p:extLst>
      <p:ext uri="{BB962C8B-B14F-4D97-AF65-F5344CB8AC3E}">
        <p14:creationId xmlns:p14="http://schemas.microsoft.com/office/powerpoint/2010/main" val="2826370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8F94C-CCDA-B5D9-04B1-BC1EBD90D8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E5991B-7A62-C4FC-AFF5-A08227376B96}"/>
              </a:ext>
            </a:extLst>
          </p:cNvPr>
          <p:cNvSpPr>
            <a:spLocks noGrp="1"/>
          </p:cNvSpPr>
          <p:nvPr>
            <p:ph idx="1"/>
          </p:nvPr>
        </p:nvSpPr>
        <p:spPr>
          <a:xfrm>
            <a:off x="612646" y="1155526"/>
            <a:ext cx="10653579" cy="5421855"/>
          </a:xfrm>
        </p:spPr>
        <p:txBody>
          <a:bodyPr>
            <a:normAutofit/>
          </a:bodyPr>
          <a:lstStyle/>
          <a:p>
            <a:r>
              <a:rPr lang="en-US" b="1" dirty="0"/>
              <a:t>Mutex (mutual exclusion)</a:t>
            </a:r>
            <a:br>
              <a:rPr lang="en-US" dirty="0"/>
            </a:br>
            <a:r>
              <a:rPr lang="en-US" dirty="0"/>
              <a:t>A mutex is the fundamental synchronization primitive provided by the operating system or threading library. It ensures that only one thread at a time can hold the lock and enter the protected section of code. </a:t>
            </a:r>
            <a:r>
              <a:rPr lang="en-US" b="1" dirty="0"/>
              <a:t>Mutexes are usually system-level objects</a:t>
            </a:r>
            <a:r>
              <a:rPr lang="en-US" dirty="0"/>
              <a:t>. </a:t>
            </a:r>
          </a:p>
          <a:p>
            <a:r>
              <a:rPr lang="en-US" b="1" dirty="0"/>
              <a:t>Lock (higher-level wrapper)</a:t>
            </a:r>
            <a:br>
              <a:rPr lang="en-US" dirty="0"/>
            </a:br>
            <a:r>
              <a:rPr lang="en-US" dirty="0"/>
              <a:t>A lock is often a programming-language abstraction that </a:t>
            </a:r>
            <a:r>
              <a:rPr lang="en-US" b="1" dirty="0"/>
              <a:t>uses a mutex under the hood</a:t>
            </a:r>
            <a:r>
              <a:rPr lang="en-US" dirty="0"/>
              <a:t>. </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  A </a:t>
            </a:r>
            <a:r>
              <a:rPr lang="en-US" altLang="en-US" b="1" dirty="0">
                <a:latin typeface="Arial" panose="020B0604020202020204" pitchFamily="34" charset="0"/>
              </a:rPr>
              <a:t>mutex</a:t>
            </a:r>
            <a:r>
              <a:rPr lang="en-US" altLang="en-US" dirty="0">
                <a:latin typeface="Arial" panose="020B0604020202020204" pitchFamily="34" charset="0"/>
              </a:rPr>
              <a:t> is the raw synchronization primitive </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  A </a:t>
            </a:r>
            <a:r>
              <a:rPr lang="en-US" altLang="en-US" b="1" dirty="0">
                <a:latin typeface="Arial" panose="020B0604020202020204" pitchFamily="34" charset="0"/>
              </a:rPr>
              <a:t>lock</a:t>
            </a:r>
            <a:r>
              <a:rPr lang="en-US" altLang="en-US" dirty="0">
                <a:latin typeface="Arial" panose="020B0604020202020204" pitchFamily="34" charset="0"/>
              </a:rPr>
              <a:t> is usually an API or wrapper that makes using mutexes safer and more flexible</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dirty="0"/>
              <a:t>  Think of it like this: the </a:t>
            </a:r>
            <a:r>
              <a:rPr lang="en-US" b="1" dirty="0"/>
              <a:t>mutex is the engine</a:t>
            </a:r>
            <a:r>
              <a:rPr lang="en-US" dirty="0"/>
              <a:t>, and the </a:t>
            </a:r>
            <a:r>
              <a:rPr lang="en-US" b="1" dirty="0"/>
              <a:t>lock is the car’s steering wheel       and pedals</a:t>
            </a:r>
            <a:r>
              <a:rPr lang="en-US" dirty="0"/>
              <a:t>—you’re still driving the engine, but with a more user-friendly interface</a:t>
            </a:r>
          </a:p>
          <a:p>
            <a:pPr mar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dirty="0">
                <a:latin typeface="Arial" panose="020B0604020202020204" pitchFamily="34" charset="0"/>
              </a:rPr>
              <a:t>In short </a:t>
            </a:r>
            <a:r>
              <a:rPr lang="en-US" altLang="en-US" dirty="0">
                <a:latin typeface="Arial" panose="020B0604020202020204" pitchFamily="34" charset="0"/>
                <a:sym typeface="Wingdings" panose="05000000000000000000" pitchFamily="2" charset="2"/>
              </a:rPr>
              <a:t> </a:t>
            </a:r>
            <a:r>
              <a:rPr lang="en-US" dirty="0"/>
              <a:t>A </a:t>
            </a:r>
            <a:r>
              <a:rPr lang="en-US" b="1" dirty="0"/>
              <a:t>mutex is the fundamental building block for locks</a:t>
            </a:r>
            <a:endParaRPr lang="en-US" dirty="0"/>
          </a:p>
          <a:p>
            <a:pPr mar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endParaRPr lang="en-US" dirty="0"/>
          </a:p>
          <a:p>
            <a:endParaRPr lang="en-US" dirty="0"/>
          </a:p>
          <a:p>
            <a:endParaRPr lang="en-US" dirty="0"/>
          </a:p>
          <a:p>
            <a:endParaRPr lang="en-US" dirty="0"/>
          </a:p>
        </p:txBody>
      </p:sp>
      <p:sp>
        <p:nvSpPr>
          <p:cNvPr id="6" name="Title 1">
            <a:extLst>
              <a:ext uri="{FF2B5EF4-FFF2-40B4-BE49-F238E27FC236}">
                <a16:creationId xmlns:a16="http://schemas.microsoft.com/office/drawing/2014/main" id="{B3FF09F4-A4AD-59D1-EC7B-A83B893CB9B3}"/>
              </a:ext>
            </a:extLst>
          </p:cNvPr>
          <p:cNvSpPr txBox="1">
            <a:spLocks/>
          </p:cNvSpPr>
          <p:nvPr/>
        </p:nvSpPr>
        <p:spPr>
          <a:xfrm>
            <a:off x="491786" y="280619"/>
            <a:ext cx="9125549" cy="708166"/>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Lock vs MUTEX</a:t>
            </a:r>
            <a:br>
              <a:rPr lang="en-US" sz="3300" dirty="0"/>
            </a:br>
            <a:r>
              <a:rPr lang="en-US" sz="2000" b="0" dirty="0"/>
              <a:t>API vs OS</a:t>
            </a:r>
          </a:p>
        </p:txBody>
      </p:sp>
    </p:spTree>
    <p:extLst>
      <p:ext uri="{BB962C8B-B14F-4D97-AF65-F5344CB8AC3E}">
        <p14:creationId xmlns:p14="http://schemas.microsoft.com/office/powerpoint/2010/main" val="656586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AA9A8-0113-C085-CA48-25BDEA94818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7BA26-57B3-C22B-D480-D5C04E5CC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196BDC-8882-011B-C428-2D35D09ABAD8}"/>
              </a:ext>
            </a:extLst>
          </p:cNvPr>
          <p:cNvSpPr>
            <a:spLocks noGrp="1"/>
          </p:cNvSpPr>
          <p:nvPr>
            <p:ph type="title"/>
          </p:nvPr>
        </p:nvSpPr>
        <p:spPr>
          <a:xfrm>
            <a:off x="233604" y="194557"/>
            <a:ext cx="5862396" cy="708166"/>
          </a:xfrm>
        </p:spPr>
        <p:txBody>
          <a:bodyPr anchor="b">
            <a:normAutofit fontScale="90000"/>
          </a:bodyPr>
          <a:lstStyle/>
          <a:p>
            <a:r>
              <a:rPr lang="en-US" sz="3300" dirty="0"/>
              <a:t>Locks </a:t>
            </a:r>
            <a:br>
              <a:rPr lang="en-US" sz="3300" dirty="0"/>
            </a:br>
            <a:r>
              <a:rPr lang="en-US" sz="2000" b="0" dirty="0"/>
              <a:t>routines and variable types</a:t>
            </a:r>
          </a:p>
        </p:txBody>
      </p:sp>
      <p:sp>
        <p:nvSpPr>
          <p:cNvPr id="3" name="Content Placeholder 2">
            <a:extLst>
              <a:ext uri="{FF2B5EF4-FFF2-40B4-BE49-F238E27FC236}">
                <a16:creationId xmlns:a16="http://schemas.microsoft.com/office/drawing/2014/main" id="{923F397E-6669-1E18-1A08-1AD5CEE73D73}"/>
              </a:ext>
            </a:extLst>
          </p:cNvPr>
          <p:cNvSpPr>
            <a:spLocks noGrp="1"/>
          </p:cNvSpPr>
          <p:nvPr>
            <p:ph idx="1"/>
          </p:nvPr>
        </p:nvSpPr>
        <p:spPr>
          <a:xfrm>
            <a:off x="215414" y="1451362"/>
            <a:ext cx="11761172" cy="5212081"/>
          </a:xfrm>
        </p:spPr>
        <p:txBody>
          <a:bodyPr>
            <a:normAutofit fontScale="92500" lnSpcReduction="20000"/>
          </a:bodyPr>
          <a:lstStyle/>
          <a:p>
            <a:pPr>
              <a:lnSpc>
                <a:spcPct val="110000"/>
              </a:lnSpc>
            </a:pPr>
            <a:r>
              <a:rPr lang="en-US" dirty="0"/>
              <a:t>Lock variables are defined in </a:t>
            </a:r>
            <a:r>
              <a:rPr lang="en-US" b="1" dirty="0"/>
              <a:t>#include&lt;omp.h&gt;</a:t>
            </a:r>
          </a:p>
          <a:p>
            <a:pPr>
              <a:lnSpc>
                <a:spcPct val="110000"/>
              </a:lnSpc>
            </a:pPr>
            <a:r>
              <a:rPr lang="en-US" dirty="0"/>
              <a:t>Lock routines :</a:t>
            </a:r>
          </a:p>
          <a:p>
            <a:pPr marL="457200" indent="-457200">
              <a:lnSpc>
                <a:spcPct val="110000"/>
              </a:lnSpc>
              <a:buFont typeface="+mj-lt"/>
              <a:buAutoNum type="arabicPeriod"/>
            </a:pPr>
            <a:r>
              <a:rPr lang="en-US" b="1" dirty="0" err="1"/>
              <a:t>omp_lock_t</a:t>
            </a:r>
            <a:r>
              <a:rPr lang="en-US" b="1" dirty="0"/>
              <a:t> </a:t>
            </a:r>
            <a:r>
              <a:rPr lang="en-US" b="1" dirty="0">
                <a:sym typeface="Wingdings" panose="05000000000000000000" pitchFamily="2" charset="2"/>
              </a:rPr>
              <a:t> </a:t>
            </a:r>
            <a:r>
              <a:rPr lang="en-US" dirty="0">
                <a:sym typeface="Wingdings" panose="05000000000000000000" pitchFamily="2" charset="2"/>
              </a:rPr>
              <a:t>create lock type variable</a:t>
            </a:r>
            <a:endParaRPr lang="en-US" dirty="0"/>
          </a:p>
          <a:p>
            <a:pPr marL="457200" indent="-457200">
              <a:lnSpc>
                <a:spcPct val="110000"/>
              </a:lnSpc>
              <a:buFont typeface="+mj-lt"/>
              <a:buAutoNum type="arabicPeriod"/>
            </a:pPr>
            <a:r>
              <a:rPr lang="en-US" b="1" dirty="0" err="1"/>
              <a:t>omp_init_lock</a:t>
            </a:r>
            <a:r>
              <a:rPr lang="en-US" b="1" dirty="0"/>
              <a:t>(</a:t>
            </a:r>
            <a:r>
              <a:rPr lang="en-US" b="1" dirty="0" err="1"/>
              <a:t>omp_lock_t</a:t>
            </a:r>
            <a:r>
              <a:rPr lang="en-US" b="1" dirty="0"/>
              <a:t>* lock) </a:t>
            </a:r>
            <a:r>
              <a:rPr lang="en-US" dirty="0">
                <a:sym typeface="Wingdings" panose="05000000000000000000" pitchFamily="2" charset="2"/>
              </a:rPr>
              <a:t> initialize the lock variable</a:t>
            </a:r>
          </a:p>
          <a:p>
            <a:pPr marL="457200" indent="-457200">
              <a:lnSpc>
                <a:spcPct val="110000"/>
              </a:lnSpc>
              <a:buFont typeface="+mj-lt"/>
              <a:buAutoNum type="arabicPeriod"/>
            </a:pPr>
            <a:r>
              <a:rPr lang="en-US" b="1" dirty="0" err="1">
                <a:sym typeface="Wingdings" panose="05000000000000000000" pitchFamily="2" charset="2"/>
              </a:rPr>
              <a:t>omp_set_lock</a:t>
            </a:r>
            <a:r>
              <a:rPr lang="en-US" b="1" dirty="0">
                <a:sym typeface="Wingdings" panose="05000000000000000000" pitchFamily="2" charset="2"/>
              </a:rPr>
              <a:t>(</a:t>
            </a:r>
            <a:r>
              <a:rPr lang="en-US" b="1" dirty="0" err="1"/>
              <a:t>omp_lock_t</a:t>
            </a:r>
            <a:r>
              <a:rPr lang="en-US" b="1" dirty="0"/>
              <a:t>* lock</a:t>
            </a:r>
            <a:r>
              <a:rPr lang="en-US" b="1" dirty="0">
                <a:sym typeface="Wingdings" panose="05000000000000000000" pitchFamily="2" charset="2"/>
              </a:rPr>
              <a:t>) </a:t>
            </a:r>
            <a:r>
              <a:rPr lang="en-US" dirty="0">
                <a:sym typeface="Wingdings" panose="05000000000000000000" pitchFamily="2" charset="2"/>
              </a:rPr>
              <a:t> call it when I want to hold the lock and grab it</a:t>
            </a:r>
          </a:p>
          <a:p>
            <a:pPr marL="457200" indent="-457200">
              <a:lnSpc>
                <a:spcPct val="110000"/>
              </a:lnSpc>
              <a:buFont typeface="+mj-lt"/>
              <a:buAutoNum type="arabicPeriod"/>
            </a:pPr>
            <a:r>
              <a:rPr lang="en-US" b="1" dirty="0" err="1">
                <a:sym typeface="Wingdings" panose="05000000000000000000" pitchFamily="2" charset="2"/>
              </a:rPr>
              <a:t>omp_unset_lock</a:t>
            </a:r>
            <a:r>
              <a:rPr lang="en-US" b="1" dirty="0">
                <a:sym typeface="Wingdings" panose="05000000000000000000" pitchFamily="2" charset="2"/>
              </a:rPr>
              <a:t>(</a:t>
            </a:r>
            <a:r>
              <a:rPr lang="en-US" b="1" dirty="0" err="1"/>
              <a:t>omp_lock_t</a:t>
            </a:r>
            <a:r>
              <a:rPr lang="en-US" b="1" dirty="0"/>
              <a:t>* lock</a:t>
            </a:r>
            <a:r>
              <a:rPr lang="en-US" b="1" dirty="0">
                <a:sym typeface="Wingdings" panose="05000000000000000000" pitchFamily="2" charset="2"/>
              </a:rPr>
              <a:t>) </a:t>
            </a:r>
            <a:r>
              <a:rPr lang="en-US" dirty="0">
                <a:sym typeface="Wingdings" panose="05000000000000000000" pitchFamily="2" charset="2"/>
              </a:rPr>
              <a:t> call it when I’m done with the lock, someone else can grab it.</a:t>
            </a:r>
          </a:p>
          <a:p>
            <a:pPr marL="457200" indent="-457200">
              <a:lnSpc>
                <a:spcPct val="110000"/>
              </a:lnSpc>
              <a:buFont typeface="+mj-lt"/>
              <a:buAutoNum type="arabicPeriod"/>
            </a:pPr>
            <a:r>
              <a:rPr lang="en-US" b="1" dirty="0" err="1">
                <a:sym typeface="Wingdings" panose="05000000000000000000" pitchFamily="2" charset="2"/>
              </a:rPr>
              <a:t>omp_destroy_lock</a:t>
            </a:r>
            <a:r>
              <a:rPr lang="en-US" b="1" dirty="0">
                <a:sym typeface="Wingdings" panose="05000000000000000000" pitchFamily="2" charset="2"/>
              </a:rPr>
              <a:t>(</a:t>
            </a:r>
            <a:r>
              <a:rPr lang="en-US" b="1" dirty="0" err="1"/>
              <a:t>omp_lock_t</a:t>
            </a:r>
            <a:r>
              <a:rPr lang="en-US" b="1" dirty="0"/>
              <a:t>* lock</a:t>
            </a:r>
            <a:r>
              <a:rPr lang="en-US" b="1" dirty="0">
                <a:sym typeface="Wingdings" panose="05000000000000000000" pitchFamily="2" charset="2"/>
              </a:rPr>
              <a:t>) </a:t>
            </a:r>
            <a:r>
              <a:rPr lang="en-US" dirty="0">
                <a:sym typeface="Wingdings" panose="05000000000000000000" pitchFamily="2" charset="2"/>
              </a:rPr>
              <a:t> says when I’m done, I want to free up space to hold another lock</a:t>
            </a:r>
          </a:p>
          <a:p>
            <a:pPr marL="457200" indent="-457200">
              <a:lnSpc>
                <a:spcPct val="110000"/>
              </a:lnSpc>
              <a:buFont typeface="+mj-lt"/>
              <a:buAutoNum type="arabicPeriod"/>
            </a:pPr>
            <a:r>
              <a:rPr lang="en-US" b="1" dirty="0" err="1">
                <a:sym typeface="Wingdings" panose="05000000000000000000" pitchFamily="2" charset="2"/>
              </a:rPr>
              <a:t>omp_test_lock</a:t>
            </a:r>
            <a:r>
              <a:rPr lang="en-US" b="1" dirty="0">
                <a:sym typeface="Wingdings" panose="05000000000000000000" pitchFamily="2" charset="2"/>
              </a:rPr>
              <a:t>(</a:t>
            </a:r>
            <a:r>
              <a:rPr lang="en-US" b="1" dirty="0" err="1"/>
              <a:t>omp_lock_t</a:t>
            </a:r>
            <a:r>
              <a:rPr lang="en-US" b="1" dirty="0"/>
              <a:t>* lock</a:t>
            </a:r>
            <a:r>
              <a:rPr lang="en-US" b="1" dirty="0">
                <a:sym typeface="Wingdings" panose="05000000000000000000" pitchFamily="2" charset="2"/>
              </a:rPr>
              <a:t>) </a:t>
            </a:r>
            <a:r>
              <a:rPr lang="en-US" dirty="0">
                <a:sym typeface="Wingdings" panose="05000000000000000000" pitchFamily="2" charset="2"/>
              </a:rPr>
              <a:t> it’s a logical function and it says : is this lock available?, if It is available, it immediately returns and they can set the lock. If it’s not available, it immediately returns and tells you the lock is not available , so I can go off and do something else before I try to grab the lock.</a:t>
            </a:r>
          </a:p>
          <a:p>
            <a:pPr>
              <a:lnSpc>
                <a:spcPct val="110000"/>
              </a:lnSpc>
            </a:pPr>
            <a:r>
              <a:rPr lang="en-US" dirty="0">
                <a:sym typeface="Wingdings" panose="05000000000000000000" pitchFamily="2" charset="2"/>
              </a:rPr>
              <a:t>If I call </a:t>
            </a:r>
            <a:r>
              <a:rPr lang="en-US" b="1" dirty="0" err="1">
                <a:sym typeface="Wingdings" panose="05000000000000000000" pitchFamily="2" charset="2"/>
              </a:rPr>
              <a:t>omp_set_lock</a:t>
            </a:r>
            <a:r>
              <a:rPr lang="en-US" b="1" dirty="0">
                <a:sym typeface="Wingdings" panose="05000000000000000000" pitchFamily="2" charset="2"/>
              </a:rPr>
              <a:t>() </a:t>
            </a:r>
            <a:r>
              <a:rPr lang="en-US" dirty="0">
                <a:sym typeface="Wingdings" panose="05000000000000000000" pitchFamily="2" charset="2"/>
              </a:rPr>
              <a:t>and someone else is working with it, I’m going to sit and wait until the locks available .</a:t>
            </a:r>
            <a:endParaRPr lang="en-US" dirty="0"/>
          </a:p>
        </p:txBody>
      </p:sp>
    </p:spTree>
    <p:extLst>
      <p:ext uri="{BB962C8B-B14F-4D97-AF65-F5344CB8AC3E}">
        <p14:creationId xmlns:p14="http://schemas.microsoft.com/office/powerpoint/2010/main" val="1815787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EF73E-CE9F-7C07-DCEB-01840C4E60E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207213-C07A-BB86-44B7-D2E9283CB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6D1D14-EE62-FCC9-2B38-BF47919F74AA}"/>
              </a:ext>
            </a:extLst>
          </p:cNvPr>
          <p:cNvSpPr>
            <a:spLocks noGrp="1"/>
          </p:cNvSpPr>
          <p:nvPr>
            <p:ph type="title"/>
          </p:nvPr>
        </p:nvSpPr>
        <p:spPr>
          <a:xfrm>
            <a:off x="233604" y="194557"/>
            <a:ext cx="8361756" cy="708166"/>
          </a:xfrm>
        </p:spPr>
        <p:txBody>
          <a:bodyPr anchor="b">
            <a:normAutofit fontScale="90000"/>
          </a:bodyPr>
          <a:lstStyle/>
          <a:p>
            <a:r>
              <a:rPr lang="en-US" sz="3300" dirty="0"/>
              <a:t>Uncontended Locks vs Contended Locks </a:t>
            </a:r>
            <a:br>
              <a:rPr lang="en-US" sz="3300" dirty="0"/>
            </a:br>
            <a:r>
              <a:rPr lang="en-US" sz="2000" b="0" dirty="0"/>
              <a:t>histogram example</a:t>
            </a:r>
          </a:p>
        </p:txBody>
      </p:sp>
      <p:sp>
        <p:nvSpPr>
          <p:cNvPr id="3" name="Content Placeholder 2">
            <a:extLst>
              <a:ext uri="{FF2B5EF4-FFF2-40B4-BE49-F238E27FC236}">
                <a16:creationId xmlns:a16="http://schemas.microsoft.com/office/drawing/2014/main" id="{F7BC3F67-3B48-4F79-E391-5B85A201845C}"/>
              </a:ext>
            </a:extLst>
          </p:cNvPr>
          <p:cNvSpPr>
            <a:spLocks noGrp="1"/>
          </p:cNvSpPr>
          <p:nvPr>
            <p:ph idx="1"/>
          </p:nvPr>
        </p:nvSpPr>
        <p:spPr>
          <a:xfrm>
            <a:off x="215414" y="1451362"/>
            <a:ext cx="11761172" cy="5212081"/>
          </a:xfrm>
        </p:spPr>
        <p:txBody>
          <a:bodyPr>
            <a:normAutofit fontScale="92500" lnSpcReduction="20000"/>
          </a:bodyPr>
          <a:lstStyle/>
          <a:p>
            <a:r>
              <a:rPr lang="en-US" dirty="0"/>
              <a:t>An </a:t>
            </a:r>
            <a:r>
              <a:rPr lang="en-US" b="1" dirty="0"/>
              <a:t>uncontended lock</a:t>
            </a:r>
            <a:r>
              <a:rPr lang="en-US" dirty="0"/>
              <a:t> simply means a lock that is </a:t>
            </a:r>
            <a:r>
              <a:rPr lang="en-US" b="1" dirty="0"/>
              <a:t>not being competed for by multiple threads</a:t>
            </a:r>
            <a:r>
              <a:rPr lang="en-US" dirty="0"/>
              <a:t> at the same time</a:t>
            </a:r>
          </a:p>
          <a:p>
            <a:r>
              <a:rPr lang="en-US" altLang="en-US" dirty="0">
                <a:latin typeface="Arial" panose="020B0604020202020204" pitchFamily="34" charset="0"/>
              </a:rPr>
              <a:t>When a thread tries to acquire a lock (like a mutex), if </a:t>
            </a:r>
            <a:r>
              <a:rPr lang="en-US" altLang="en-US" b="1" dirty="0">
                <a:latin typeface="Arial" panose="020B0604020202020204" pitchFamily="34" charset="0"/>
              </a:rPr>
              <a:t>no other thread currently holds it</a:t>
            </a:r>
            <a:r>
              <a:rPr lang="en-US" altLang="en-US" dirty="0">
                <a:latin typeface="Arial" panose="020B0604020202020204" pitchFamily="34" charset="0"/>
              </a:rPr>
              <a:t>, the lock is uncontended </a:t>
            </a:r>
          </a:p>
          <a:p>
            <a:r>
              <a:rPr lang="en-US" dirty="0"/>
              <a:t>In this case, the thread can acquire the lock immediately without waiting</a:t>
            </a:r>
          </a:p>
          <a:p>
            <a:r>
              <a:rPr lang="en-US" altLang="en-US" dirty="0">
                <a:latin typeface="Arial" panose="020B0604020202020204" pitchFamily="34" charset="0"/>
              </a:rPr>
              <a:t>A </a:t>
            </a:r>
            <a:r>
              <a:rPr lang="en-US" b="1" dirty="0"/>
              <a:t>Contended lock, </a:t>
            </a:r>
            <a:r>
              <a:rPr lang="en-US" dirty="0"/>
              <a:t>another thread already holds the lock. </a:t>
            </a:r>
          </a:p>
          <a:p>
            <a:r>
              <a:rPr lang="en-US" dirty="0"/>
              <a:t>The requesting thread must wait, possibly yielding the CPU or being put to sleep until the lock is free. This adds overhead</a:t>
            </a:r>
          </a:p>
          <a:p>
            <a:r>
              <a:rPr lang="en-US" altLang="en-US" dirty="0">
                <a:latin typeface="Arial" panose="020B0604020202020204" pitchFamily="34" charset="0"/>
              </a:rPr>
              <a:t>For example, </a:t>
            </a:r>
            <a:r>
              <a:rPr lang="en-US" dirty="0"/>
              <a:t>Imagine two threads trying to increment a shared counter:</a:t>
            </a:r>
          </a:p>
          <a:p>
            <a:r>
              <a:rPr lang="en-US" altLang="en-US" dirty="0">
                <a:latin typeface="Arial" panose="020B0604020202020204" pitchFamily="34" charset="0"/>
              </a:rPr>
              <a:t>If </a:t>
            </a:r>
            <a:r>
              <a:rPr lang="en-US" altLang="en-US" b="1" dirty="0">
                <a:latin typeface="Arial" panose="020B0604020202020204" pitchFamily="34" charset="0"/>
              </a:rPr>
              <a:t>only one thread</a:t>
            </a:r>
            <a:r>
              <a:rPr lang="en-US" altLang="en-US" dirty="0">
                <a:latin typeface="Arial" panose="020B0604020202020204" pitchFamily="34" charset="0"/>
              </a:rPr>
              <a:t> is active, every lock acquisition is uncontended </a:t>
            </a:r>
          </a:p>
          <a:p>
            <a:r>
              <a:rPr lang="en-US" altLang="en-US" dirty="0">
                <a:latin typeface="Arial" panose="020B0604020202020204" pitchFamily="34" charset="0"/>
              </a:rPr>
              <a:t>If </a:t>
            </a:r>
            <a:r>
              <a:rPr lang="en-US" altLang="en-US" b="1" dirty="0">
                <a:latin typeface="Arial" panose="020B0604020202020204" pitchFamily="34" charset="0"/>
              </a:rPr>
              <a:t>both threads</a:t>
            </a:r>
            <a:r>
              <a:rPr lang="en-US" altLang="en-US" dirty="0">
                <a:latin typeface="Arial" panose="020B0604020202020204" pitchFamily="34" charset="0"/>
              </a:rPr>
              <a:t> hit the counter at the same time, one thread gets the lock,</a:t>
            </a:r>
            <a:br>
              <a:rPr lang="en-US" altLang="en-US" dirty="0">
                <a:latin typeface="Arial" panose="020B0604020202020204" pitchFamily="34" charset="0"/>
              </a:rPr>
            </a:br>
            <a:r>
              <a:rPr lang="en-US" altLang="en-US" dirty="0">
                <a:latin typeface="Arial" panose="020B0604020202020204" pitchFamily="34" charset="0"/>
              </a:rPr>
              <a:t>the other waits → contended </a:t>
            </a:r>
          </a:p>
          <a:p>
            <a:r>
              <a:rPr lang="en-US" dirty="0"/>
              <a:t>In short: </a:t>
            </a:r>
            <a:r>
              <a:rPr lang="en-US" b="1" dirty="0"/>
              <a:t>an uncontended lock is a lock that no one else is holding or waiting for, so it’s acquired immediately and cheaply</a:t>
            </a:r>
            <a:endParaRPr lang="en-US" dirty="0"/>
          </a:p>
          <a:p>
            <a:pPr marL="0" indent="0">
              <a:buNone/>
            </a:pPr>
            <a:endParaRPr lang="en-US" altLang="en-US" dirty="0">
              <a:latin typeface="Arial" panose="020B0604020202020204" pitchFamily="34" charset="0"/>
            </a:endParaRPr>
          </a:p>
          <a:p>
            <a:endParaRPr lang="en-US" dirty="0"/>
          </a:p>
        </p:txBody>
      </p:sp>
    </p:spTree>
    <p:extLst>
      <p:ext uri="{BB962C8B-B14F-4D97-AF65-F5344CB8AC3E}">
        <p14:creationId xmlns:p14="http://schemas.microsoft.com/office/powerpoint/2010/main" val="2722890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7D41C-A0CA-12BD-0923-6A117AAEEEB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515572-EC3B-D856-6B95-EEB6F857E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8BCC6D-EBC5-8B87-9132-49E2FDC4A784}"/>
              </a:ext>
            </a:extLst>
          </p:cNvPr>
          <p:cNvSpPr>
            <a:spLocks noGrp="1"/>
          </p:cNvSpPr>
          <p:nvPr>
            <p:ph type="title"/>
          </p:nvPr>
        </p:nvSpPr>
        <p:spPr>
          <a:xfrm>
            <a:off x="233604" y="194557"/>
            <a:ext cx="8361756" cy="708166"/>
          </a:xfrm>
        </p:spPr>
        <p:txBody>
          <a:bodyPr anchor="b">
            <a:normAutofit fontScale="90000"/>
          </a:bodyPr>
          <a:lstStyle/>
          <a:p>
            <a:r>
              <a:rPr lang="en-US" sz="3300" dirty="0"/>
              <a:t>Uncontended Locks vs Contended Locks </a:t>
            </a:r>
            <a:br>
              <a:rPr lang="en-US" sz="3300" dirty="0"/>
            </a:br>
            <a:r>
              <a:rPr lang="en-US" sz="2000" b="0" dirty="0"/>
              <a:t>histogram example</a:t>
            </a:r>
          </a:p>
        </p:txBody>
      </p:sp>
      <p:sp>
        <p:nvSpPr>
          <p:cNvPr id="3" name="Content Placeholder 2">
            <a:extLst>
              <a:ext uri="{FF2B5EF4-FFF2-40B4-BE49-F238E27FC236}">
                <a16:creationId xmlns:a16="http://schemas.microsoft.com/office/drawing/2014/main" id="{55260CFA-0C8F-DA9A-0A5C-71BCA9E68CF6}"/>
              </a:ext>
            </a:extLst>
          </p:cNvPr>
          <p:cNvSpPr>
            <a:spLocks noGrp="1"/>
          </p:cNvSpPr>
          <p:nvPr>
            <p:ph idx="1"/>
          </p:nvPr>
        </p:nvSpPr>
        <p:spPr>
          <a:xfrm>
            <a:off x="215414" y="902723"/>
            <a:ext cx="11761172" cy="5760721"/>
          </a:xfrm>
        </p:spPr>
        <p:txBody>
          <a:bodyPr>
            <a:normAutofit/>
          </a:bodyPr>
          <a:lstStyle/>
          <a:p>
            <a:r>
              <a:rPr lang="en-US" dirty="0"/>
              <a:t>I have a data structure; I have a histogram at the end I’ve a table tells me how many things fill into each one of the bins.</a:t>
            </a:r>
          </a:p>
          <a:p>
            <a:r>
              <a:rPr lang="en-US" dirty="0"/>
              <a:t>You sample some data when you sample the data you assign it to bin in the histogram and then you increment the bin in the histogram. </a:t>
            </a:r>
          </a:p>
          <a:p>
            <a:r>
              <a:rPr lang="en-US" dirty="0"/>
              <a:t>I want all of my threads in parallel to update the bins in the histogram .</a:t>
            </a:r>
          </a:p>
          <a:p>
            <a:r>
              <a:rPr lang="en-US" dirty="0"/>
              <a:t>As a result of this requirement, we’ve race conditions all over.</a:t>
            </a:r>
          </a:p>
          <a:p>
            <a:pPr marL="0" indent="0" algn="ctr">
              <a:buNone/>
            </a:pPr>
            <a:r>
              <a:rPr lang="en-US" b="1" dirty="0">
                <a:solidFill>
                  <a:srgbClr val="FF0000"/>
                </a:solidFill>
              </a:rPr>
              <a:t>Note</a:t>
            </a:r>
            <a:r>
              <a:rPr lang="en-US" dirty="0"/>
              <a:t>: </a:t>
            </a:r>
            <a:r>
              <a:rPr lang="en-US" b="1" u="sng" dirty="0"/>
              <a:t>if we use critical section as solution, we’ve serialized the whole program</a:t>
            </a:r>
          </a:p>
        </p:txBody>
      </p:sp>
    </p:spTree>
    <p:extLst>
      <p:ext uri="{BB962C8B-B14F-4D97-AF65-F5344CB8AC3E}">
        <p14:creationId xmlns:p14="http://schemas.microsoft.com/office/powerpoint/2010/main" val="3899458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91D94-D3D8-F05C-3C4F-A7CE5D3E782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216E6D-8442-59A1-AC71-C29F27CBD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EB011E-4D37-E7EB-CE0A-8BCBB156DD18}"/>
              </a:ext>
            </a:extLst>
          </p:cNvPr>
          <p:cNvSpPr>
            <a:spLocks noGrp="1"/>
          </p:cNvSpPr>
          <p:nvPr>
            <p:ph type="title"/>
          </p:nvPr>
        </p:nvSpPr>
        <p:spPr>
          <a:xfrm>
            <a:off x="233604" y="194557"/>
            <a:ext cx="8361756" cy="708166"/>
          </a:xfrm>
        </p:spPr>
        <p:txBody>
          <a:bodyPr anchor="b">
            <a:normAutofit fontScale="90000"/>
          </a:bodyPr>
          <a:lstStyle/>
          <a:p>
            <a:r>
              <a:rPr lang="en-US" sz="3300" dirty="0"/>
              <a:t>Sequential sol.</a:t>
            </a:r>
            <a:br>
              <a:rPr lang="en-US" sz="3300" dirty="0"/>
            </a:br>
            <a:r>
              <a:rPr lang="en-US" sz="2000" b="0" dirty="0"/>
              <a:t>histogram example</a:t>
            </a:r>
          </a:p>
        </p:txBody>
      </p:sp>
      <p:pic>
        <p:nvPicPr>
          <p:cNvPr id="5" name="Content Placeholder 4">
            <a:extLst>
              <a:ext uri="{FF2B5EF4-FFF2-40B4-BE49-F238E27FC236}">
                <a16:creationId xmlns:a16="http://schemas.microsoft.com/office/drawing/2014/main" id="{1275513B-E1C9-A80B-0BE5-57ECEFCFEAA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9125"/>
          <a:stretch>
            <a:fillRect/>
          </a:stretch>
        </p:blipFill>
        <p:spPr>
          <a:xfrm>
            <a:off x="233604" y="1251094"/>
            <a:ext cx="6217467" cy="5258534"/>
          </a:xfrm>
          <a:prstGeom prst="rect">
            <a:avLst/>
          </a:prstGeom>
        </p:spPr>
      </p:pic>
      <p:pic>
        <p:nvPicPr>
          <p:cNvPr id="6" name="Picture 5">
            <a:extLst>
              <a:ext uri="{FF2B5EF4-FFF2-40B4-BE49-F238E27FC236}">
                <a16:creationId xmlns:a16="http://schemas.microsoft.com/office/drawing/2014/main" id="{D17CFEDA-6783-8726-3102-E9D97DE542CA}"/>
              </a:ext>
            </a:extLst>
          </p:cNvPr>
          <p:cNvPicPr>
            <a:picLocks noChangeAspect="1"/>
          </p:cNvPicPr>
          <p:nvPr/>
        </p:nvPicPr>
        <p:blipFill>
          <a:blip r:embed="rId4">
            <a:extLst>
              <a:ext uri="{28A0092B-C50C-407E-A947-70E740481C1C}">
                <a14:useLocalDpi xmlns:a14="http://schemas.microsoft.com/office/drawing/2010/main" val="0"/>
              </a:ext>
            </a:extLst>
          </a:blip>
          <a:srcRect r="10277"/>
          <a:stretch>
            <a:fillRect/>
          </a:stretch>
        </p:blipFill>
        <p:spPr>
          <a:xfrm>
            <a:off x="6684675" y="2106557"/>
            <a:ext cx="5384816" cy="2924583"/>
          </a:xfrm>
          <a:prstGeom prst="rect">
            <a:avLst/>
          </a:prstGeom>
        </p:spPr>
      </p:pic>
    </p:spTree>
    <p:extLst>
      <p:ext uri="{BB962C8B-B14F-4D97-AF65-F5344CB8AC3E}">
        <p14:creationId xmlns:p14="http://schemas.microsoft.com/office/powerpoint/2010/main" val="2340234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52A5-768B-F14F-FFB3-A0ACF10C0AF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D7CF2F3-C561-1344-9727-43FDE37DA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40769C-58E1-27F2-A116-04149EE8DAA2}"/>
              </a:ext>
            </a:extLst>
          </p:cNvPr>
          <p:cNvSpPr>
            <a:spLocks noGrp="1"/>
          </p:cNvSpPr>
          <p:nvPr>
            <p:ph type="title"/>
          </p:nvPr>
        </p:nvSpPr>
        <p:spPr>
          <a:xfrm>
            <a:off x="233604" y="194557"/>
            <a:ext cx="8361756" cy="708166"/>
          </a:xfrm>
        </p:spPr>
        <p:txBody>
          <a:bodyPr anchor="b">
            <a:normAutofit fontScale="90000"/>
          </a:bodyPr>
          <a:lstStyle/>
          <a:p>
            <a:r>
              <a:rPr lang="en-US" sz="3300" dirty="0"/>
              <a:t>Parallel sol. with race condition</a:t>
            </a:r>
            <a:br>
              <a:rPr lang="en-US" sz="3300" dirty="0"/>
            </a:br>
            <a:r>
              <a:rPr lang="en-US" sz="2000" b="0" dirty="0"/>
              <a:t>histogram example</a:t>
            </a:r>
          </a:p>
        </p:txBody>
      </p:sp>
      <p:pic>
        <p:nvPicPr>
          <p:cNvPr id="8" name="Content Placeholder 7">
            <a:extLst>
              <a:ext uri="{FF2B5EF4-FFF2-40B4-BE49-F238E27FC236}">
                <a16:creationId xmlns:a16="http://schemas.microsoft.com/office/drawing/2014/main" id="{729A9376-59CC-25BD-680C-C7D2201DCD5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2651" r="24784" b="-1"/>
          <a:stretch>
            <a:fillRect/>
          </a:stretch>
        </p:blipFill>
        <p:spPr>
          <a:xfrm>
            <a:off x="195835" y="1722972"/>
            <a:ext cx="5760965" cy="4273374"/>
          </a:xfrm>
          <a:prstGeom prst="rect">
            <a:avLst/>
          </a:prstGeom>
        </p:spPr>
      </p:pic>
      <p:pic>
        <p:nvPicPr>
          <p:cNvPr id="11" name="Picture 10">
            <a:extLst>
              <a:ext uri="{FF2B5EF4-FFF2-40B4-BE49-F238E27FC236}">
                <a16:creationId xmlns:a16="http://schemas.microsoft.com/office/drawing/2014/main" id="{0D6BDC3E-ADE9-16B8-AAA7-64681F947631}"/>
              </a:ext>
            </a:extLst>
          </p:cNvPr>
          <p:cNvPicPr>
            <a:picLocks noChangeAspect="1"/>
          </p:cNvPicPr>
          <p:nvPr/>
        </p:nvPicPr>
        <p:blipFill>
          <a:blip r:embed="rId4">
            <a:extLst>
              <a:ext uri="{28A0092B-C50C-407E-A947-70E740481C1C}">
                <a14:useLocalDpi xmlns:a14="http://schemas.microsoft.com/office/drawing/2010/main" val="0"/>
              </a:ext>
            </a:extLst>
          </a:blip>
          <a:srcRect l="7681" r="12853"/>
          <a:stretch>
            <a:fillRect/>
          </a:stretch>
        </p:blipFill>
        <p:spPr>
          <a:xfrm>
            <a:off x="6152634" y="1722972"/>
            <a:ext cx="5760965" cy="4486901"/>
          </a:xfrm>
          <a:prstGeom prst="rect">
            <a:avLst/>
          </a:prstGeom>
        </p:spPr>
      </p:pic>
    </p:spTree>
    <p:extLst>
      <p:ext uri="{BB962C8B-B14F-4D97-AF65-F5344CB8AC3E}">
        <p14:creationId xmlns:p14="http://schemas.microsoft.com/office/powerpoint/2010/main" val="4144363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4B610-AB43-BBEF-974C-E7918E76EA9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FAAE73-183B-41F1-31A5-8FB54E29E6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8A6354-0A40-99BE-3493-A15AF6261474}"/>
              </a:ext>
            </a:extLst>
          </p:cNvPr>
          <p:cNvSpPr>
            <a:spLocks noGrp="1"/>
          </p:cNvSpPr>
          <p:nvPr>
            <p:ph type="title"/>
          </p:nvPr>
        </p:nvSpPr>
        <p:spPr>
          <a:xfrm>
            <a:off x="233604" y="194557"/>
            <a:ext cx="8361756" cy="708166"/>
          </a:xfrm>
        </p:spPr>
        <p:txBody>
          <a:bodyPr anchor="b">
            <a:normAutofit fontScale="90000"/>
          </a:bodyPr>
          <a:lstStyle/>
          <a:p>
            <a:r>
              <a:rPr lang="en-US" sz="3300" dirty="0"/>
              <a:t>Parallel sol. without race condition</a:t>
            </a:r>
            <a:br>
              <a:rPr lang="en-US" sz="3300" dirty="0"/>
            </a:br>
            <a:r>
              <a:rPr lang="en-US" sz="2000" b="0" dirty="0"/>
              <a:t>histogram example</a:t>
            </a:r>
          </a:p>
        </p:txBody>
      </p:sp>
      <p:pic>
        <p:nvPicPr>
          <p:cNvPr id="8" name="Content Placeholder 7">
            <a:extLst>
              <a:ext uri="{FF2B5EF4-FFF2-40B4-BE49-F238E27FC236}">
                <a16:creationId xmlns:a16="http://schemas.microsoft.com/office/drawing/2014/main" id="{D83DFCE4-D243-9B8C-8486-2F1704EE99B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5539" r="5539"/>
          <a:stretch/>
        </p:blipFill>
        <p:spPr>
          <a:xfrm>
            <a:off x="195835" y="1722972"/>
            <a:ext cx="5760965" cy="4273374"/>
          </a:xfrm>
          <a:prstGeom prst="rect">
            <a:avLst/>
          </a:prstGeom>
        </p:spPr>
      </p:pic>
      <p:pic>
        <p:nvPicPr>
          <p:cNvPr id="11" name="Picture 10">
            <a:extLst>
              <a:ext uri="{FF2B5EF4-FFF2-40B4-BE49-F238E27FC236}">
                <a16:creationId xmlns:a16="http://schemas.microsoft.com/office/drawing/2014/main" id="{86FED9AE-1DA7-E9F2-F78F-11C0EDB0BDA2}"/>
              </a:ext>
            </a:extLst>
          </p:cNvPr>
          <p:cNvPicPr>
            <a:picLocks noChangeAspect="1"/>
          </p:cNvPicPr>
          <p:nvPr/>
        </p:nvPicPr>
        <p:blipFill>
          <a:blip r:embed="rId4">
            <a:extLst>
              <a:ext uri="{28A0092B-C50C-407E-A947-70E740481C1C}">
                <a14:useLocalDpi xmlns:a14="http://schemas.microsoft.com/office/drawing/2010/main" val="0"/>
              </a:ext>
            </a:extLst>
          </a:blip>
          <a:srcRect t="-423" b="585"/>
          <a:stretch>
            <a:fillRect/>
          </a:stretch>
        </p:blipFill>
        <p:spPr>
          <a:xfrm>
            <a:off x="6152634" y="1592132"/>
            <a:ext cx="5760965" cy="4701092"/>
          </a:xfrm>
          <a:prstGeom prst="rect">
            <a:avLst/>
          </a:prstGeom>
        </p:spPr>
      </p:pic>
    </p:spTree>
    <p:extLst>
      <p:ext uri="{BB962C8B-B14F-4D97-AF65-F5344CB8AC3E}">
        <p14:creationId xmlns:p14="http://schemas.microsoft.com/office/powerpoint/2010/main" val="679935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A5999-98F1-4C85-813C-2CF5E1135D6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3386FE-2A81-8050-0B61-691A81B8C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F5ABD0-900D-7E81-AC9D-E1272159EC80}"/>
              </a:ext>
            </a:extLst>
          </p:cNvPr>
          <p:cNvSpPr>
            <a:spLocks noGrp="1"/>
          </p:cNvSpPr>
          <p:nvPr>
            <p:ph type="title"/>
          </p:nvPr>
        </p:nvSpPr>
        <p:spPr>
          <a:xfrm>
            <a:off x="233604" y="194557"/>
            <a:ext cx="5862396" cy="708166"/>
          </a:xfrm>
        </p:spPr>
        <p:txBody>
          <a:bodyPr anchor="b">
            <a:normAutofit fontScale="90000"/>
          </a:bodyPr>
          <a:lstStyle/>
          <a:p>
            <a:r>
              <a:rPr lang="en-US" sz="3300" dirty="0"/>
              <a:t>Task </a:t>
            </a:r>
            <a:br>
              <a:rPr lang="en-US" sz="3300" dirty="0"/>
            </a:br>
            <a:r>
              <a:rPr lang="en-US" sz="2000" b="0" dirty="0"/>
              <a:t>routines and variable types</a:t>
            </a:r>
          </a:p>
        </p:txBody>
      </p:sp>
      <p:sp>
        <p:nvSpPr>
          <p:cNvPr id="3" name="Content Placeholder 2">
            <a:extLst>
              <a:ext uri="{FF2B5EF4-FFF2-40B4-BE49-F238E27FC236}">
                <a16:creationId xmlns:a16="http://schemas.microsoft.com/office/drawing/2014/main" id="{8C4CFA8D-8907-E44F-37B3-C9FC1C521153}"/>
              </a:ext>
            </a:extLst>
          </p:cNvPr>
          <p:cNvSpPr>
            <a:spLocks noGrp="1"/>
          </p:cNvSpPr>
          <p:nvPr>
            <p:ph idx="1"/>
          </p:nvPr>
        </p:nvSpPr>
        <p:spPr>
          <a:xfrm>
            <a:off x="215414" y="1451362"/>
            <a:ext cx="11761172" cy="5212081"/>
          </a:xfrm>
        </p:spPr>
        <p:txBody>
          <a:bodyPr>
            <a:normAutofit/>
          </a:bodyPr>
          <a:lstStyle/>
          <a:p>
            <a:pPr>
              <a:lnSpc>
                <a:spcPct val="110000"/>
              </a:lnSpc>
            </a:pPr>
            <a:r>
              <a:rPr lang="en-US" dirty="0"/>
              <a:t>The task directive was originally introduced as part of the OpenMP 3.0 standard</a:t>
            </a:r>
          </a:p>
          <a:p>
            <a:pPr>
              <a:lnSpc>
                <a:spcPct val="110000"/>
              </a:lnSpc>
            </a:pPr>
            <a:r>
              <a:rPr lang="en-US" dirty="0"/>
              <a:t>OpenMP performs two activities related to tasks: </a:t>
            </a:r>
          </a:p>
          <a:p>
            <a:pPr>
              <a:lnSpc>
                <a:spcPct val="110000"/>
              </a:lnSpc>
            </a:pPr>
            <a:r>
              <a:rPr lang="en-US" b="1" dirty="0"/>
              <a:t>Packaging</a:t>
            </a:r>
            <a:r>
              <a:rPr lang="en-US" dirty="0"/>
              <a:t> :creating a structure to describe a task entity.</a:t>
            </a:r>
          </a:p>
          <a:p>
            <a:pPr>
              <a:lnSpc>
                <a:spcPct val="110000"/>
              </a:lnSpc>
            </a:pPr>
            <a:r>
              <a:rPr lang="en-US" b="1" dirty="0"/>
              <a:t>Execution</a:t>
            </a:r>
            <a:r>
              <a:rPr lang="en-US" dirty="0"/>
              <a:t> : assigning a task to a thread.</a:t>
            </a:r>
          </a:p>
          <a:p>
            <a:pPr>
              <a:lnSpc>
                <a:spcPct val="110000"/>
              </a:lnSpc>
            </a:pPr>
            <a:r>
              <a:rPr lang="en-US" b="1" dirty="0"/>
              <a:t>Tasks</a:t>
            </a:r>
            <a:r>
              <a:rPr lang="en-US" dirty="0"/>
              <a:t>: are independent units of work and you just want to take those units of work and put them into some kind of task queue.</a:t>
            </a:r>
          </a:p>
          <a:p>
            <a:pPr>
              <a:lnSpc>
                <a:spcPct val="110000"/>
              </a:lnSpc>
            </a:pPr>
            <a:r>
              <a:rPr lang="en-US" b="1" dirty="0"/>
              <a:t>Tasks</a:t>
            </a:r>
            <a:r>
              <a:rPr lang="en-US" dirty="0"/>
              <a:t> are composed of :</a:t>
            </a:r>
          </a:p>
          <a:p>
            <a:pPr>
              <a:lnSpc>
                <a:spcPct val="110000"/>
              </a:lnSpc>
            </a:pPr>
            <a:r>
              <a:rPr lang="en-US" b="1" dirty="0"/>
              <a:t>Code</a:t>
            </a:r>
            <a:r>
              <a:rPr lang="en-US" dirty="0"/>
              <a:t> to execute</a:t>
            </a:r>
          </a:p>
          <a:p>
            <a:pPr>
              <a:lnSpc>
                <a:spcPct val="110000"/>
              </a:lnSpc>
            </a:pPr>
            <a:r>
              <a:rPr lang="en-US" b="1" dirty="0"/>
              <a:t>Data</a:t>
            </a:r>
            <a:r>
              <a:rPr lang="en-US" dirty="0"/>
              <a:t> environment</a:t>
            </a:r>
          </a:p>
          <a:p>
            <a:pPr>
              <a:lnSpc>
                <a:spcPct val="110000"/>
              </a:lnSpc>
            </a:pPr>
            <a:r>
              <a:rPr lang="en-US" b="1" dirty="0"/>
              <a:t>Internal control variables (ICV) or thread reference </a:t>
            </a:r>
            <a:r>
              <a:rPr lang="en-US" dirty="0">
                <a:sym typeface="Wingdings" panose="05000000000000000000" pitchFamily="2" charset="2"/>
              </a:rPr>
              <a:t> in OpenMP there are certain features of the environment that constructs control like foe example default number of threads.</a:t>
            </a:r>
            <a:endParaRPr lang="en-US" dirty="0"/>
          </a:p>
        </p:txBody>
      </p:sp>
    </p:spTree>
    <p:extLst>
      <p:ext uri="{BB962C8B-B14F-4D97-AF65-F5344CB8AC3E}">
        <p14:creationId xmlns:p14="http://schemas.microsoft.com/office/powerpoint/2010/main" val="3938150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F1323-0136-F88B-10F1-7CE1B8653C5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1AEAED-F199-058D-350B-D55CBB4371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89951A-ED4F-B0E2-FD35-31F94A20AD26}"/>
              </a:ext>
            </a:extLst>
          </p:cNvPr>
          <p:cNvSpPr>
            <a:spLocks noGrp="1"/>
          </p:cNvSpPr>
          <p:nvPr>
            <p:ph type="title"/>
          </p:nvPr>
        </p:nvSpPr>
        <p:spPr>
          <a:xfrm>
            <a:off x="233604" y="194557"/>
            <a:ext cx="5862396" cy="708166"/>
          </a:xfrm>
        </p:spPr>
        <p:txBody>
          <a:bodyPr anchor="b">
            <a:normAutofit fontScale="90000"/>
          </a:bodyPr>
          <a:lstStyle/>
          <a:p>
            <a:r>
              <a:rPr lang="en-US" sz="3300" dirty="0"/>
              <a:t>Task </a:t>
            </a:r>
            <a:br>
              <a:rPr lang="en-US" sz="3300" dirty="0"/>
            </a:br>
            <a:r>
              <a:rPr lang="en-US" sz="2000" b="0" dirty="0"/>
              <a:t>routines and variable types</a:t>
            </a:r>
          </a:p>
        </p:txBody>
      </p:sp>
      <p:sp>
        <p:nvSpPr>
          <p:cNvPr id="3" name="Content Placeholder 2">
            <a:extLst>
              <a:ext uri="{FF2B5EF4-FFF2-40B4-BE49-F238E27FC236}">
                <a16:creationId xmlns:a16="http://schemas.microsoft.com/office/drawing/2014/main" id="{CDA9DAF1-772A-B4D0-B42F-C0D122D6E6F9}"/>
              </a:ext>
            </a:extLst>
          </p:cNvPr>
          <p:cNvSpPr>
            <a:spLocks noGrp="1"/>
          </p:cNvSpPr>
          <p:nvPr>
            <p:ph idx="1"/>
          </p:nvPr>
        </p:nvSpPr>
        <p:spPr>
          <a:xfrm>
            <a:off x="215414" y="2570157"/>
            <a:ext cx="11761172" cy="5212081"/>
          </a:xfrm>
        </p:spPr>
        <p:txBody>
          <a:bodyPr>
            <a:normAutofit/>
          </a:bodyPr>
          <a:lstStyle/>
          <a:p>
            <a:pPr>
              <a:lnSpc>
                <a:spcPct val="110000"/>
              </a:lnSpc>
            </a:pPr>
            <a:r>
              <a:rPr lang="en-US" dirty="0"/>
              <a:t>The runtime system decides when tasks are executed </a:t>
            </a:r>
          </a:p>
          <a:p>
            <a:pPr>
              <a:lnSpc>
                <a:spcPct val="110000"/>
              </a:lnSpc>
            </a:pPr>
            <a:r>
              <a:rPr lang="en-US" dirty="0"/>
              <a:t>Think of it as you have some kind of queue mechanism that stores up the tasks until available threads are there to run them and then they’ll pick up a task and run them and schedule them</a:t>
            </a:r>
          </a:p>
          <a:p>
            <a:pPr>
              <a:lnSpc>
                <a:spcPct val="110000"/>
              </a:lnSpc>
            </a:pPr>
            <a:r>
              <a:rPr lang="en-US" dirty="0"/>
              <a:t>Task directive has no implicit barrier.</a:t>
            </a:r>
          </a:p>
          <a:p>
            <a:pPr marL="0" indent="0" algn="ctr">
              <a:lnSpc>
                <a:spcPct val="110000"/>
              </a:lnSpc>
              <a:buNone/>
            </a:pPr>
            <a:r>
              <a:rPr lang="en-US" b="1" dirty="0">
                <a:solidFill>
                  <a:srgbClr val="FF0000"/>
                </a:solidFill>
              </a:rPr>
              <a:t>[But what is happening in parallel construct with task directive??]</a:t>
            </a:r>
          </a:p>
          <a:p>
            <a:pPr marL="0" indent="0" algn="ctr">
              <a:lnSpc>
                <a:spcPct val="110000"/>
              </a:lnSpc>
              <a:buNone/>
            </a:pPr>
            <a:r>
              <a:rPr lang="en-US" b="1" dirty="0">
                <a:solidFill>
                  <a:srgbClr val="FF0000"/>
                </a:solidFill>
              </a:rPr>
              <a:t>[Let’s take a look]</a:t>
            </a:r>
          </a:p>
        </p:txBody>
      </p:sp>
      <p:pic>
        <p:nvPicPr>
          <p:cNvPr id="5" name="Picture 4">
            <a:extLst>
              <a:ext uri="{FF2B5EF4-FFF2-40B4-BE49-F238E27FC236}">
                <a16:creationId xmlns:a16="http://schemas.microsoft.com/office/drawing/2014/main" id="{16BBD45A-358B-23DD-51FF-55E2313DB163}"/>
              </a:ext>
            </a:extLst>
          </p:cNvPr>
          <p:cNvPicPr>
            <a:picLocks noChangeAspect="1"/>
          </p:cNvPicPr>
          <p:nvPr/>
        </p:nvPicPr>
        <p:blipFill>
          <a:blip r:embed="rId3"/>
          <a:stretch>
            <a:fillRect/>
          </a:stretch>
        </p:blipFill>
        <p:spPr>
          <a:xfrm>
            <a:off x="2226558" y="1376255"/>
            <a:ext cx="5544324" cy="1000265"/>
          </a:xfrm>
          <a:prstGeom prst="rect">
            <a:avLst/>
          </a:prstGeom>
        </p:spPr>
      </p:pic>
    </p:spTree>
    <p:extLst>
      <p:ext uri="{BB962C8B-B14F-4D97-AF65-F5344CB8AC3E}">
        <p14:creationId xmlns:p14="http://schemas.microsoft.com/office/powerpoint/2010/main" val="2505109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7B7AB-45C4-07E0-C2E3-91706E6EF4C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9C92139-F16B-FC55-0025-9E5FA0C58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559628-0CCB-5A8B-F15D-B881C770D5D2}"/>
              </a:ext>
            </a:extLst>
          </p:cNvPr>
          <p:cNvSpPr>
            <a:spLocks noGrp="1"/>
          </p:cNvSpPr>
          <p:nvPr>
            <p:ph type="title"/>
          </p:nvPr>
        </p:nvSpPr>
        <p:spPr>
          <a:xfrm>
            <a:off x="233604" y="194557"/>
            <a:ext cx="5862396" cy="708166"/>
          </a:xfrm>
        </p:spPr>
        <p:txBody>
          <a:bodyPr anchor="b">
            <a:normAutofit fontScale="90000"/>
          </a:bodyPr>
          <a:lstStyle/>
          <a:p>
            <a:r>
              <a:rPr lang="en-US" sz="3300" dirty="0"/>
              <a:t>Task </a:t>
            </a:r>
            <a:br>
              <a:rPr lang="en-US" sz="3300" dirty="0"/>
            </a:br>
            <a:r>
              <a:rPr lang="en-US" sz="2000" b="0" dirty="0"/>
              <a:t>routines and variable types</a:t>
            </a:r>
          </a:p>
        </p:txBody>
      </p:sp>
      <p:sp>
        <p:nvSpPr>
          <p:cNvPr id="3" name="Content Placeholder 2">
            <a:extLst>
              <a:ext uri="{FF2B5EF4-FFF2-40B4-BE49-F238E27FC236}">
                <a16:creationId xmlns:a16="http://schemas.microsoft.com/office/drawing/2014/main" id="{FB9CDF2B-D14E-1895-BBE0-914AACF8DC8A}"/>
              </a:ext>
            </a:extLst>
          </p:cNvPr>
          <p:cNvSpPr>
            <a:spLocks noGrp="1"/>
          </p:cNvSpPr>
          <p:nvPr>
            <p:ph idx="1"/>
          </p:nvPr>
        </p:nvSpPr>
        <p:spPr>
          <a:xfrm>
            <a:off x="4507455" y="656216"/>
            <a:ext cx="7684546" cy="5794489"/>
          </a:xfrm>
        </p:spPr>
        <p:txBody>
          <a:bodyPr>
            <a:normAutofit/>
          </a:bodyPr>
          <a:lstStyle/>
          <a:p>
            <a:pPr marL="457200" indent="-457200">
              <a:lnSpc>
                <a:spcPct val="110000"/>
              </a:lnSpc>
              <a:buFont typeface="+mj-lt"/>
              <a:buAutoNum type="arabicPeriod"/>
            </a:pPr>
            <a:r>
              <a:rPr lang="en-US" b="1" dirty="0"/>
              <a:t>Task creation </a:t>
            </a:r>
            <a:r>
              <a:rPr lang="en-US" b="1" dirty="0">
                <a:sym typeface="Wingdings" panose="05000000000000000000" pitchFamily="2" charset="2"/>
              </a:rPr>
              <a:t> </a:t>
            </a:r>
            <a:r>
              <a:rPr lang="en-US" dirty="0">
                <a:sym typeface="Wingdings" panose="05000000000000000000" pitchFamily="2" charset="2"/>
              </a:rPr>
              <a:t>only one thread (the one that executes the single directive) will actually create the tasks</a:t>
            </a:r>
            <a:br>
              <a:rPr lang="en-US" dirty="0">
                <a:sym typeface="Wingdings" panose="05000000000000000000" pitchFamily="2" charset="2"/>
              </a:rPr>
            </a:br>
            <a:r>
              <a:rPr lang="en-US" dirty="0">
                <a:sym typeface="Wingdings" panose="05000000000000000000" pitchFamily="2" charset="2"/>
              </a:rPr>
              <a:t>which means other threads will wait in the barrier till the single thread create all tasks</a:t>
            </a:r>
            <a:r>
              <a:rPr lang="en-US" b="1" dirty="0">
                <a:sym typeface="Wingdings" panose="05000000000000000000" pitchFamily="2" charset="2"/>
              </a:rPr>
              <a:t>.</a:t>
            </a:r>
          </a:p>
          <a:p>
            <a:pPr marL="457200" indent="-457200">
              <a:lnSpc>
                <a:spcPct val="110000"/>
              </a:lnSpc>
              <a:buFont typeface="+mj-lt"/>
              <a:buAutoNum type="arabicPeriod"/>
            </a:pPr>
            <a:r>
              <a:rPr lang="en-US" b="1" dirty="0">
                <a:sym typeface="Wingdings" panose="05000000000000000000" pitchFamily="2" charset="2"/>
              </a:rPr>
              <a:t>Task execution  </a:t>
            </a:r>
            <a:r>
              <a:rPr lang="en-US" dirty="0">
                <a:sym typeface="Wingdings" panose="05000000000000000000" pitchFamily="2" charset="2"/>
              </a:rPr>
              <a:t>once created, tasks are placed into a task pool managed by the OpenMP run time.</a:t>
            </a:r>
            <a:br>
              <a:rPr lang="en-US" dirty="0">
                <a:sym typeface="Wingdings" panose="05000000000000000000" pitchFamily="2" charset="2"/>
              </a:rPr>
            </a:br>
            <a:r>
              <a:rPr lang="en-US" dirty="0">
                <a:sym typeface="Wingdings" panose="05000000000000000000" pitchFamily="2" charset="2"/>
              </a:rPr>
              <a:t>Any thread in team (not just the one that created them) can pick up and execute those tasks.</a:t>
            </a:r>
            <a:br>
              <a:rPr lang="en-US" b="1" dirty="0">
                <a:sym typeface="Wingdings" panose="05000000000000000000" pitchFamily="2" charset="2"/>
              </a:rPr>
            </a:br>
            <a:r>
              <a:rPr lang="en-US" dirty="0">
                <a:sym typeface="Wingdings" panose="05000000000000000000" pitchFamily="2" charset="2"/>
              </a:rPr>
              <a:t>This allows load balancing between threads.</a:t>
            </a:r>
          </a:p>
          <a:p>
            <a:pPr marL="457200" indent="-457200">
              <a:lnSpc>
                <a:spcPct val="110000"/>
              </a:lnSpc>
              <a:buFont typeface="+mj-lt"/>
              <a:buAutoNum type="arabicPeriod"/>
            </a:pPr>
            <a:r>
              <a:rPr lang="en-US" b="1" dirty="0">
                <a:sym typeface="Wingdings" panose="05000000000000000000" pitchFamily="2" charset="2"/>
              </a:rPr>
              <a:t>Important distinctions  </a:t>
            </a:r>
          </a:p>
          <a:p>
            <a:pPr marL="457200" indent="-457200">
              <a:lnSpc>
                <a:spcPct val="110000"/>
              </a:lnSpc>
              <a:buFont typeface="+mj-lt"/>
              <a:buAutoNum type="arabicPeriod"/>
            </a:pPr>
            <a:endParaRPr lang="en-US" b="1" dirty="0"/>
          </a:p>
        </p:txBody>
      </p:sp>
      <p:pic>
        <p:nvPicPr>
          <p:cNvPr id="8" name="Picture 7">
            <a:extLst>
              <a:ext uri="{FF2B5EF4-FFF2-40B4-BE49-F238E27FC236}">
                <a16:creationId xmlns:a16="http://schemas.microsoft.com/office/drawing/2014/main" id="{BA2176D6-CFA6-699E-6C7F-62EA6D351F3B}"/>
              </a:ext>
            </a:extLst>
          </p:cNvPr>
          <p:cNvPicPr>
            <a:picLocks noChangeAspect="1"/>
          </p:cNvPicPr>
          <p:nvPr/>
        </p:nvPicPr>
        <p:blipFill>
          <a:blip r:embed="rId3"/>
          <a:stretch>
            <a:fillRect/>
          </a:stretch>
        </p:blipFill>
        <p:spPr>
          <a:xfrm>
            <a:off x="233604" y="1399989"/>
            <a:ext cx="3943900" cy="3477110"/>
          </a:xfrm>
          <a:prstGeom prst="rect">
            <a:avLst/>
          </a:prstGeom>
        </p:spPr>
      </p:pic>
      <p:sp>
        <p:nvSpPr>
          <p:cNvPr id="9" name="TextBox 8">
            <a:extLst>
              <a:ext uri="{FF2B5EF4-FFF2-40B4-BE49-F238E27FC236}">
                <a16:creationId xmlns:a16="http://schemas.microsoft.com/office/drawing/2014/main" id="{500D9137-CA7D-19C1-3FE5-0DA455C20D74}"/>
              </a:ext>
            </a:extLst>
          </p:cNvPr>
          <p:cNvSpPr txBox="1"/>
          <p:nvPr/>
        </p:nvSpPr>
        <p:spPr>
          <a:xfrm>
            <a:off x="4883401" y="4244599"/>
            <a:ext cx="7135907"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The creator thread </a:t>
            </a:r>
            <a:r>
              <a:rPr lang="en-US" dirty="0">
                <a:sym typeface="Wingdings" panose="05000000000000000000" pitchFamily="2" charset="2"/>
              </a:rPr>
              <a:t> responsible for generating tasks</a:t>
            </a:r>
          </a:p>
          <a:p>
            <a:pPr marL="285750" indent="-285750">
              <a:buFont typeface="Arial" panose="020B0604020202020204" pitchFamily="34" charset="0"/>
              <a:buChar char="•"/>
            </a:pPr>
            <a:r>
              <a:rPr lang="en-US" dirty="0">
                <a:sym typeface="Wingdings" panose="05000000000000000000" pitchFamily="2" charset="2"/>
              </a:rPr>
              <a:t>The worker threads  (including the creator itself if idle) can execute tasks.</a:t>
            </a:r>
          </a:p>
          <a:p>
            <a:pPr marL="285750" indent="-285750">
              <a:buFont typeface="Arial" panose="020B0604020202020204" pitchFamily="34" charset="0"/>
              <a:buChar char="•"/>
            </a:pPr>
            <a:r>
              <a:rPr lang="en-US" dirty="0">
                <a:sym typeface="Wingdings" panose="05000000000000000000" pitchFamily="2" charset="2"/>
              </a:rPr>
              <a:t>Thread pool  </a:t>
            </a:r>
            <a:r>
              <a:rPr lang="en-US" dirty="0"/>
              <a:t>A collection of pre-created worker threads managed by the runtime/OS</a:t>
            </a:r>
          </a:p>
          <a:p>
            <a:pPr marL="285750" indent="-285750">
              <a:buFont typeface="Arial" panose="020B0604020202020204" pitchFamily="34" charset="0"/>
              <a:buChar char="•"/>
            </a:pPr>
            <a:r>
              <a:rPr lang="en-US" dirty="0"/>
              <a:t>Task pool </a:t>
            </a:r>
            <a:r>
              <a:rPr lang="en-US" dirty="0">
                <a:sym typeface="Wingdings" panose="05000000000000000000" pitchFamily="2" charset="2"/>
              </a:rPr>
              <a:t> </a:t>
            </a:r>
            <a:r>
              <a:rPr lang="en-US" dirty="0"/>
              <a:t>A higher-level abstraction representing a unit of work (a "task") that can run asynchronously</a:t>
            </a:r>
            <a:br>
              <a:rPr lang="en-US" dirty="0"/>
            </a:br>
            <a:r>
              <a:rPr lang="en-US" altLang="en-US" dirty="0">
                <a:latin typeface="Arial" panose="020B0604020202020204" pitchFamily="34" charset="0"/>
              </a:rPr>
              <a:t>Tasks are scheduled by a </a:t>
            </a:r>
            <a:r>
              <a:rPr lang="en-US" altLang="en-US" b="1" dirty="0">
                <a:latin typeface="Arial" panose="020B0604020202020204" pitchFamily="34" charset="0"/>
              </a:rPr>
              <a:t>Task Scheduler</a:t>
            </a:r>
            <a:r>
              <a:rPr lang="en-US" altLang="en-US" dirty="0">
                <a:latin typeface="Arial" panose="020B0604020202020204" pitchFamily="34" charset="0"/>
              </a:rPr>
              <a:t>, which typically uses the thread pool underneath </a:t>
            </a:r>
          </a:p>
          <a:p>
            <a:endParaRPr lang="en-US" dirty="0"/>
          </a:p>
        </p:txBody>
      </p:sp>
      <p:sp>
        <p:nvSpPr>
          <p:cNvPr id="13" name="TextBox 12">
            <a:extLst>
              <a:ext uri="{FF2B5EF4-FFF2-40B4-BE49-F238E27FC236}">
                <a16:creationId xmlns:a16="http://schemas.microsoft.com/office/drawing/2014/main" id="{AC39CCAD-32CC-AB6B-80B0-34C8D0BCE246}"/>
              </a:ext>
            </a:extLst>
          </p:cNvPr>
          <p:cNvSpPr txBox="1"/>
          <p:nvPr/>
        </p:nvSpPr>
        <p:spPr>
          <a:xfrm>
            <a:off x="172693" y="5174428"/>
            <a:ext cx="4980220" cy="923330"/>
          </a:xfrm>
          <a:prstGeom prst="rect">
            <a:avLst/>
          </a:prstGeom>
          <a:noFill/>
        </p:spPr>
        <p:txBody>
          <a:bodyPr wrap="square" rtlCol="0">
            <a:spAutoFit/>
          </a:bodyPr>
          <a:lstStyle/>
          <a:p>
            <a:r>
              <a:rPr lang="en-US" dirty="0">
                <a:solidFill>
                  <a:srgbClr val="FF0000"/>
                </a:solidFill>
              </a:rPr>
              <a:t>You don’t end up with one thread doing all the work – the runtime distribute tasks dynamically</a:t>
            </a:r>
          </a:p>
        </p:txBody>
      </p:sp>
    </p:spTree>
    <p:extLst>
      <p:ext uri="{BB962C8B-B14F-4D97-AF65-F5344CB8AC3E}">
        <p14:creationId xmlns:p14="http://schemas.microsoft.com/office/powerpoint/2010/main" val="3215378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EEDFB-5B3D-6D2C-A6DD-2B06C8EE5E0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96769A-6DBA-32A6-3A76-58D6FC030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BC73C3-F9A7-E858-3E51-43C3B17BE67E}"/>
              </a:ext>
            </a:extLst>
          </p:cNvPr>
          <p:cNvSpPr>
            <a:spLocks noGrp="1"/>
          </p:cNvSpPr>
          <p:nvPr>
            <p:ph type="title"/>
          </p:nvPr>
        </p:nvSpPr>
        <p:spPr>
          <a:xfrm>
            <a:off x="233604" y="194557"/>
            <a:ext cx="5862396" cy="708166"/>
          </a:xfrm>
        </p:spPr>
        <p:txBody>
          <a:bodyPr anchor="b">
            <a:normAutofit fontScale="90000"/>
          </a:bodyPr>
          <a:lstStyle/>
          <a:p>
            <a:r>
              <a:rPr lang="en-US" sz="3300" dirty="0"/>
              <a:t>Task </a:t>
            </a:r>
            <a:br>
              <a:rPr lang="en-US" sz="3300" dirty="0"/>
            </a:br>
            <a:r>
              <a:rPr lang="en-US" sz="2000" b="0" dirty="0"/>
              <a:t>when and why the creator thread is “idle”??</a:t>
            </a:r>
          </a:p>
        </p:txBody>
      </p:sp>
      <p:sp>
        <p:nvSpPr>
          <p:cNvPr id="3" name="Content Placeholder 2">
            <a:extLst>
              <a:ext uri="{FF2B5EF4-FFF2-40B4-BE49-F238E27FC236}">
                <a16:creationId xmlns:a16="http://schemas.microsoft.com/office/drawing/2014/main" id="{4ABA6F31-D012-635D-E1E4-71906E575990}"/>
              </a:ext>
            </a:extLst>
          </p:cNvPr>
          <p:cNvSpPr>
            <a:spLocks noGrp="1"/>
          </p:cNvSpPr>
          <p:nvPr>
            <p:ph idx="1"/>
          </p:nvPr>
        </p:nvSpPr>
        <p:spPr>
          <a:xfrm>
            <a:off x="233604" y="1097280"/>
            <a:ext cx="11742982" cy="5566163"/>
          </a:xfrm>
        </p:spPr>
        <p:txBody>
          <a:bodyPr>
            <a:normAutofit/>
          </a:bodyPr>
          <a:lstStyle/>
          <a:p>
            <a:pPr>
              <a:lnSpc>
                <a:spcPct val="110000"/>
              </a:lnSpc>
            </a:pPr>
            <a:r>
              <a:rPr lang="en-US" dirty="0"/>
              <a:t>The creator thread (the one inside the single region) is busy while it’s generating tasks.</a:t>
            </a:r>
          </a:p>
          <a:p>
            <a:pPr>
              <a:lnSpc>
                <a:spcPct val="110000"/>
              </a:lnSpc>
            </a:pPr>
            <a:r>
              <a:rPr lang="en-US" dirty="0"/>
              <a:t>Once it finishes creating tasks, it reaches the implicit barrier at the end of the single construct.</a:t>
            </a:r>
          </a:p>
          <a:p>
            <a:pPr>
              <a:lnSpc>
                <a:spcPct val="110000"/>
              </a:lnSpc>
            </a:pPr>
            <a:r>
              <a:rPr lang="en-US" dirty="0"/>
              <a:t>At that point:</a:t>
            </a:r>
            <a:br>
              <a:rPr lang="en-US" dirty="0"/>
            </a:br>
            <a:r>
              <a:rPr lang="en-US" dirty="0"/>
              <a:t>if there are still tasks waiting the pool, the creator thread can </a:t>
            </a:r>
            <a:r>
              <a:rPr lang="en-US" dirty="0">
                <a:solidFill>
                  <a:srgbClr val="FF0000"/>
                </a:solidFill>
              </a:rPr>
              <a:t>help executing tasks</a:t>
            </a:r>
            <a:r>
              <a:rPr lang="en-US" dirty="0"/>
              <a:t> just like any other worker.</a:t>
            </a:r>
            <a:br>
              <a:rPr lang="en-US" dirty="0"/>
            </a:br>
            <a:r>
              <a:rPr lang="en-US" dirty="0"/>
              <a:t>If all tasks are already completed by other threads, the creator thread simply waits at the barrier </a:t>
            </a:r>
            <a:r>
              <a:rPr lang="en-US" dirty="0">
                <a:solidFill>
                  <a:srgbClr val="FF0000"/>
                </a:solidFill>
              </a:rPr>
              <a:t>(idle) </a:t>
            </a:r>
            <a:endParaRPr lang="en-US" dirty="0"/>
          </a:p>
          <a:p>
            <a:pPr>
              <a:lnSpc>
                <a:spcPct val="110000"/>
              </a:lnSpc>
            </a:pPr>
            <a:r>
              <a:rPr lang="en-US" dirty="0"/>
              <a:t>OpenMP’s runtime doesn’t reserve the creator thread exclusively for task creation.</a:t>
            </a:r>
          </a:p>
          <a:p>
            <a:pPr>
              <a:lnSpc>
                <a:spcPct val="110000"/>
              </a:lnSpc>
            </a:pPr>
            <a:r>
              <a:rPr lang="en-US" dirty="0"/>
              <a:t>After it’s done dispatching tasks, it becomes part of the pool of threads available to execute tasks </a:t>
            </a:r>
          </a:p>
          <a:p>
            <a:pPr>
              <a:lnSpc>
                <a:spcPct val="110000"/>
              </a:lnSpc>
            </a:pPr>
            <a:r>
              <a:rPr lang="en-US" dirty="0"/>
              <a:t>This ensure </a:t>
            </a:r>
            <a:r>
              <a:rPr lang="en-US" dirty="0">
                <a:solidFill>
                  <a:srgbClr val="FF0000"/>
                </a:solidFill>
              </a:rPr>
              <a:t>load balancing</a:t>
            </a:r>
            <a:r>
              <a:rPr lang="en-US" dirty="0"/>
              <a:t> </a:t>
            </a:r>
            <a:r>
              <a:rPr lang="en-US" dirty="0">
                <a:sym typeface="Wingdings" panose="05000000000000000000" pitchFamily="2" charset="2"/>
              </a:rPr>
              <a:t> no thread is wasted just sitting idle unless there’s literally no work left.</a:t>
            </a:r>
            <a:endParaRPr lang="en-US" dirty="0"/>
          </a:p>
        </p:txBody>
      </p:sp>
    </p:spTree>
    <p:extLst>
      <p:ext uri="{BB962C8B-B14F-4D97-AF65-F5344CB8AC3E}">
        <p14:creationId xmlns:p14="http://schemas.microsoft.com/office/powerpoint/2010/main" val="2573483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B5A4C-F1F5-EEF1-B81A-608019103310}"/>
              </a:ext>
            </a:extLst>
          </p:cNvPr>
          <p:cNvSpPr>
            <a:spLocks noGrp="1"/>
          </p:cNvSpPr>
          <p:nvPr>
            <p:ph type="title"/>
          </p:nvPr>
        </p:nvSpPr>
        <p:spPr/>
        <p:txBody>
          <a:bodyPr/>
          <a:lstStyle/>
          <a:p>
            <a:r>
              <a:rPr lang="en-US"/>
              <a:t>Exercise 7</a:t>
            </a:r>
            <a:endParaRPr lang="en-US" dirty="0"/>
          </a:p>
        </p:txBody>
      </p:sp>
      <p:sp>
        <p:nvSpPr>
          <p:cNvPr id="3" name="Content Placeholder 2">
            <a:extLst>
              <a:ext uri="{FF2B5EF4-FFF2-40B4-BE49-F238E27FC236}">
                <a16:creationId xmlns:a16="http://schemas.microsoft.com/office/drawing/2014/main" id="{9B432CF9-176C-3FD0-570F-B4E90435364A}"/>
              </a:ext>
            </a:extLst>
          </p:cNvPr>
          <p:cNvSpPr>
            <a:spLocks noGrp="1"/>
          </p:cNvSpPr>
          <p:nvPr>
            <p:ph idx="1"/>
          </p:nvPr>
        </p:nvSpPr>
        <p:spPr/>
        <p:txBody>
          <a:bodyPr/>
          <a:lstStyle/>
          <a:p>
            <a:r>
              <a:rPr lang="en-US" dirty="0"/>
              <a:t>Solve Fibonacci sequence using a task work-sharing construct</a:t>
            </a:r>
          </a:p>
          <a:p>
            <a:r>
              <a:rPr lang="en-US" dirty="0"/>
              <a:t>The readers–writers problem manifests itself whenever a shared resource is accessed by threads trying to modify it alongside threads trying to read it. In its simplest form, the problem is governed by the following two conditions:</a:t>
            </a:r>
            <a:br>
              <a:rPr lang="en-US" dirty="0"/>
            </a:br>
            <a:r>
              <a:rPr lang="en-US" dirty="0"/>
              <a:t> • Each writer must have exclusive access to the resource while it is modifying it. All other threads, including readers, are blocked. </a:t>
            </a:r>
            <a:br>
              <a:rPr lang="en-US" dirty="0"/>
            </a:br>
            <a:r>
              <a:rPr lang="en-US" dirty="0"/>
              <a:t>• If a reader is accessing the resource, other readers may do so as well. Obviously, adhering to the previous condition, writer threads cannot access the resource while a reader is doing so.</a:t>
            </a:r>
          </a:p>
        </p:txBody>
      </p:sp>
    </p:spTree>
    <p:extLst>
      <p:ext uri="{BB962C8B-B14F-4D97-AF65-F5344CB8AC3E}">
        <p14:creationId xmlns:p14="http://schemas.microsoft.com/office/powerpoint/2010/main" val="14651013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2834</TotalTime>
  <Words>2394</Words>
  <Application>Microsoft Office PowerPoint</Application>
  <PresentationFormat>Widescreen</PresentationFormat>
  <Paragraphs>146</Paragraphs>
  <Slides>20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Neue Haas Grotesk Text Pro</vt:lpstr>
      <vt:lpstr>Wingdings</vt:lpstr>
      <vt:lpstr>VanillaVTI</vt:lpstr>
      <vt:lpstr>Parallel computing</vt:lpstr>
      <vt:lpstr>Locks  what is this??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Locks  routines and variable types</vt:lpstr>
      <vt:lpstr>Uncontended Locks vs Contended Locks  histogram example</vt:lpstr>
      <vt:lpstr>Uncontended Locks vs Contended Locks  histogram example</vt:lpstr>
      <vt:lpstr>Sequential sol. histogram example</vt:lpstr>
      <vt:lpstr>Parallel sol. with race condition histogram example</vt:lpstr>
      <vt:lpstr>Parallel sol. without race condition histogram example</vt:lpstr>
      <vt:lpstr>Task  routines and variable types</vt:lpstr>
      <vt:lpstr>Task  routines and variable types</vt:lpstr>
      <vt:lpstr>Task  routines and variable types</vt:lpstr>
      <vt:lpstr>Task  when and why the creator thread is “idle”??</vt:lpstr>
      <vt:lpstr>Exercise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23</cp:revision>
  <dcterms:created xsi:type="dcterms:W3CDTF">2026-02-12T13:52:08Z</dcterms:created>
  <dcterms:modified xsi:type="dcterms:W3CDTF">2026-03-30T09:34:07Z</dcterms:modified>
</cp:coreProperties>
</file>