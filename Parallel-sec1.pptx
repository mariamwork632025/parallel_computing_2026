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notesMasterIdLst>
    <p:notesMasterId r:id="rId16"/>
  </p:notesMasterIdLst>
  <p:sldIdLst>
    <p:sldId id="256" r:id="rId2"/>
    <p:sldId id="257" r:id="rId3"/>
    <p:sldId id="258" r:id="rId4"/>
    <p:sldId id="260" r:id="rId5"/>
    <p:sldId id="261" r:id="rId6"/>
    <p:sldId id="265" r:id="rId7"/>
    <p:sldId id="273" r:id="rId8"/>
    <p:sldId id="266" r:id="rId9"/>
    <p:sldId id="267" r:id="rId10"/>
    <p:sldId id="259" r:id="rId11"/>
    <p:sldId id="269" r:id="rId12"/>
    <p:sldId id="270" r:id="rId13"/>
    <p:sldId id="271" r:id="rId14"/>
    <p:sldId id="27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2B4DD"/>
    <a:srgbClr val="0171C2"/>
    <a:srgbClr val="2772B7"/>
    <a:srgbClr val="00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0922" autoAdjust="0"/>
  </p:normalViewPr>
  <p:slideViewPr>
    <p:cSldViewPr snapToGrid="0">
      <p:cViewPr>
        <p:scale>
          <a:sx n="66" d="100"/>
          <a:sy n="66" d="100"/>
        </p:scale>
        <p:origin x="1330" y="16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4" Type="http://schemas.openxmlformats.org/officeDocument/2006/relationships/image" Target="../media/image1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4" Type="http://schemas.openxmlformats.org/officeDocument/2006/relationships/image" Target="../media/image12.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1B52462-7744-4F84-93B6-43AF85AB2440}"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F790997-755C-4391-9A20-BA41FA3095F8}">
      <dgm:prSet/>
      <dgm:spPr/>
      <dgm:t>
        <a:bodyPr/>
        <a:lstStyle/>
        <a:p>
          <a:pPr>
            <a:lnSpc>
              <a:spcPct val="100000"/>
            </a:lnSpc>
          </a:pPr>
          <a:r>
            <a:rPr lang="en-US" b="1" dirty="0"/>
            <a:t>Parallelism</a:t>
          </a:r>
          <a:r>
            <a:rPr lang="en-US" dirty="0"/>
            <a:t> : is a condition of a system in which multiple tasks are actually active at one time [is a subset of concurrency = you’re taking some of that concurrency and executing it at the same time]</a:t>
          </a:r>
        </a:p>
      </dgm:t>
    </dgm:pt>
    <dgm:pt modelId="{1497A5B7-19B3-43ED-A3CC-29BF8409FF5E}" type="parTrans" cxnId="{8BAE1269-B3DF-4530-837D-0FEAF05013AF}">
      <dgm:prSet/>
      <dgm:spPr/>
      <dgm:t>
        <a:bodyPr/>
        <a:lstStyle/>
        <a:p>
          <a:endParaRPr lang="en-US"/>
        </a:p>
      </dgm:t>
    </dgm:pt>
    <dgm:pt modelId="{C4B1A83E-25F8-4E70-9D8B-5B1E85077B27}" type="sibTrans" cxnId="{8BAE1269-B3DF-4530-837D-0FEAF05013AF}">
      <dgm:prSet/>
      <dgm:spPr/>
      <dgm:t>
        <a:bodyPr/>
        <a:lstStyle/>
        <a:p>
          <a:endParaRPr lang="en-US"/>
        </a:p>
      </dgm:t>
    </dgm:pt>
    <dgm:pt modelId="{FD966C6F-8E6F-4C70-8CCA-A983AD69673C}">
      <dgm:prSet/>
      <dgm:spPr/>
      <dgm:t>
        <a:bodyPr/>
        <a:lstStyle/>
        <a:p>
          <a:pPr>
            <a:lnSpc>
              <a:spcPct val="100000"/>
            </a:lnSpc>
          </a:pPr>
          <a:r>
            <a:rPr lang="en-US" b="1" dirty="0"/>
            <a:t>Concurrency</a:t>
          </a:r>
          <a:r>
            <a:rPr lang="en-US" dirty="0"/>
            <a:t> : is a condition of a system in which multiple tasks are logically active at one time [ they may not happen at the same time but at least they can, you have multiple things active and able to make progress at the same time ]</a:t>
          </a:r>
        </a:p>
      </dgm:t>
    </dgm:pt>
    <dgm:pt modelId="{A047DD6C-5300-4675-8C2A-E86EF7828BA5}" type="parTrans" cxnId="{1F2D4E1A-B0D9-4064-81E4-0AC45AC35ACA}">
      <dgm:prSet/>
      <dgm:spPr/>
      <dgm:t>
        <a:bodyPr/>
        <a:lstStyle/>
        <a:p>
          <a:endParaRPr lang="en-US"/>
        </a:p>
      </dgm:t>
    </dgm:pt>
    <dgm:pt modelId="{87CECAE3-D780-4975-836C-D82F8BC58824}" type="sibTrans" cxnId="{1F2D4E1A-B0D9-4064-81E4-0AC45AC35ACA}">
      <dgm:prSet/>
      <dgm:spPr/>
      <dgm:t>
        <a:bodyPr/>
        <a:lstStyle/>
        <a:p>
          <a:endParaRPr lang="en-US"/>
        </a:p>
      </dgm:t>
    </dgm:pt>
    <dgm:pt modelId="{FAC9D07C-53D3-4AEA-9C96-1046D148B7E8}">
      <dgm:prSet/>
      <dgm:spPr/>
      <dgm:t>
        <a:bodyPr/>
        <a:lstStyle/>
        <a:p>
          <a:pPr>
            <a:lnSpc>
              <a:spcPct val="100000"/>
            </a:lnSpc>
          </a:pPr>
          <a:endParaRPr lang="en-US" dirty="0"/>
        </a:p>
      </dgm:t>
    </dgm:pt>
    <dgm:pt modelId="{EAB323F7-4F07-4701-B3C9-43BB367723AD}" type="parTrans" cxnId="{FD11B7BB-8DEB-4035-9191-7A84A59A2CA0}">
      <dgm:prSet/>
      <dgm:spPr/>
      <dgm:t>
        <a:bodyPr/>
        <a:lstStyle/>
        <a:p>
          <a:endParaRPr lang="en-US"/>
        </a:p>
      </dgm:t>
    </dgm:pt>
    <dgm:pt modelId="{98429E66-5FE4-44C5-9DF4-78E3A9FE8375}" type="sibTrans" cxnId="{FD11B7BB-8DEB-4035-9191-7A84A59A2CA0}">
      <dgm:prSet/>
      <dgm:spPr/>
      <dgm:t>
        <a:bodyPr/>
        <a:lstStyle/>
        <a:p>
          <a:endParaRPr lang="en-US"/>
        </a:p>
      </dgm:t>
    </dgm:pt>
    <dgm:pt modelId="{33C94315-B1E7-435D-884E-D523029297FD}" type="pres">
      <dgm:prSet presAssocID="{41B52462-7744-4F84-93B6-43AF85AB2440}" presName="root" presStyleCnt="0">
        <dgm:presLayoutVars>
          <dgm:dir/>
          <dgm:resizeHandles val="exact"/>
        </dgm:presLayoutVars>
      </dgm:prSet>
      <dgm:spPr/>
    </dgm:pt>
    <dgm:pt modelId="{BE17A7A4-2EA8-4466-AFB5-262D74A8C7DA}" type="pres">
      <dgm:prSet presAssocID="{FD966C6F-8E6F-4C70-8CCA-A983AD69673C}" presName="compNode" presStyleCnt="0"/>
      <dgm:spPr/>
    </dgm:pt>
    <dgm:pt modelId="{66C95B0B-878B-4398-B77E-AE430147D0C8}" type="pres">
      <dgm:prSet presAssocID="{FD966C6F-8E6F-4C70-8CCA-A983AD69673C}" presName="bgRect" presStyleLbl="bgShp" presStyleIdx="0" presStyleCnt="2" custLinFactNeighborX="312" custLinFactNeighborY="457"/>
      <dgm:spPr/>
    </dgm:pt>
    <dgm:pt modelId="{E2A46937-622E-446F-8F5A-CEAEA5EC9924}" type="pres">
      <dgm:prSet presAssocID="{FD966C6F-8E6F-4C70-8CCA-A983AD69673C}" presName="iconRect" presStyleLbl="node1" presStyleIdx="0" presStyleCnt="2"/>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Hierarchy with solid fill"/>
        </a:ext>
      </dgm:extLst>
    </dgm:pt>
    <dgm:pt modelId="{ED16A2CD-90D6-4073-A95D-6DACC16013F6}" type="pres">
      <dgm:prSet presAssocID="{FD966C6F-8E6F-4C70-8CCA-A983AD69673C}" presName="spaceRect" presStyleCnt="0"/>
      <dgm:spPr/>
    </dgm:pt>
    <dgm:pt modelId="{5DFAF402-00EE-49C3-9A05-3E14F162251A}" type="pres">
      <dgm:prSet presAssocID="{FD966C6F-8E6F-4C70-8CCA-A983AD69673C}" presName="parTx" presStyleLbl="revTx" presStyleIdx="0" presStyleCnt="3">
        <dgm:presLayoutVars>
          <dgm:chMax val="0"/>
          <dgm:chPref val="0"/>
        </dgm:presLayoutVars>
      </dgm:prSet>
      <dgm:spPr/>
    </dgm:pt>
    <dgm:pt modelId="{6ED59514-22AB-42FF-9ED4-472590FD111A}" type="pres">
      <dgm:prSet presAssocID="{FD966C6F-8E6F-4C70-8CCA-A983AD69673C}" presName="desTx" presStyleLbl="revTx" presStyleIdx="1" presStyleCnt="3">
        <dgm:presLayoutVars/>
      </dgm:prSet>
      <dgm:spPr/>
    </dgm:pt>
    <dgm:pt modelId="{A098626F-79CB-41D4-8F94-9AD703929B2D}" type="pres">
      <dgm:prSet presAssocID="{87CECAE3-D780-4975-836C-D82F8BC58824}" presName="sibTrans" presStyleCnt="0"/>
      <dgm:spPr/>
    </dgm:pt>
    <dgm:pt modelId="{95C000F0-7D58-4917-A3E2-8668DECEE511}" type="pres">
      <dgm:prSet presAssocID="{9F790997-755C-4391-9A20-BA41FA3095F8}" presName="compNode" presStyleCnt="0"/>
      <dgm:spPr/>
    </dgm:pt>
    <dgm:pt modelId="{F3055E11-0D4B-4562-AC71-E21E055C5F59}" type="pres">
      <dgm:prSet presAssocID="{9F790997-755C-4391-9A20-BA41FA3095F8}" presName="bgRect" presStyleLbl="bgShp" presStyleIdx="1" presStyleCnt="2"/>
      <dgm:spPr/>
    </dgm:pt>
    <dgm:pt modelId="{978C8BBC-8EC7-4691-A656-946AB066A629}" type="pres">
      <dgm:prSet presAssocID="{9F790997-755C-4391-9A20-BA41FA3095F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63C5F7DE-9C37-415A-B164-3AE342F26970}" type="pres">
      <dgm:prSet presAssocID="{9F790997-755C-4391-9A20-BA41FA3095F8}" presName="spaceRect" presStyleCnt="0"/>
      <dgm:spPr/>
    </dgm:pt>
    <dgm:pt modelId="{ABE59612-AF61-44A1-81E9-7C0F9EB2DEFD}" type="pres">
      <dgm:prSet presAssocID="{9F790997-755C-4391-9A20-BA41FA3095F8}" presName="parTx" presStyleLbl="revTx" presStyleIdx="2" presStyleCnt="3">
        <dgm:presLayoutVars>
          <dgm:chMax val="0"/>
          <dgm:chPref val="0"/>
        </dgm:presLayoutVars>
      </dgm:prSet>
      <dgm:spPr/>
    </dgm:pt>
  </dgm:ptLst>
  <dgm:cxnLst>
    <dgm:cxn modelId="{1F2D4E1A-B0D9-4064-81E4-0AC45AC35ACA}" srcId="{41B52462-7744-4F84-93B6-43AF85AB2440}" destId="{FD966C6F-8E6F-4C70-8CCA-A983AD69673C}" srcOrd="0" destOrd="0" parTransId="{A047DD6C-5300-4675-8C2A-E86EF7828BA5}" sibTransId="{87CECAE3-D780-4975-836C-D82F8BC58824}"/>
    <dgm:cxn modelId="{AD082C35-CD4A-4EF0-B99F-9F66FAF19530}" type="presOf" srcId="{FAC9D07C-53D3-4AEA-9C96-1046D148B7E8}" destId="{6ED59514-22AB-42FF-9ED4-472590FD111A}" srcOrd="0" destOrd="0" presId="urn:microsoft.com/office/officeart/2018/2/layout/IconVerticalSolidList"/>
    <dgm:cxn modelId="{2619C144-47D0-4CC4-A2CC-2FBE609C3CE3}" type="presOf" srcId="{9F790997-755C-4391-9A20-BA41FA3095F8}" destId="{ABE59612-AF61-44A1-81E9-7C0F9EB2DEFD}" srcOrd="0" destOrd="0" presId="urn:microsoft.com/office/officeart/2018/2/layout/IconVerticalSolidList"/>
    <dgm:cxn modelId="{8BAE1269-B3DF-4530-837D-0FEAF05013AF}" srcId="{41B52462-7744-4F84-93B6-43AF85AB2440}" destId="{9F790997-755C-4391-9A20-BA41FA3095F8}" srcOrd="1" destOrd="0" parTransId="{1497A5B7-19B3-43ED-A3CC-29BF8409FF5E}" sibTransId="{C4B1A83E-25F8-4E70-9D8B-5B1E85077B27}"/>
    <dgm:cxn modelId="{A8F61855-D6E5-4402-9E32-E966C289983B}" type="presOf" srcId="{41B52462-7744-4F84-93B6-43AF85AB2440}" destId="{33C94315-B1E7-435D-884E-D523029297FD}" srcOrd="0" destOrd="0" presId="urn:microsoft.com/office/officeart/2018/2/layout/IconVerticalSolidList"/>
    <dgm:cxn modelId="{75A8C558-DA7E-477C-AC91-D476C3745CB8}" type="presOf" srcId="{FD966C6F-8E6F-4C70-8CCA-A983AD69673C}" destId="{5DFAF402-00EE-49C3-9A05-3E14F162251A}" srcOrd="0" destOrd="0" presId="urn:microsoft.com/office/officeart/2018/2/layout/IconVerticalSolidList"/>
    <dgm:cxn modelId="{FD11B7BB-8DEB-4035-9191-7A84A59A2CA0}" srcId="{FD966C6F-8E6F-4C70-8CCA-A983AD69673C}" destId="{FAC9D07C-53D3-4AEA-9C96-1046D148B7E8}" srcOrd="0" destOrd="0" parTransId="{EAB323F7-4F07-4701-B3C9-43BB367723AD}" sibTransId="{98429E66-5FE4-44C5-9DF4-78E3A9FE8375}"/>
    <dgm:cxn modelId="{32E0A5D6-8202-4242-934C-98EF2037BB1B}" type="presParOf" srcId="{33C94315-B1E7-435D-884E-D523029297FD}" destId="{BE17A7A4-2EA8-4466-AFB5-262D74A8C7DA}" srcOrd="0" destOrd="0" presId="urn:microsoft.com/office/officeart/2018/2/layout/IconVerticalSolidList"/>
    <dgm:cxn modelId="{6531537D-5A23-46F4-8B7C-387D3C69A49A}" type="presParOf" srcId="{BE17A7A4-2EA8-4466-AFB5-262D74A8C7DA}" destId="{66C95B0B-878B-4398-B77E-AE430147D0C8}" srcOrd="0" destOrd="0" presId="urn:microsoft.com/office/officeart/2018/2/layout/IconVerticalSolidList"/>
    <dgm:cxn modelId="{21716B51-8A92-40A0-B670-5B0C557A54F7}" type="presParOf" srcId="{BE17A7A4-2EA8-4466-AFB5-262D74A8C7DA}" destId="{E2A46937-622E-446F-8F5A-CEAEA5EC9924}" srcOrd="1" destOrd="0" presId="urn:microsoft.com/office/officeart/2018/2/layout/IconVerticalSolidList"/>
    <dgm:cxn modelId="{C77A1074-1B73-4E7C-855E-2395B2A56A2F}" type="presParOf" srcId="{BE17A7A4-2EA8-4466-AFB5-262D74A8C7DA}" destId="{ED16A2CD-90D6-4073-A95D-6DACC16013F6}" srcOrd="2" destOrd="0" presId="urn:microsoft.com/office/officeart/2018/2/layout/IconVerticalSolidList"/>
    <dgm:cxn modelId="{D3904A36-2BCA-4FA0-94B2-828B99C94D40}" type="presParOf" srcId="{BE17A7A4-2EA8-4466-AFB5-262D74A8C7DA}" destId="{5DFAF402-00EE-49C3-9A05-3E14F162251A}" srcOrd="3" destOrd="0" presId="urn:microsoft.com/office/officeart/2018/2/layout/IconVerticalSolidList"/>
    <dgm:cxn modelId="{6C0E4091-DCEE-4769-888A-A51305F91524}" type="presParOf" srcId="{BE17A7A4-2EA8-4466-AFB5-262D74A8C7DA}" destId="{6ED59514-22AB-42FF-9ED4-472590FD111A}" srcOrd="4" destOrd="0" presId="urn:microsoft.com/office/officeart/2018/2/layout/IconVerticalSolidList"/>
    <dgm:cxn modelId="{1D54925F-011F-48C6-BEF9-EA599770CBAD}" type="presParOf" srcId="{33C94315-B1E7-435D-884E-D523029297FD}" destId="{A098626F-79CB-41D4-8F94-9AD703929B2D}" srcOrd="1" destOrd="0" presId="urn:microsoft.com/office/officeart/2018/2/layout/IconVerticalSolidList"/>
    <dgm:cxn modelId="{9CEF3571-109D-46A8-844E-73B9171F76BB}" type="presParOf" srcId="{33C94315-B1E7-435D-884E-D523029297FD}" destId="{95C000F0-7D58-4917-A3E2-8668DECEE511}" srcOrd="2" destOrd="0" presId="urn:microsoft.com/office/officeart/2018/2/layout/IconVerticalSolidList"/>
    <dgm:cxn modelId="{41BBA766-F155-4898-A517-0EFD5FDDA806}" type="presParOf" srcId="{95C000F0-7D58-4917-A3E2-8668DECEE511}" destId="{F3055E11-0D4B-4562-AC71-E21E055C5F59}" srcOrd="0" destOrd="0" presId="urn:microsoft.com/office/officeart/2018/2/layout/IconVerticalSolidList"/>
    <dgm:cxn modelId="{9C4365D6-14A5-46CF-95FF-33CB6AF30006}" type="presParOf" srcId="{95C000F0-7D58-4917-A3E2-8668DECEE511}" destId="{978C8BBC-8EC7-4691-A656-946AB066A629}" srcOrd="1" destOrd="0" presId="urn:microsoft.com/office/officeart/2018/2/layout/IconVerticalSolidList"/>
    <dgm:cxn modelId="{4CCA254D-8BAD-4B3D-83DF-AE26F374F58B}" type="presParOf" srcId="{95C000F0-7D58-4917-A3E2-8668DECEE511}" destId="{63C5F7DE-9C37-415A-B164-3AE342F26970}" srcOrd="2" destOrd="0" presId="urn:microsoft.com/office/officeart/2018/2/layout/IconVerticalSolidList"/>
    <dgm:cxn modelId="{8287E381-F57B-4CBB-AB68-AFDAE2721D11}" type="presParOf" srcId="{95C000F0-7D58-4917-A3E2-8668DECEE511}" destId="{ABE59612-AF61-44A1-81E9-7C0F9EB2DEF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C95B0B-878B-4398-B77E-AE430147D0C8}">
      <dsp:nvSpPr>
        <dsp:cNvPr id="0" name=""/>
        <dsp:cNvSpPr/>
      </dsp:nvSpPr>
      <dsp:spPr>
        <a:xfrm>
          <a:off x="0" y="462245"/>
          <a:ext cx="6949440" cy="222423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2A46937-622E-446F-8F5A-CEAEA5EC9924}">
      <dsp:nvSpPr>
        <dsp:cNvPr id="0" name=""/>
        <dsp:cNvSpPr/>
      </dsp:nvSpPr>
      <dsp:spPr>
        <a:xfrm>
          <a:off x="672832" y="952534"/>
          <a:ext cx="1223331" cy="1223331"/>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DFAF402-00EE-49C3-9A05-3E14F162251A}">
      <dsp:nvSpPr>
        <dsp:cNvPr id="0" name=""/>
        <dsp:cNvSpPr/>
      </dsp:nvSpPr>
      <dsp:spPr>
        <a:xfrm>
          <a:off x="2568995" y="452081"/>
          <a:ext cx="3127248" cy="22242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399" tIns="235399" rIns="235399" bIns="235399" numCol="1" spcCol="1270" anchor="ctr" anchorCtr="0">
          <a:noAutofit/>
        </a:bodyPr>
        <a:lstStyle/>
        <a:p>
          <a:pPr marL="0" lvl="0" indent="0" algn="l" defTabSz="622300">
            <a:lnSpc>
              <a:spcPct val="100000"/>
            </a:lnSpc>
            <a:spcBef>
              <a:spcPct val="0"/>
            </a:spcBef>
            <a:spcAft>
              <a:spcPct val="35000"/>
            </a:spcAft>
            <a:buNone/>
          </a:pPr>
          <a:r>
            <a:rPr lang="en-US" sz="1400" b="1" kern="1200" dirty="0"/>
            <a:t>Concurrency</a:t>
          </a:r>
          <a:r>
            <a:rPr lang="en-US" sz="1400" kern="1200" dirty="0"/>
            <a:t> : is a condition of a system in which multiple tasks are logically active at one time [ they may not happen at the same time but at least they can, you have multiple things active and able to make progress at the same time ]</a:t>
          </a:r>
        </a:p>
      </dsp:txBody>
      <dsp:txXfrm>
        <a:off x="2568995" y="452081"/>
        <a:ext cx="3127248" cy="2224238"/>
      </dsp:txXfrm>
    </dsp:sp>
    <dsp:sp modelId="{6ED59514-22AB-42FF-9ED4-472590FD111A}">
      <dsp:nvSpPr>
        <dsp:cNvPr id="0" name=""/>
        <dsp:cNvSpPr/>
      </dsp:nvSpPr>
      <dsp:spPr>
        <a:xfrm>
          <a:off x="5696243" y="452081"/>
          <a:ext cx="1253196" cy="22242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399" tIns="235399" rIns="235399" bIns="235399" numCol="1" spcCol="1270" anchor="ctr" anchorCtr="0">
          <a:noAutofit/>
        </a:bodyPr>
        <a:lstStyle/>
        <a:p>
          <a:pPr marL="0" lvl="0" indent="0" algn="l" defTabSz="488950">
            <a:lnSpc>
              <a:spcPct val="100000"/>
            </a:lnSpc>
            <a:spcBef>
              <a:spcPct val="0"/>
            </a:spcBef>
            <a:spcAft>
              <a:spcPct val="35000"/>
            </a:spcAft>
            <a:buNone/>
          </a:pPr>
          <a:endParaRPr lang="en-US" sz="1100" kern="1200" dirty="0"/>
        </a:p>
      </dsp:txBody>
      <dsp:txXfrm>
        <a:off x="5696243" y="452081"/>
        <a:ext cx="1253196" cy="2224238"/>
      </dsp:txXfrm>
    </dsp:sp>
    <dsp:sp modelId="{F3055E11-0D4B-4562-AC71-E21E055C5F59}">
      <dsp:nvSpPr>
        <dsp:cNvPr id="0" name=""/>
        <dsp:cNvSpPr/>
      </dsp:nvSpPr>
      <dsp:spPr>
        <a:xfrm>
          <a:off x="0" y="3110317"/>
          <a:ext cx="6949440" cy="222423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8C8BBC-8EC7-4691-A656-946AB066A629}">
      <dsp:nvSpPr>
        <dsp:cNvPr id="0" name=""/>
        <dsp:cNvSpPr/>
      </dsp:nvSpPr>
      <dsp:spPr>
        <a:xfrm>
          <a:off x="672832" y="3610771"/>
          <a:ext cx="1223331" cy="122333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BE59612-AF61-44A1-81E9-7C0F9EB2DEFD}">
      <dsp:nvSpPr>
        <dsp:cNvPr id="0" name=""/>
        <dsp:cNvSpPr/>
      </dsp:nvSpPr>
      <dsp:spPr>
        <a:xfrm>
          <a:off x="2568995" y="3110317"/>
          <a:ext cx="4380444" cy="22242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399" tIns="235399" rIns="235399" bIns="235399" numCol="1" spcCol="1270" anchor="ctr" anchorCtr="0">
          <a:noAutofit/>
        </a:bodyPr>
        <a:lstStyle/>
        <a:p>
          <a:pPr marL="0" lvl="0" indent="0" algn="l" defTabSz="622300">
            <a:lnSpc>
              <a:spcPct val="100000"/>
            </a:lnSpc>
            <a:spcBef>
              <a:spcPct val="0"/>
            </a:spcBef>
            <a:spcAft>
              <a:spcPct val="35000"/>
            </a:spcAft>
            <a:buNone/>
          </a:pPr>
          <a:r>
            <a:rPr lang="en-US" sz="1400" b="1" kern="1200" dirty="0"/>
            <a:t>Parallelism</a:t>
          </a:r>
          <a:r>
            <a:rPr lang="en-US" sz="1400" kern="1200" dirty="0"/>
            <a:t> : is a condition of a system in which multiple tasks are actually active at one time [is a subset of concurrency = you’re taking some of that concurrency and executing it at the same time]</a:t>
          </a:r>
        </a:p>
      </dsp:txBody>
      <dsp:txXfrm>
        <a:off x="2568995" y="3110317"/>
        <a:ext cx="4380444" cy="222423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A22530-92FE-4C3F-9B3B-BCC6CE1117E9}" type="datetimeFigureOut">
              <a:rPr lang="en-US" smtClean="0"/>
              <a:t>2/23/2026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08E562-24ED-41D7-AEB8-880B26994F1F}" type="slidenum">
              <a:rPr lang="en-US" smtClean="0"/>
              <a:t>‹#›</a:t>
            </a:fld>
            <a:endParaRPr lang="en-US"/>
          </a:p>
        </p:txBody>
      </p:sp>
    </p:spTree>
    <p:extLst>
      <p:ext uri="{BB962C8B-B14F-4D97-AF65-F5344CB8AC3E}">
        <p14:creationId xmlns:p14="http://schemas.microsoft.com/office/powerpoint/2010/main" val="21881701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08E562-24ED-41D7-AEB8-880B26994F1F}" type="slidenum">
              <a:rPr lang="en-US" smtClean="0"/>
              <a:t>12</a:t>
            </a:fld>
            <a:endParaRPr lang="en-US"/>
          </a:p>
        </p:txBody>
      </p:sp>
    </p:spTree>
    <p:extLst>
      <p:ext uri="{BB962C8B-B14F-4D97-AF65-F5344CB8AC3E}">
        <p14:creationId xmlns:p14="http://schemas.microsoft.com/office/powerpoint/2010/main" val="8645458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2/23/2026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900848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2/23/2026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684227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2/23/2026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61099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2/23/2026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320600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2/23/2026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34098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2/23/2026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31459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2/23/2026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40296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2/23/2026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360173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2/23/2026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61851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2/23/2026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69039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2/23/2026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01921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171C2">
            <a:alpha val="8000"/>
          </a:srgb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2/23/2026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859073491"/>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E448DB1-4196-18A6-15DA-C72635C1B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4" name="Picture 3">
            <a:extLst>
              <a:ext uri="{FF2B5EF4-FFF2-40B4-BE49-F238E27FC236}">
                <a16:creationId xmlns:a16="http://schemas.microsoft.com/office/drawing/2014/main" id="{583447EF-0A89-8D11-D654-A72B4E49FCBC}"/>
              </a:ext>
            </a:extLst>
          </p:cNvPr>
          <p:cNvPicPr>
            <a:picLocks noChangeAspect="1"/>
          </p:cNvPicPr>
          <p:nvPr/>
        </p:nvPicPr>
        <p:blipFill>
          <a:blip r:embed="rId2">
            <a:extLst>
              <a:ext uri="{28A0092B-C50C-407E-A947-70E740481C1C}">
                <a14:useLocalDpi xmlns:a14="http://schemas.microsoft.com/office/drawing/2010/main" val="0"/>
              </a:ext>
            </a:extLst>
          </a:blip>
          <a:srcRect t="12500" b="12500"/>
          <a:stretch>
            <a:fillRect/>
          </a:stretch>
        </p:blipFill>
        <p:spPr>
          <a:xfrm>
            <a:off x="20" y="10"/>
            <a:ext cx="12191980" cy="6857990"/>
          </a:xfrm>
          <a:prstGeom prst="rect">
            <a:avLst/>
          </a:prstGeom>
        </p:spPr>
      </p:pic>
      <p:sp>
        <p:nvSpPr>
          <p:cNvPr id="18" name="Rectangle 17">
            <a:extLst>
              <a:ext uri="{FF2B5EF4-FFF2-40B4-BE49-F238E27FC236}">
                <a16:creationId xmlns:a16="http://schemas.microsoft.com/office/drawing/2014/main" id="{DF15DF8A-891A-1965-E372-1BA1F3B945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507179" y="173179"/>
            <a:ext cx="6858002" cy="6511640"/>
          </a:xfrm>
          <a:prstGeom prst="rect">
            <a:avLst/>
          </a:prstGeom>
          <a:gradFill>
            <a:gsLst>
              <a:gs pos="0">
                <a:schemeClr val="bg1">
                  <a:alpha val="0"/>
                </a:schemeClr>
              </a:gs>
              <a:gs pos="46000">
                <a:schemeClr val="bg1">
                  <a:alpha val="33000"/>
                </a:schemeClr>
              </a:gs>
              <a:gs pos="26000">
                <a:schemeClr val="bg1">
                  <a:alpha val="20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79929D53-5DEF-676E-7A33-156FB769F7F9}"/>
              </a:ext>
            </a:extLst>
          </p:cNvPr>
          <p:cNvSpPr>
            <a:spLocks noGrp="1"/>
          </p:cNvSpPr>
          <p:nvPr>
            <p:ph type="ctrTitle"/>
          </p:nvPr>
        </p:nvSpPr>
        <p:spPr>
          <a:xfrm>
            <a:off x="7473219" y="898373"/>
            <a:ext cx="4470544" cy="3474720"/>
          </a:xfrm>
        </p:spPr>
        <p:txBody>
          <a:bodyPr anchor="b">
            <a:normAutofit/>
          </a:bodyPr>
          <a:lstStyle/>
          <a:p>
            <a:pPr algn="l"/>
            <a:r>
              <a:rPr lang="en-US" sz="5800"/>
              <a:t>Parallel</a:t>
            </a:r>
            <a:br>
              <a:rPr lang="en-US" sz="5800"/>
            </a:br>
            <a:r>
              <a:rPr lang="en-US" sz="5800"/>
              <a:t>computing</a:t>
            </a:r>
            <a:endParaRPr lang="en-US" sz="5800" dirty="0"/>
          </a:p>
        </p:txBody>
      </p:sp>
      <p:sp>
        <p:nvSpPr>
          <p:cNvPr id="3" name="Subtitle 2">
            <a:extLst>
              <a:ext uri="{FF2B5EF4-FFF2-40B4-BE49-F238E27FC236}">
                <a16:creationId xmlns:a16="http://schemas.microsoft.com/office/drawing/2014/main" id="{30B473AC-FAE5-08F1-B10B-0BB328814639}"/>
              </a:ext>
            </a:extLst>
          </p:cNvPr>
          <p:cNvSpPr>
            <a:spLocks noGrp="1"/>
          </p:cNvSpPr>
          <p:nvPr>
            <p:ph type="subTitle" idx="1"/>
          </p:nvPr>
        </p:nvSpPr>
        <p:spPr>
          <a:xfrm>
            <a:off x="7482646" y="4495013"/>
            <a:ext cx="4116410" cy="1386840"/>
          </a:xfrm>
        </p:spPr>
        <p:txBody>
          <a:bodyPr anchor="t">
            <a:normAutofit/>
          </a:bodyPr>
          <a:lstStyle/>
          <a:p>
            <a:pPr algn="l"/>
            <a:r>
              <a:rPr lang="en-US" sz="2200"/>
              <a:t>Sec.1</a:t>
            </a:r>
          </a:p>
          <a:p>
            <a:pPr algn="l"/>
            <a:r>
              <a:rPr lang="en-US" sz="2200"/>
              <a:t>Eng/ Mariam Malak</a:t>
            </a:r>
            <a:endParaRPr lang="en-US" sz="2200" dirty="0"/>
          </a:p>
        </p:txBody>
      </p:sp>
    </p:spTree>
    <p:extLst>
      <p:ext uri="{BB962C8B-B14F-4D97-AF65-F5344CB8AC3E}">
        <p14:creationId xmlns:p14="http://schemas.microsoft.com/office/powerpoint/2010/main" val="177730384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8207B083-EAC0-A5BB-C369-C9589EC7F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E4C32F-35C7-D402-230C-610326F3710C}"/>
              </a:ext>
            </a:extLst>
          </p:cNvPr>
          <p:cNvSpPr>
            <a:spLocks noGrp="1"/>
          </p:cNvSpPr>
          <p:nvPr>
            <p:ph type="title"/>
          </p:nvPr>
        </p:nvSpPr>
        <p:spPr>
          <a:xfrm>
            <a:off x="614677" y="603504"/>
            <a:ext cx="10872216" cy="1527048"/>
          </a:xfrm>
        </p:spPr>
        <p:txBody>
          <a:bodyPr anchor="b">
            <a:normAutofit/>
          </a:bodyPr>
          <a:lstStyle/>
          <a:p>
            <a:r>
              <a:rPr lang="en-US" sz="3200" dirty="0"/>
              <a:t>Moore’s law</a:t>
            </a:r>
            <a:br>
              <a:rPr lang="en-US" sz="2500" dirty="0"/>
            </a:br>
            <a:r>
              <a:rPr lang="en-US" sz="2500" dirty="0"/>
              <a:t> </a:t>
            </a:r>
            <a:r>
              <a:rPr lang="en-US" sz="2500" b="0" dirty="0"/>
              <a:t>the number of transistors on a chip roughly doubles every two years, driving exponential growth in computing power and efficiency.</a:t>
            </a:r>
          </a:p>
        </p:txBody>
      </p:sp>
      <p:pic>
        <p:nvPicPr>
          <p:cNvPr id="5" name="Picture 4">
            <a:extLst>
              <a:ext uri="{FF2B5EF4-FFF2-40B4-BE49-F238E27FC236}">
                <a16:creationId xmlns:a16="http://schemas.microsoft.com/office/drawing/2014/main" id="{94544ABE-C622-D474-3C3A-7C11AFD7A869}"/>
              </a:ext>
            </a:extLst>
          </p:cNvPr>
          <p:cNvPicPr>
            <a:picLocks noChangeAspect="1"/>
          </p:cNvPicPr>
          <p:nvPr/>
        </p:nvPicPr>
        <p:blipFill>
          <a:blip r:embed="rId2">
            <a:extLst>
              <a:ext uri="{28A0092B-C50C-407E-A947-70E740481C1C}">
                <a14:useLocalDpi xmlns:a14="http://schemas.microsoft.com/office/drawing/2010/main" val="0"/>
              </a:ext>
            </a:extLst>
          </a:blip>
          <a:srcRect l="2665" t="18595" r="2915" b="8076"/>
          <a:stretch>
            <a:fillRect/>
          </a:stretch>
        </p:blipFill>
        <p:spPr>
          <a:xfrm>
            <a:off x="614678" y="2441274"/>
            <a:ext cx="5173647" cy="2675150"/>
          </a:xfrm>
          <a:prstGeom prst="rect">
            <a:avLst/>
          </a:prstGeom>
        </p:spPr>
      </p:pic>
      <p:sp>
        <p:nvSpPr>
          <p:cNvPr id="3" name="Content Placeholder 2">
            <a:extLst>
              <a:ext uri="{FF2B5EF4-FFF2-40B4-BE49-F238E27FC236}">
                <a16:creationId xmlns:a16="http://schemas.microsoft.com/office/drawing/2014/main" id="{22A2BA28-28A7-BCFA-3F4D-51EEE3CC73DE}"/>
              </a:ext>
            </a:extLst>
          </p:cNvPr>
          <p:cNvSpPr>
            <a:spLocks noGrp="1"/>
          </p:cNvSpPr>
          <p:nvPr>
            <p:ph idx="1"/>
          </p:nvPr>
        </p:nvSpPr>
        <p:spPr>
          <a:xfrm>
            <a:off x="6096000" y="2441273"/>
            <a:ext cx="5385816" cy="3817942"/>
          </a:xfrm>
        </p:spPr>
        <p:txBody>
          <a:bodyPr anchor="t">
            <a:normAutofit fontScale="92500" lnSpcReduction="20000"/>
          </a:bodyPr>
          <a:lstStyle/>
          <a:p>
            <a:pPr>
              <a:lnSpc>
                <a:spcPct val="110000"/>
              </a:lnSpc>
            </a:pPr>
            <a:r>
              <a:rPr lang="en-US" sz="1800" dirty="0"/>
              <a:t>Moore's Law is an empirical observation made by Gordon Moore, co-founder of Intel, in 1965. He noted that the number of transistors on an integrated circuit (IC) had been doubling approximately every year and projected that this trend would continue for at least a decade. In 1975, Moore revised his prediction to a doubling every two years, which corresponds to a compound annual growth rate of about 41%. Importantly, Moore's Law is not a physical law but a trend based on historical data and industry experience.</a:t>
            </a:r>
          </a:p>
          <a:p>
            <a:pPr>
              <a:lnSpc>
                <a:spcPct val="110000"/>
              </a:lnSpc>
            </a:pPr>
            <a:r>
              <a:rPr lang="en-US" sz="1800" dirty="0"/>
              <a:t>This what happened over years thinking about performance would come from hardware despite the software. </a:t>
            </a:r>
          </a:p>
        </p:txBody>
      </p:sp>
    </p:spTree>
    <p:extLst>
      <p:ext uri="{BB962C8B-B14F-4D97-AF65-F5344CB8AC3E}">
        <p14:creationId xmlns:p14="http://schemas.microsoft.com/office/powerpoint/2010/main" val="21773007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BADE8-01B9-549E-9040-921B979E89FD}"/>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B2D31FA-4D73-BEA9-CCF9-C8EDB1EDBB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26284F-10C0-EA42-DBDA-BE54BF4F81C3}"/>
              </a:ext>
            </a:extLst>
          </p:cNvPr>
          <p:cNvSpPr>
            <a:spLocks noGrp="1"/>
          </p:cNvSpPr>
          <p:nvPr>
            <p:ph type="title"/>
          </p:nvPr>
        </p:nvSpPr>
        <p:spPr>
          <a:xfrm>
            <a:off x="659892" y="227584"/>
            <a:ext cx="10872216" cy="890016"/>
          </a:xfrm>
        </p:spPr>
        <p:txBody>
          <a:bodyPr anchor="b">
            <a:normAutofit/>
          </a:bodyPr>
          <a:lstStyle/>
          <a:p>
            <a:r>
              <a:rPr lang="en-US" sz="3200" dirty="0"/>
              <a:t>Performance vs Power in Moore’s law</a:t>
            </a:r>
            <a:br>
              <a:rPr lang="en-US" sz="2500" dirty="0"/>
            </a:br>
            <a:r>
              <a:rPr lang="en-US" sz="2500" dirty="0"/>
              <a:t> </a:t>
            </a:r>
            <a:r>
              <a:rPr lang="en-US" sz="2500" b="0" dirty="0"/>
              <a:t>Ed-</a:t>
            </a:r>
            <a:r>
              <a:rPr lang="en-US" sz="2500" b="0" dirty="0" err="1"/>
              <a:t>grchowski</a:t>
            </a:r>
            <a:r>
              <a:rPr lang="en-US" sz="2500" b="0" dirty="0"/>
              <a:t> research</a:t>
            </a:r>
          </a:p>
        </p:txBody>
      </p:sp>
      <p:pic>
        <p:nvPicPr>
          <p:cNvPr id="5" name="Picture 4">
            <a:extLst>
              <a:ext uri="{FF2B5EF4-FFF2-40B4-BE49-F238E27FC236}">
                <a16:creationId xmlns:a16="http://schemas.microsoft.com/office/drawing/2014/main" id="{3BA058A5-C7F1-ADFE-41A7-A0B3A9A13957}"/>
              </a:ext>
            </a:extLst>
          </p:cNvPr>
          <p:cNvPicPr>
            <a:picLocks noChangeAspect="1"/>
          </p:cNvPicPr>
          <p:nvPr/>
        </p:nvPicPr>
        <p:blipFill>
          <a:blip r:embed="rId2">
            <a:extLst>
              <a:ext uri="{28A0092B-C50C-407E-A947-70E740481C1C}">
                <a14:useLocalDpi xmlns:a14="http://schemas.microsoft.com/office/drawing/2010/main" val="0"/>
              </a:ext>
            </a:extLst>
          </a:blip>
          <a:srcRect l="9132" t="4038" r="18012" b="14715"/>
          <a:stretch>
            <a:fillRect/>
          </a:stretch>
        </p:blipFill>
        <p:spPr>
          <a:xfrm>
            <a:off x="264160" y="1345184"/>
            <a:ext cx="5385816" cy="4049776"/>
          </a:xfrm>
          <a:prstGeom prst="rect">
            <a:avLst/>
          </a:prstGeom>
        </p:spPr>
      </p:pic>
      <p:sp>
        <p:nvSpPr>
          <p:cNvPr id="3" name="Content Placeholder 2">
            <a:extLst>
              <a:ext uri="{FF2B5EF4-FFF2-40B4-BE49-F238E27FC236}">
                <a16:creationId xmlns:a16="http://schemas.microsoft.com/office/drawing/2014/main" id="{F19AB280-03CE-39D1-B20D-742479105B3D}"/>
              </a:ext>
            </a:extLst>
          </p:cNvPr>
          <p:cNvSpPr>
            <a:spLocks noGrp="1"/>
          </p:cNvSpPr>
          <p:nvPr>
            <p:ph idx="1"/>
          </p:nvPr>
        </p:nvSpPr>
        <p:spPr>
          <a:xfrm>
            <a:off x="6096000" y="975360"/>
            <a:ext cx="5385816" cy="5283855"/>
          </a:xfrm>
        </p:spPr>
        <p:txBody>
          <a:bodyPr anchor="t">
            <a:normAutofit/>
          </a:bodyPr>
          <a:lstStyle/>
          <a:p>
            <a:pPr>
              <a:lnSpc>
                <a:spcPct val="110000"/>
              </a:lnSpc>
            </a:pPr>
            <a:r>
              <a:rPr lang="en-US" sz="1800" dirty="0"/>
              <a:t>According to </a:t>
            </a:r>
            <a:r>
              <a:rPr lang="en-US" sz="1800" dirty="0" err="1"/>
              <a:t>moore’s</a:t>
            </a:r>
            <a:r>
              <a:rPr lang="en-US" sz="1800" dirty="0"/>
              <a:t> low, we need more power to make transistors work with great performance.</a:t>
            </a:r>
          </a:p>
          <a:p>
            <a:pPr>
              <a:lnSpc>
                <a:spcPct val="110000"/>
              </a:lnSpc>
            </a:pPr>
            <a:r>
              <a:rPr lang="en-US" sz="1800" dirty="0"/>
              <a:t>Ed-</a:t>
            </a:r>
            <a:r>
              <a:rPr lang="en-US" sz="1800" dirty="0" err="1"/>
              <a:t>grchowski</a:t>
            </a:r>
            <a:r>
              <a:rPr lang="en-US" sz="1800" dirty="0"/>
              <a:t> proved that increasing in performance leads to </a:t>
            </a:r>
            <a:r>
              <a:rPr lang="en-US" sz="1800" dirty="0" err="1"/>
              <a:t>quadritic</a:t>
            </a:r>
            <a:r>
              <a:rPr lang="en-US" sz="1800" dirty="0"/>
              <a:t> increasing in power needed.</a:t>
            </a:r>
          </a:p>
          <a:p>
            <a:pPr marL="0" indent="0" algn="ctr">
              <a:lnSpc>
                <a:spcPct val="110000"/>
              </a:lnSpc>
              <a:buNone/>
            </a:pPr>
            <a:r>
              <a:rPr lang="en-US" sz="1800" b="1" dirty="0">
                <a:solidFill>
                  <a:srgbClr val="FF0000"/>
                </a:solidFill>
              </a:rPr>
              <a:t>[power=performance*1.74]</a:t>
            </a:r>
          </a:p>
          <a:p>
            <a:pPr>
              <a:lnSpc>
                <a:spcPct val="110000"/>
              </a:lnSpc>
            </a:pPr>
            <a:r>
              <a:rPr lang="en-US" sz="1800" dirty="0"/>
              <a:t>Growth in power is unsustainable, which means we don’t want power to change or increase on each optimization, so we think in power optimization rather than performance optimization which leads to change in design of computer architecture </a:t>
            </a:r>
          </a:p>
          <a:p>
            <a:pPr>
              <a:lnSpc>
                <a:spcPct val="110000"/>
              </a:lnSpc>
            </a:pPr>
            <a:r>
              <a:rPr lang="en-US" sz="1800" dirty="0"/>
              <a:t>But now, we want to achieve greater performance with less power ??</a:t>
            </a:r>
          </a:p>
        </p:txBody>
      </p:sp>
    </p:spTree>
    <p:extLst>
      <p:ext uri="{BB962C8B-B14F-4D97-AF65-F5344CB8AC3E}">
        <p14:creationId xmlns:p14="http://schemas.microsoft.com/office/powerpoint/2010/main" val="21103295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B2C60-6E75-10CC-A64F-F006520B75F1}"/>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D6CFA30-D744-3B2B-574E-EC0B4928B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94FEF1-337B-7FE1-CD82-732AAD3E58A9}"/>
              </a:ext>
            </a:extLst>
          </p:cNvPr>
          <p:cNvSpPr>
            <a:spLocks noGrp="1"/>
          </p:cNvSpPr>
          <p:nvPr>
            <p:ph type="title"/>
          </p:nvPr>
        </p:nvSpPr>
        <p:spPr>
          <a:xfrm>
            <a:off x="659892" y="69381"/>
            <a:ext cx="10872216" cy="890016"/>
          </a:xfrm>
        </p:spPr>
        <p:txBody>
          <a:bodyPr anchor="b">
            <a:normAutofit/>
          </a:bodyPr>
          <a:lstStyle/>
          <a:p>
            <a:r>
              <a:rPr lang="en-US" sz="3200" dirty="0"/>
              <a:t>Performance vs Power in Moore’s law</a:t>
            </a:r>
            <a:br>
              <a:rPr lang="en-US" sz="2500" dirty="0"/>
            </a:br>
            <a:r>
              <a:rPr lang="en-US" sz="2500" dirty="0"/>
              <a:t> </a:t>
            </a:r>
            <a:r>
              <a:rPr lang="en-US" sz="2500" b="0" dirty="0"/>
              <a:t>Ed-</a:t>
            </a:r>
            <a:r>
              <a:rPr lang="en-US" sz="2500" b="0" dirty="0" err="1"/>
              <a:t>grchowski</a:t>
            </a:r>
            <a:r>
              <a:rPr lang="en-US" sz="2500" b="0" dirty="0"/>
              <a:t> research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3D306DC-899B-27C5-E187-3CAA1439B486}"/>
                  </a:ext>
                </a:extLst>
              </p:cNvPr>
              <p:cNvSpPr>
                <a:spLocks noGrp="1"/>
              </p:cNvSpPr>
              <p:nvPr>
                <p:ph idx="1"/>
              </p:nvPr>
            </p:nvSpPr>
            <p:spPr>
              <a:xfrm>
                <a:off x="2905760" y="842952"/>
                <a:ext cx="5385816" cy="549295"/>
              </a:xfrm>
            </p:spPr>
            <p:txBody>
              <a:bodyPr anchor="t">
                <a:normAutofit fontScale="92500" lnSpcReduction="20000"/>
              </a:bodyPr>
              <a:lstStyle/>
              <a:p>
                <a:pPr marL="0" indent="0" algn="ctr">
                  <a:lnSpc>
                    <a:spcPct val="110000"/>
                  </a:lnSpc>
                  <a:buNone/>
                </a:pPr>
                <a:r>
                  <a:rPr lang="en-US" sz="3200" b="1" dirty="0">
                    <a:solidFill>
                      <a:srgbClr val="FF0000"/>
                    </a:solidFill>
                  </a:rPr>
                  <a:t>P=C</a:t>
                </a:r>
                <a14:m>
                  <m:oMath xmlns:m="http://schemas.openxmlformats.org/officeDocument/2006/math">
                    <m:sSup>
                      <m:sSupPr>
                        <m:ctrlPr>
                          <a:rPr lang="en-US" sz="3200" b="1" i="1" dirty="0" smtClean="0">
                            <a:solidFill>
                              <a:srgbClr val="FF0000"/>
                            </a:solidFill>
                            <a:latin typeface="Cambria Math" panose="02040503050406030204" pitchFamily="18" charset="0"/>
                          </a:rPr>
                        </m:ctrlPr>
                      </m:sSupPr>
                      <m:e>
                        <m:r>
                          <a:rPr lang="en-US" sz="3200" b="1" i="1" dirty="0" smtClean="0">
                            <a:solidFill>
                              <a:srgbClr val="FF0000"/>
                            </a:solidFill>
                            <a:latin typeface="Cambria Math" panose="02040503050406030204" pitchFamily="18" charset="0"/>
                          </a:rPr>
                          <m:t>𝑽</m:t>
                        </m:r>
                      </m:e>
                      <m:sup>
                        <m:r>
                          <a:rPr lang="en-US" sz="3200" b="1" i="1" dirty="0" smtClean="0">
                            <a:solidFill>
                              <a:srgbClr val="FF0000"/>
                            </a:solidFill>
                            <a:latin typeface="Cambria Math" panose="02040503050406030204" pitchFamily="18" charset="0"/>
                          </a:rPr>
                          <m:t>𝟐</m:t>
                        </m:r>
                      </m:sup>
                    </m:sSup>
                  </m:oMath>
                </a14:m>
                <a:r>
                  <a:rPr lang="en-US" sz="3200" b="1" dirty="0">
                    <a:solidFill>
                      <a:srgbClr val="FF0000"/>
                    </a:solidFill>
                  </a:rPr>
                  <a:t>F</a:t>
                </a:r>
              </a:p>
            </p:txBody>
          </p:sp>
        </mc:Choice>
        <mc:Fallback xmlns="">
          <p:sp>
            <p:nvSpPr>
              <p:cNvPr id="3" name="Content Placeholder 2">
                <a:extLst>
                  <a:ext uri="{FF2B5EF4-FFF2-40B4-BE49-F238E27FC236}">
                    <a16:creationId xmlns:a16="http://schemas.microsoft.com/office/drawing/2014/main" id="{F3D306DC-899B-27C5-E187-3CAA1439B486}"/>
                  </a:ext>
                </a:extLst>
              </p:cNvPr>
              <p:cNvSpPr>
                <a:spLocks noGrp="1" noRot="1" noChangeAspect="1" noMove="1" noResize="1" noEditPoints="1" noAdjustHandles="1" noChangeArrowheads="1" noChangeShapeType="1" noTextEdit="1"/>
              </p:cNvSpPr>
              <p:nvPr>
                <p:ph idx="1"/>
              </p:nvPr>
            </p:nvSpPr>
            <p:spPr>
              <a:xfrm>
                <a:off x="2905760" y="842952"/>
                <a:ext cx="5385816" cy="549295"/>
              </a:xfrm>
              <a:blipFill>
                <a:blip r:embed="rId2"/>
                <a:stretch>
                  <a:fillRect t="-20000" b="-28889"/>
                </a:stretch>
              </a:blipFill>
            </p:spPr>
            <p:txBody>
              <a:bodyPr/>
              <a:lstStyle/>
              <a:p>
                <a:r>
                  <a:rPr lang="en-US">
                    <a:noFill/>
                  </a:rPr>
                  <a:t> </a:t>
                </a:r>
              </a:p>
            </p:txBody>
          </p:sp>
        </mc:Fallback>
      </mc:AlternateContent>
      <p:sp>
        <p:nvSpPr>
          <p:cNvPr id="4" name="Content Placeholder 2">
            <a:extLst>
              <a:ext uri="{FF2B5EF4-FFF2-40B4-BE49-F238E27FC236}">
                <a16:creationId xmlns:a16="http://schemas.microsoft.com/office/drawing/2014/main" id="{33DEB7C3-2AB9-C627-CA24-D383C4A51889}"/>
              </a:ext>
            </a:extLst>
          </p:cNvPr>
          <p:cNvSpPr txBox="1">
            <a:spLocks/>
          </p:cNvSpPr>
          <p:nvPr/>
        </p:nvSpPr>
        <p:spPr>
          <a:xfrm>
            <a:off x="3017520" y="1392247"/>
            <a:ext cx="5385816" cy="1453535"/>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en-US" sz="1600" dirty="0"/>
              <a:t>C </a:t>
            </a:r>
            <a:r>
              <a:rPr lang="en-US" sz="1600" dirty="0">
                <a:sym typeface="Wingdings" panose="05000000000000000000" pitchFamily="2" charset="2"/>
              </a:rPr>
              <a:t> capacity = ability of circuit to store energy</a:t>
            </a:r>
          </a:p>
          <a:p>
            <a:pPr>
              <a:lnSpc>
                <a:spcPct val="110000"/>
              </a:lnSpc>
            </a:pPr>
            <a:r>
              <a:rPr lang="en-US" sz="1600" dirty="0">
                <a:sym typeface="Wingdings" panose="05000000000000000000" pitchFamily="2" charset="2"/>
              </a:rPr>
              <a:t>V  voltage</a:t>
            </a:r>
          </a:p>
          <a:p>
            <a:pPr>
              <a:lnSpc>
                <a:spcPct val="110000"/>
              </a:lnSpc>
            </a:pPr>
            <a:r>
              <a:rPr lang="en-US" sz="1600" dirty="0">
                <a:sym typeface="Wingdings" panose="05000000000000000000" pitchFamily="2" charset="2"/>
              </a:rPr>
              <a:t>F  frequency</a:t>
            </a:r>
          </a:p>
          <a:p>
            <a:pPr>
              <a:lnSpc>
                <a:spcPct val="110000"/>
              </a:lnSpc>
            </a:pPr>
            <a:r>
              <a:rPr lang="en-US" sz="1600" dirty="0">
                <a:sym typeface="Wingdings" panose="05000000000000000000" pitchFamily="2" charset="2"/>
              </a:rPr>
              <a:t>P  power = work overtime</a:t>
            </a:r>
            <a:endParaRPr lang="en-US" sz="1600" dirty="0"/>
          </a:p>
        </p:txBody>
      </p:sp>
      <p:pic>
        <p:nvPicPr>
          <p:cNvPr id="7" name="Picture 6">
            <a:extLst>
              <a:ext uri="{FF2B5EF4-FFF2-40B4-BE49-F238E27FC236}">
                <a16:creationId xmlns:a16="http://schemas.microsoft.com/office/drawing/2014/main" id="{0B39C8E3-2E9F-B743-6F18-AF2621C8EB02}"/>
              </a:ext>
            </a:extLst>
          </p:cNvPr>
          <p:cNvPicPr>
            <a:picLocks noChangeAspect="1"/>
          </p:cNvPicPr>
          <p:nvPr/>
        </p:nvPicPr>
        <p:blipFill>
          <a:blip r:embed="rId3"/>
          <a:srcRect l="18302" t="12415" r="20921" b="5562"/>
          <a:stretch>
            <a:fillRect/>
          </a:stretch>
        </p:blipFill>
        <p:spPr>
          <a:xfrm>
            <a:off x="88773" y="2923629"/>
            <a:ext cx="4648200" cy="3501791"/>
          </a:xfrm>
          <a:prstGeom prst="rect">
            <a:avLst/>
          </a:prstGeom>
        </p:spPr>
      </p:pic>
      <p:sp>
        <p:nvSpPr>
          <p:cNvPr id="8" name="Arrow: Right 7">
            <a:extLst>
              <a:ext uri="{FF2B5EF4-FFF2-40B4-BE49-F238E27FC236}">
                <a16:creationId xmlns:a16="http://schemas.microsoft.com/office/drawing/2014/main" id="{EB2B2CEB-A302-54AF-2C69-9524E1071346}"/>
              </a:ext>
            </a:extLst>
          </p:cNvPr>
          <p:cNvSpPr/>
          <p:nvPr/>
        </p:nvSpPr>
        <p:spPr>
          <a:xfrm>
            <a:off x="5435092" y="3673158"/>
            <a:ext cx="1330960" cy="745417"/>
          </a:xfrm>
          <a:prstGeom prst="rightArrow">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optimize</a:t>
            </a:r>
          </a:p>
        </p:txBody>
      </p:sp>
      <p:pic>
        <p:nvPicPr>
          <p:cNvPr id="9" name="Picture 8">
            <a:extLst>
              <a:ext uri="{FF2B5EF4-FFF2-40B4-BE49-F238E27FC236}">
                <a16:creationId xmlns:a16="http://schemas.microsoft.com/office/drawing/2014/main" id="{CD172605-9700-F999-B245-12EBA44C89A1}"/>
              </a:ext>
            </a:extLst>
          </p:cNvPr>
          <p:cNvPicPr>
            <a:picLocks noChangeAspect="1"/>
          </p:cNvPicPr>
          <p:nvPr/>
        </p:nvPicPr>
        <p:blipFill>
          <a:blip r:embed="rId4">
            <a:extLst>
              <a:ext uri="{28A0092B-C50C-407E-A947-70E740481C1C}">
                <a14:useLocalDpi xmlns:a14="http://schemas.microsoft.com/office/drawing/2010/main" val="0"/>
              </a:ext>
            </a:extLst>
          </a:blip>
          <a:srcRect l="43846" t="17785" r="6491" b="18965"/>
          <a:stretch>
            <a:fillRect/>
          </a:stretch>
        </p:blipFill>
        <p:spPr>
          <a:xfrm>
            <a:off x="7615010" y="3146518"/>
            <a:ext cx="4328160" cy="2319235"/>
          </a:xfrm>
          <a:prstGeom prst="rect">
            <a:avLst/>
          </a:prstGeom>
        </p:spPr>
      </p:pic>
      <mc:AlternateContent xmlns:mc="http://schemas.openxmlformats.org/markup-compatibility/2006">
        <mc:Choice xmlns:a14="http://schemas.microsoft.com/office/drawing/2010/main" Requires="a14">
          <p:sp>
            <p:nvSpPr>
              <p:cNvPr id="10" name="Content Placeholder 2">
                <a:extLst>
                  <a:ext uri="{FF2B5EF4-FFF2-40B4-BE49-F238E27FC236}">
                    <a16:creationId xmlns:a16="http://schemas.microsoft.com/office/drawing/2014/main" id="{38308A4A-6228-C29E-FCA2-07591DA39AA3}"/>
                  </a:ext>
                </a:extLst>
              </p:cNvPr>
              <p:cNvSpPr txBox="1">
                <a:spLocks/>
              </p:cNvSpPr>
              <p:nvPr/>
            </p:nvSpPr>
            <p:spPr>
              <a:xfrm>
                <a:off x="8758981" y="5373821"/>
                <a:ext cx="2205736" cy="1453535"/>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r>
                  <a:rPr lang="en-US" sz="1600" dirty="0">
                    <a:solidFill>
                      <a:srgbClr val="2772B7"/>
                    </a:solidFill>
                    <a:latin typeface="Grandview" panose="020B0502040204020203" pitchFamily="34" charset="0"/>
                  </a:rPr>
                  <a:t>Capacitance=2.2C</a:t>
                </a:r>
              </a:p>
              <a:p>
                <a:pPr marL="0" indent="0">
                  <a:lnSpc>
                    <a:spcPct val="110000"/>
                  </a:lnSpc>
                  <a:buNone/>
                </a:pPr>
                <a:r>
                  <a:rPr lang="en-US" sz="1600" dirty="0">
                    <a:solidFill>
                      <a:srgbClr val="2772B7"/>
                    </a:solidFill>
                    <a:latin typeface="Grandview" panose="020B0502040204020203" pitchFamily="34" charset="0"/>
                  </a:rPr>
                  <a:t>Voltage= 0.6V</a:t>
                </a:r>
              </a:p>
              <a:p>
                <a:pPr marL="0" indent="0">
                  <a:lnSpc>
                    <a:spcPct val="110000"/>
                  </a:lnSpc>
                  <a:buNone/>
                </a:pPr>
                <a:r>
                  <a:rPr lang="en-US" sz="1600" dirty="0">
                    <a:solidFill>
                      <a:srgbClr val="2772B7"/>
                    </a:solidFill>
                    <a:latin typeface="Grandview" panose="020B0502040204020203" pitchFamily="34" charset="0"/>
                  </a:rPr>
                  <a:t>Frequency = F/2</a:t>
                </a:r>
              </a:p>
              <a:p>
                <a:pPr marL="0" indent="0">
                  <a:lnSpc>
                    <a:spcPct val="110000"/>
                  </a:lnSpc>
                  <a:buNone/>
                </a:pPr>
                <a:r>
                  <a:rPr lang="en-US" sz="1600" dirty="0">
                    <a:solidFill>
                      <a:srgbClr val="2772B7"/>
                    </a:solidFill>
                    <a:latin typeface="Grandview" panose="020B0502040204020203" pitchFamily="34" charset="0"/>
                  </a:rPr>
                  <a:t>Power = 0.396C</a:t>
                </a:r>
                <a14:m>
                  <m:oMath xmlns:m="http://schemas.openxmlformats.org/officeDocument/2006/math">
                    <m:sSup>
                      <m:sSupPr>
                        <m:ctrlPr>
                          <a:rPr lang="en-US" sz="1600" i="1" smtClean="0">
                            <a:solidFill>
                              <a:srgbClr val="2772B7"/>
                            </a:solidFill>
                            <a:latin typeface="Cambria Math" panose="02040503050406030204" pitchFamily="18" charset="0"/>
                          </a:rPr>
                        </m:ctrlPr>
                      </m:sSupPr>
                      <m:e>
                        <m:r>
                          <a:rPr lang="en-US" sz="1600" b="0" i="1" smtClean="0">
                            <a:solidFill>
                              <a:srgbClr val="2772B7"/>
                            </a:solidFill>
                            <a:latin typeface="Cambria Math" panose="02040503050406030204" pitchFamily="18" charset="0"/>
                          </a:rPr>
                          <m:t>𝑉</m:t>
                        </m:r>
                      </m:e>
                      <m:sup>
                        <m:r>
                          <a:rPr lang="en-US" sz="1600" b="0" i="1" smtClean="0">
                            <a:solidFill>
                              <a:srgbClr val="2772B7"/>
                            </a:solidFill>
                            <a:latin typeface="Cambria Math" panose="02040503050406030204" pitchFamily="18" charset="0"/>
                          </a:rPr>
                          <m:t>2</m:t>
                        </m:r>
                      </m:sup>
                    </m:sSup>
                  </m:oMath>
                </a14:m>
                <a:r>
                  <a:rPr lang="en-US" sz="1600" dirty="0">
                    <a:solidFill>
                      <a:srgbClr val="2772B7"/>
                    </a:solidFill>
                    <a:latin typeface="Grandview" panose="020B0502040204020203" pitchFamily="34" charset="0"/>
                  </a:rPr>
                  <a:t>F</a:t>
                </a:r>
              </a:p>
            </p:txBody>
          </p:sp>
        </mc:Choice>
        <mc:Fallback>
          <p:sp>
            <p:nvSpPr>
              <p:cNvPr id="10" name="Content Placeholder 2">
                <a:extLst>
                  <a:ext uri="{FF2B5EF4-FFF2-40B4-BE49-F238E27FC236}">
                    <a16:creationId xmlns:a16="http://schemas.microsoft.com/office/drawing/2014/main" id="{38308A4A-6228-C29E-FCA2-07591DA39AA3}"/>
                  </a:ext>
                </a:extLst>
              </p:cNvPr>
              <p:cNvSpPr txBox="1">
                <a:spLocks noRot="1" noChangeAspect="1" noMove="1" noResize="1" noEditPoints="1" noAdjustHandles="1" noChangeArrowheads="1" noChangeShapeType="1" noTextEdit="1"/>
              </p:cNvSpPr>
              <p:nvPr/>
            </p:nvSpPr>
            <p:spPr>
              <a:xfrm>
                <a:off x="8758981" y="5373821"/>
                <a:ext cx="2205736" cy="1453535"/>
              </a:xfrm>
              <a:prstGeom prst="rect">
                <a:avLst/>
              </a:prstGeom>
              <a:blipFill>
                <a:blip r:embed="rId5"/>
                <a:stretch>
                  <a:fillRect l="-1657" t="-1261" b="-5042"/>
                </a:stretch>
              </a:blipFill>
            </p:spPr>
            <p:txBody>
              <a:bodyPr/>
              <a:lstStyle/>
              <a:p>
                <a:r>
                  <a:rPr lang="en-US">
                    <a:noFill/>
                  </a:rPr>
                  <a:t> </a:t>
                </a:r>
              </a:p>
            </p:txBody>
          </p:sp>
        </mc:Fallback>
      </mc:AlternateContent>
      <p:sp>
        <p:nvSpPr>
          <p:cNvPr id="11" name="Content Placeholder 2">
            <a:extLst>
              <a:ext uri="{FF2B5EF4-FFF2-40B4-BE49-F238E27FC236}">
                <a16:creationId xmlns:a16="http://schemas.microsoft.com/office/drawing/2014/main" id="{F2348586-9448-BD23-20BF-F906FF882FB8}"/>
              </a:ext>
            </a:extLst>
          </p:cNvPr>
          <p:cNvSpPr txBox="1">
            <a:spLocks/>
          </p:cNvSpPr>
          <p:nvPr/>
        </p:nvSpPr>
        <p:spPr>
          <a:xfrm>
            <a:off x="4468862" y="4810015"/>
            <a:ext cx="3513312" cy="1831696"/>
          </a:xfrm>
          <a:prstGeom prst="rect">
            <a:avLst/>
          </a:prstGeom>
        </p:spPr>
        <p:txBody>
          <a:bodyPr vert="horz" lIns="91440" tIns="45720" rIns="91440" bIns="45720" rtlCol="0" anchor="t">
            <a:normAutofit fontScale="85000" lnSpcReduction="20000"/>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en-US" sz="1600" dirty="0"/>
              <a:t>Power reduced up to 40% with the same performance </a:t>
            </a:r>
          </a:p>
          <a:p>
            <a:pPr>
              <a:lnSpc>
                <a:spcPct val="110000"/>
              </a:lnSpc>
            </a:pPr>
            <a:r>
              <a:rPr lang="en-US" sz="1600" dirty="0"/>
              <a:t>With 2 cores, getting the same output, but 2 cores are getting 40% of the power</a:t>
            </a:r>
          </a:p>
          <a:p>
            <a:pPr marL="0" indent="0" algn="ctr">
              <a:lnSpc>
                <a:spcPct val="110000"/>
              </a:lnSpc>
              <a:buNone/>
            </a:pPr>
            <a:r>
              <a:rPr lang="en-US" sz="1600" b="1" dirty="0">
                <a:solidFill>
                  <a:srgbClr val="FF0000"/>
                </a:solidFill>
              </a:rPr>
              <a:t>Leading to start of parallel programming </a:t>
            </a:r>
          </a:p>
        </p:txBody>
      </p:sp>
    </p:spTree>
    <p:extLst>
      <p:ext uri="{BB962C8B-B14F-4D97-AF65-F5344CB8AC3E}">
        <p14:creationId xmlns:p14="http://schemas.microsoft.com/office/powerpoint/2010/main" val="1231135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3EF67-98AC-1350-310B-201E250C25F8}"/>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3829B14-779F-0855-F6AA-60F957484E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E74468-0A5A-4147-0CBC-5151A617AAE3}"/>
              </a:ext>
            </a:extLst>
          </p:cNvPr>
          <p:cNvSpPr>
            <a:spLocks noGrp="1"/>
          </p:cNvSpPr>
          <p:nvPr>
            <p:ph type="title"/>
          </p:nvPr>
        </p:nvSpPr>
        <p:spPr>
          <a:xfrm>
            <a:off x="659892" y="558152"/>
            <a:ext cx="10872216" cy="890016"/>
          </a:xfrm>
        </p:spPr>
        <p:txBody>
          <a:bodyPr anchor="b">
            <a:normAutofit fontScale="90000"/>
          </a:bodyPr>
          <a:lstStyle/>
          <a:p>
            <a:r>
              <a:rPr lang="en-US" sz="3200" dirty="0"/>
              <a:t>Parallel computing</a:t>
            </a:r>
            <a:br>
              <a:rPr lang="en-US" sz="2500" dirty="0"/>
            </a:br>
            <a:r>
              <a:rPr lang="en-US" sz="1800" b="0" dirty="0"/>
              <a:t>Is a computational approach where large problems are divided into smaller tasks that are solved simultaneously by multiple processors.</a:t>
            </a:r>
            <a:endParaRPr lang="en-US" sz="2500" b="0" dirty="0"/>
          </a:p>
        </p:txBody>
      </p:sp>
      <p:sp>
        <p:nvSpPr>
          <p:cNvPr id="4" name="Content Placeholder 2">
            <a:extLst>
              <a:ext uri="{FF2B5EF4-FFF2-40B4-BE49-F238E27FC236}">
                <a16:creationId xmlns:a16="http://schemas.microsoft.com/office/drawing/2014/main" id="{CC7239DA-57AC-3599-3AA5-61ECC913C430}"/>
              </a:ext>
            </a:extLst>
          </p:cNvPr>
          <p:cNvSpPr txBox="1">
            <a:spLocks/>
          </p:cNvSpPr>
          <p:nvPr/>
        </p:nvSpPr>
        <p:spPr>
          <a:xfrm>
            <a:off x="1026160" y="2006320"/>
            <a:ext cx="8849868" cy="5391258"/>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en-US" sz="1600" dirty="0"/>
              <a:t>Give us the ability to get same amount of work done with multiple cores at lower frequency at tremendous power</a:t>
            </a:r>
          </a:p>
          <a:p>
            <a:pPr>
              <a:lnSpc>
                <a:spcPct val="110000"/>
              </a:lnSpc>
            </a:pPr>
            <a:r>
              <a:rPr lang="en-US" sz="1600" dirty="0"/>
              <a:t>If we take this architectural change towards simpler architectures where we’re not using all these transistors to give you insane performance .</a:t>
            </a:r>
          </a:p>
          <a:p>
            <a:pPr>
              <a:lnSpc>
                <a:spcPct val="110000"/>
              </a:lnSpc>
            </a:pPr>
            <a:r>
              <a:rPr lang="en-US" sz="1600" dirty="0"/>
              <a:t>If you couple that with the fact that we’re going to be putting lots of cores on a piece of silicon, we now have a new contract between hardware and software.</a:t>
            </a:r>
          </a:p>
          <a:p>
            <a:pPr marL="0" indent="0">
              <a:lnSpc>
                <a:spcPct val="110000"/>
              </a:lnSpc>
              <a:buNone/>
            </a:pPr>
            <a:endParaRPr lang="en-US" sz="1600" dirty="0"/>
          </a:p>
          <a:p>
            <a:pPr marL="0" indent="0">
              <a:lnSpc>
                <a:spcPct val="110000"/>
              </a:lnSpc>
              <a:buNone/>
            </a:pPr>
            <a:endParaRPr lang="en-US" sz="1600" dirty="0"/>
          </a:p>
          <a:p>
            <a:pPr marL="0" indent="0" algn="ctr">
              <a:lnSpc>
                <a:spcPct val="110000"/>
              </a:lnSpc>
              <a:buNone/>
            </a:pPr>
            <a:r>
              <a:rPr lang="en-US" b="1" dirty="0">
                <a:solidFill>
                  <a:srgbClr val="FF0000"/>
                </a:solidFill>
              </a:rPr>
              <a:t>[Performance comes from software]</a:t>
            </a:r>
          </a:p>
          <a:p>
            <a:pPr marL="0" indent="0" algn="ctr">
              <a:lnSpc>
                <a:spcPct val="110000"/>
              </a:lnSpc>
              <a:buNone/>
            </a:pPr>
            <a:r>
              <a:rPr lang="en-US" b="1" dirty="0">
                <a:solidFill>
                  <a:srgbClr val="FF0000"/>
                </a:solidFill>
              </a:rPr>
              <a:t>[Performance doesn’t come from hardware]</a:t>
            </a:r>
          </a:p>
          <a:p>
            <a:pPr marL="0" indent="0">
              <a:lnSpc>
                <a:spcPct val="110000"/>
              </a:lnSpc>
              <a:buNone/>
            </a:pPr>
            <a:endParaRPr lang="en-US" sz="1600" dirty="0"/>
          </a:p>
        </p:txBody>
      </p:sp>
    </p:spTree>
    <p:extLst>
      <p:ext uri="{BB962C8B-B14F-4D97-AF65-F5344CB8AC3E}">
        <p14:creationId xmlns:p14="http://schemas.microsoft.com/office/powerpoint/2010/main" val="10072788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A8569-1C43-EF58-1DAD-6FC4C0385267}"/>
              </a:ext>
            </a:extLst>
          </p:cNvPr>
          <p:cNvSpPr>
            <a:spLocks noGrp="1"/>
          </p:cNvSpPr>
          <p:nvPr>
            <p:ph type="title"/>
          </p:nvPr>
        </p:nvSpPr>
        <p:spPr>
          <a:xfrm>
            <a:off x="339932" y="115504"/>
            <a:ext cx="10653578" cy="413886"/>
          </a:xfrm>
        </p:spPr>
        <p:txBody>
          <a:bodyPr>
            <a:normAutofit fontScale="90000"/>
          </a:bodyPr>
          <a:lstStyle/>
          <a:p>
            <a:r>
              <a:rPr lang="en-US" sz="2800" dirty="0"/>
              <a:t>Processor vs core vs thread</a:t>
            </a:r>
          </a:p>
        </p:txBody>
      </p:sp>
      <p:graphicFrame>
        <p:nvGraphicFramePr>
          <p:cNvPr id="4" name="Content Placeholder 3">
            <a:extLst>
              <a:ext uri="{FF2B5EF4-FFF2-40B4-BE49-F238E27FC236}">
                <a16:creationId xmlns:a16="http://schemas.microsoft.com/office/drawing/2014/main" id="{604F923C-0015-8389-D251-ADE58BAAD894}"/>
              </a:ext>
            </a:extLst>
          </p:cNvPr>
          <p:cNvGraphicFramePr>
            <a:graphicFrameLocks noGrp="1"/>
          </p:cNvGraphicFramePr>
          <p:nvPr>
            <p:ph idx="1"/>
          </p:nvPr>
        </p:nvGraphicFramePr>
        <p:xfrm>
          <a:off x="97840" y="852852"/>
          <a:ext cx="11996320" cy="5889644"/>
        </p:xfrm>
        <a:graphic>
          <a:graphicData uri="http://schemas.openxmlformats.org/drawingml/2006/table">
            <a:tbl>
              <a:tblPr firstRow="1" bandRow="1">
                <a:tableStyleId>{00A15C55-8517-42AA-B614-E9B94910E393}</a:tableStyleId>
              </a:tblPr>
              <a:tblGrid>
                <a:gridCol w="2399264">
                  <a:extLst>
                    <a:ext uri="{9D8B030D-6E8A-4147-A177-3AD203B41FA5}">
                      <a16:colId xmlns:a16="http://schemas.microsoft.com/office/drawing/2014/main" val="383803578"/>
                    </a:ext>
                  </a:extLst>
                </a:gridCol>
                <a:gridCol w="2925128">
                  <a:extLst>
                    <a:ext uri="{9D8B030D-6E8A-4147-A177-3AD203B41FA5}">
                      <a16:colId xmlns:a16="http://schemas.microsoft.com/office/drawing/2014/main" val="1546954476"/>
                    </a:ext>
                  </a:extLst>
                </a:gridCol>
                <a:gridCol w="1873400">
                  <a:extLst>
                    <a:ext uri="{9D8B030D-6E8A-4147-A177-3AD203B41FA5}">
                      <a16:colId xmlns:a16="http://schemas.microsoft.com/office/drawing/2014/main" val="4294445880"/>
                    </a:ext>
                  </a:extLst>
                </a:gridCol>
                <a:gridCol w="2399264">
                  <a:extLst>
                    <a:ext uri="{9D8B030D-6E8A-4147-A177-3AD203B41FA5}">
                      <a16:colId xmlns:a16="http://schemas.microsoft.com/office/drawing/2014/main" val="561524249"/>
                    </a:ext>
                  </a:extLst>
                </a:gridCol>
                <a:gridCol w="2399264">
                  <a:extLst>
                    <a:ext uri="{9D8B030D-6E8A-4147-A177-3AD203B41FA5}">
                      <a16:colId xmlns:a16="http://schemas.microsoft.com/office/drawing/2014/main" val="3421454294"/>
                    </a:ext>
                  </a:extLst>
                </a:gridCol>
              </a:tblGrid>
              <a:tr h="673769">
                <a:tc>
                  <a:txBody>
                    <a:bodyPr/>
                    <a:lstStyle/>
                    <a:p>
                      <a:pPr algn="ctr"/>
                      <a:r>
                        <a:rPr lang="en-US" sz="1800" dirty="0">
                          <a:solidFill>
                            <a:schemeClr val="tx1"/>
                          </a:solidFill>
                        </a:rPr>
                        <a:t>Concept </a:t>
                      </a:r>
                    </a:p>
                  </a:txBody>
                  <a:tcPr anchor="ctr">
                    <a:solidFill>
                      <a:schemeClr val="accent2">
                        <a:lumMod val="20000"/>
                        <a:lumOff val="80000"/>
                      </a:schemeClr>
                    </a:solidFill>
                  </a:tcPr>
                </a:tc>
                <a:tc>
                  <a:txBody>
                    <a:bodyPr/>
                    <a:lstStyle/>
                    <a:p>
                      <a:pPr algn="ctr"/>
                      <a:r>
                        <a:rPr lang="en-US" sz="1800" dirty="0">
                          <a:solidFill>
                            <a:schemeClr val="tx1"/>
                          </a:solidFill>
                        </a:rPr>
                        <a:t>Definition </a:t>
                      </a:r>
                    </a:p>
                  </a:txBody>
                  <a:tcPr anchor="ctr">
                    <a:solidFill>
                      <a:schemeClr val="accent2">
                        <a:lumMod val="20000"/>
                        <a:lumOff val="80000"/>
                      </a:schemeClr>
                    </a:solidFill>
                  </a:tcPr>
                </a:tc>
                <a:tc>
                  <a:txBody>
                    <a:bodyPr/>
                    <a:lstStyle/>
                    <a:p>
                      <a:pPr algn="ctr"/>
                      <a:r>
                        <a:rPr lang="en-US" sz="1800" dirty="0">
                          <a:solidFill>
                            <a:schemeClr val="tx1"/>
                          </a:solidFill>
                        </a:rPr>
                        <a:t>Scope  </a:t>
                      </a:r>
                    </a:p>
                  </a:txBody>
                  <a:tcPr anchor="ctr">
                    <a:solidFill>
                      <a:schemeClr val="accent2">
                        <a:lumMod val="20000"/>
                        <a:lumOff val="80000"/>
                      </a:schemeClr>
                    </a:solidFill>
                  </a:tcPr>
                </a:tc>
                <a:tc>
                  <a:txBody>
                    <a:bodyPr/>
                    <a:lstStyle/>
                    <a:p>
                      <a:pPr algn="ctr"/>
                      <a:r>
                        <a:rPr lang="en-US" sz="1800" dirty="0">
                          <a:solidFill>
                            <a:schemeClr val="tx1"/>
                          </a:solidFill>
                        </a:rPr>
                        <a:t>Example </a:t>
                      </a:r>
                    </a:p>
                  </a:txBody>
                  <a:tcPr anchor="ctr">
                    <a:solidFill>
                      <a:schemeClr val="accent2">
                        <a:lumMod val="20000"/>
                        <a:lumOff val="80000"/>
                      </a:schemeClr>
                    </a:solidFill>
                  </a:tcPr>
                </a:tc>
                <a:tc>
                  <a:txBody>
                    <a:bodyPr/>
                    <a:lstStyle/>
                    <a:p>
                      <a:pPr algn="ctr"/>
                      <a:r>
                        <a:rPr lang="en-US" sz="1800" dirty="0">
                          <a:solidFill>
                            <a:schemeClr val="tx1"/>
                          </a:solidFill>
                        </a:rPr>
                        <a:t>Performance Impact</a:t>
                      </a:r>
                    </a:p>
                  </a:txBody>
                  <a:tcPr anchor="ctr">
                    <a:solidFill>
                      <a:schemeClr val="accent2">
                        <a:lumMod val="20000"/>
                        <a:lumOff val="80000"/>
                      </a:schemeClr>
                    </a:solidFill>
                  </a:tcPr>
                </a:tc>
                <a:extLst>
                  <a:ext uri="{0D108BD9-81ED-4DB2-BD59-A6C34878D82A}">
                    <a16:rowId xmlns:a16="http://schemas.microsoft.com/office/drawing/2014/main" val="3274388022"/>
                  </a:ext>
                </a:extLst>
              </a:tr>
              <a:tr h="965445">
                <a:tc>
                  <a:txBody>
                    <a:bodyPr/>
                    <a:lstStyle/>
                    <a:p>
                      <a:pPr algn="ctr"/>
                      <a:r>
                        <a:rPr lang="en-US" sz="1800" b="1" dirty="0"/>
                        <a:t>Processor (CPU)</a:t>
                      </a:r>
                      <a:endParaRPr lang="en-US" sz="1800" b="1" dirty="0">
                        <a:solidFill>
                          <a:schemeClr val="tx1"/>
                        </a:solidFill>
                      </a:endParaRPr>
                    </a:p>
                  </a:txBody>
                  <a:tcPr anchor="ctr">
                    <a:solidFill>
                      <a:schemeClr val="bg2"/>
                    </a:solidFill>
                  </a:tcPr>
                </a:tc>
                <a:tc>
                  <a:txBody>
                    <a:bodyPr/>
                    <a:lstStyle/>
                    <a:p>
                      <a:pPr algn="ctr"/>
                      <a:r>
                        <a:rPr lang="en-US" sz="1800" dirty="0"/>
                        <a:t>The entire central processing unit — the physical chip that executes instructions.</a:t>
                      </a:r>
                      <a:endParaRPr lang="en-US" sz="1800" dirty="0">
                        <a:solidFill>
                          <a:schemeClr val="tx1"/>
                        </a:solidFill>
                      </a:endParaRPr>
                    </a:p>
                  </a:txBody>
                  <a:tcPr anchor="ctr">
                    <a:solidFill>
                      <a:schemeClr val="bg2"/>
                    </a:solidFill>
                  </a:tcPr>
                </a:tc>
                <a:tc>
                  <a:txBody>
                    <a:bodyPr/>
                    <a:lstStyle/>
                    <a:p>
                      <a:pPr algn="ctr"/>
                      <a:r>
                        <a:rPr lang="en-US" sz="1800" dirty="0"/>
                        <a:t>Hardware level</a:t>
                      </a:r>
                      <a:endParaRPr lang="en-US" sz="1800" dirty="0">
                        <a:solidFill>
                          <a:schemeClr val="tx1"/>
                        </a:solidFill>
                      </a:endParaRPr>
                    </a:p>
                  </a:txBody>
                  <a:tcPr anchor="ctr">
                    <a:solidFill>
                      <a:schemeClr val="bg2"/>
                    </a:solidFill>
                  </a:tcPr>
                </a:tc>
                <a:tc>
                  <a:txBody>
                    <a:bodyPr/>
                    <a:lstStyle/>
                    <a:p>
                      <a:pPr algn="ctr"/>
                      <a:r>
                        <a:rPr lang="en-US" sz="1800" dirty="0"/>
                        <a:t>An Intel i7 or AMD Ryzen CPU.</a:t>
                      </a:r>
                      <a:endParaRPr lang="en-US" sz="1800" dirty="0">
                        <a:solidFill>
                          <a:schemeClr val="tx1"/>
                        </a:solidFill>
                      </a:endParaRPr>
                    </a:p>
                  </a:txBody>
                  <a:tcPr anchor="ctr">
                    <a:solidFill>
                      <a:schemeClr val="bg2"/>
                    </a:solidFill>
                  </a:tcPr>
                </a:tc>
                <a:tc>
                  <a:txBody>
                    <a:bodyPr/>
                    <a:lstStyle/>
                    <a:p>
                      <a:pPr algn="ctr"/>
                      <a:r>
                        <a:rPr lang="en-US" sz="1800" dirty="0"/>
                        <a:t>Determines overall computing capability; contains multiple cores.</a:t>
                      </a:r>
                      <a:endParaRPr lang="en-US" sz="1800" dirty="0">
                        <a:solidFill>
                          <a:schemeClr val="tx1"/>
                        </a:solidFill>
                      </a:endParaRPr>
                    </a:p>
                  </a:txBody>
                  <a:tcPr anchor="ctr">
                    <a:solidFill>
                      <a:schemeClr val="bg2"/>
                    </a:solidFill>
                  </a:tcPr>
                </a:tc>
                <a:extLst>
                  <a:ext uri="{0D108BD9-81ED-4DB2-BD59-A6C34878D82A}">
                    <a16:rowId xmlns:a16="http://schemas.microsoft.com/office/drawing/2014/main" val="3812511616"/>
                  </a:ext>
                </a:extLst>
              </a:tr>
              <a:tr h="1552876">
                <a:tc>
                  <a:txBody>
                    <a:bodyPr/>
                    <a:lstStyle/>
                    <a:p>
                      <a:pPr algn="ctr"/>
                      <a:r>
                        <a:rPr lang="en-US" sz="1800" b="1" dirty="0">
                          <a:solidFill>
                            <a:schemeClr val="tx1"/>
                          </a:solidFill>
                        </a:rPr>
                        <a:t>Core </a:t>
                      </a:r>
                    </a:p>
                  </a:txBody>
                  <a:tcPr anchor="ctr">
                    <a:solidFill>
                      <a:schemeClr val="bg2"/>
                    </a:solidFill>
                  </a:tcPr>
                </a:tc>
                <a:tc>
                  <a:txBody>
                    <a:bodyPr/>
                    <a:lstStyle/>
                    <a:p>
                      <a:pPr algn="ctr"/>
                      <a:r>
                        <a:rPr lang="en-US" sz="1800" dirty="0"/>
                        <a:t>A physical processing unit inside the processor. Each core can independently execute instructions.</a:t>
                      </a:r>
                      <a:endParaRPr lang="en-US" sz="1800" dirty="0">
                        <a:solidFill>
                          <a:schemeClr val="tx1"/>
                        </a:solidFill>
                      </a:endParaRPr>
                    </a:p>
                  </a:txBody>
                  <a:tcPr anchor="ctr">
                    <a:solidFill>
                      <a:schemeClr val="bg2"/>
                    </a:solidFill>
                  </a:tcPr>
                </a:tc>
                <a:tc>
                  <a:txBody>
                    <a:bodyPr/>
                    <a:lstStyle/>
                    <a:p>
                      <a:pPr algn="ctr"/>
                      <a:r>
                        <a:rPr lang="en-US" sz="1800" dirty="0"/>
                        <a:t>Sub-unit of CPU</a:t>
                      </a:r>
                      <a:endParaRPr lang="en-US" sz="1800" dirty="0">
                        <a:solidFill>
                          <a:schemeClr val="tx1"/>
                        </a:solidFill>
                      </a:endParaRPr>
                    </a:p>
                  </a:txBody>
                  <a:tcPr anchor="ctr">
                    <a:solidFill>
                      <a:schemeClr val="bg2"/>
                    </a:solidFill>
                  </a:tcPr>
                </a:tc>
                <a:tc>
                  <a:txBody>
                    <a:bodyPr/>
                    <a:lstStyle/>
                    <a:p>
                      <a:pPr algn="ctr"/>
                      <a:r>
                        <a:rPr lang="en-US" sz="1800" dirty="0"/>
                        <a:t>A quad-core CPU has 4 cores.</a:t>
                      </a:r>
                      <a:endParaRPr lang="en-US" sz="1800" dirty="0">
                        <a:solidFill>
                          <a:schemeClr val="tx1"/>
                        </a:solidFill>
                      </a:endParaRPr>
                    </a:p>
                  </a:txBody>
                  <a:tcPr anchor="ctr">
                    <a:solidFill>
                      <a:schemeClr val="bg2"/>
                    </a:solidFill>
                  </a:tcPr>
                </a:tc>
                <a:tc>
                  <a:txBody>
                    <a:bodyPr/>
                    <a:lstStyle/>
                    <a:p>
                      <a:pPr algn="ctr"/>
                      <a:r>
                        <a:rPr lang="en-US" sz="1800" dirty="0"/>
                        <a:t>More cores = true parallelism; multiple tasks can run simultaneously.</a:t>
                      </a:r>
                      <a:endParaRPr lang="en-US" sz="1800" dirty="0">
                        <a:solidFill>
                          <a:schemeClr val="tx1"/>
                        </a:solidFill>
                      </a:endParaRPr>
                    </a:p>
                  </a:txBody>
                  <a:tcPr anchor="ctr">
                    <a:solidFill>
                      <a:schemeClr val="bg2"/>
                    </a:solidFill>
                  </a:tcPr>
                </a:tc>
                <a:extLst>
                  <a:ext uri="{0D108BD9-81ED-4DB2-BD59-A6C34878D82A}">
                    <a16:rowId xmlns:a16="http://schemas.microsoft.com/office/drawing/2014/main" val="977261681"/>
                  </a:ext>
                </a:extLst>
              </a:tr>
              <a:tr h="2474279">
                <a:tc>
                  <a:txBody>
                    <a:bodyPr/>
                    <a:lstStyle/>
                    <a:p>
                      <a:pPr algn="ctr"/>
                      <a:r>
                        <a:rPr lang="en-US" sz="1800" b="1" dirty="0">
                          <a:solidFill>
                            <a:schemeClr val="tx1"/>
                          </a:solidFill>
                        </a:rPr>
                        <a:t>Thread </a:t>
                      </a:r>
                    </a:p>
                  </a:txBody>
                  <a:tcPr anchor="ctr">
                    <a:solidFill>
                      <a:schemeClr val="bg2"/>
                    </a:solidFill>
                  </a:tcPr>
                </a:tc>
                <a:tc>
                  <a:txBody>
                    <a:bodyPr/>
                    <a:lstStyle/>
                    <a:p>
                      <a:pPr algn="ctr"/>
                      <a:r>
                        <a:rPr lang="en-US" sz="1800" dirty="0"/>
                        <a:t>A virtual execution unit managed by the CPU. Threads allow each core to handle multiple tasks concurrently (via technologies like Hyper-Threading or SMT).</a:t>
                      </a:r>
                      <a:endParaRPr lang="en-US" sz="1800" dirty="0">
                        <a:solidFill>
                          <a:schemeClr val="tx1"/>
                        </a:solidFill>
                      </a:endParaRPr>
                    </a:p>
                  </a:txBody>
                  <a:tcPr anchor="ctr">
                    <a:solidFill>
                      <a:schemeClr val="bg2"/>
                    </a:solidFill>
                  </a:tcPr>
                </a:tc>
                <a:tc>
                  <a:txBody>
                    <a:bodyPr/>
                    <a:lstStyle/>
                    <a:p>
                      <a:pPr algn="ctr"/>
                      <a:r>
                        <a:rPr lang="en-US" sz="1800" dirty="0"/>
                        <a:t>Software/OS level</a:t>
                      </a:r>
                      <a:endParaRPr lang="en-US" sz="1800" dirty="0">
                        <a:solidFill>
                          <a:schemeClr val="tx1"/>
                        </a:solidFill>
                      </a:endParaRPr>
                    </a:p>
                  </a:txBody>
                  <a:tcPr anchor="ctr">
                    <a:solidFill>
                      <a:schemeClr val="bg2"/>
                    </a:solidFill>
                  </a:tcPr>
                </a:tc>
                <a:tc>
                  <a:txBody>
                    <a:bodyPr/>
                    <a:lstStyle/>
                    <a:p>
                      <a:pPr algn="ctr"/>
                      <a:r>
                        <a:rPr lang="en-US" sz="1800" dirty="0"/>
                        <a:t>One core with 2 threads can run two instruction streams at once.</a:t>
                      </a:r>
                      <a:endParaRPr lang="en-US" sz="1800" dirty="0">
                        <a:solidFill>
                          <a:schemeClr val="tx1"/>
                        </a:solidFill>
                      </a:endParaRPr>
                    </a:p>
                  </a:txBody>
                  <a:tcPr anchor="ctr">
                    <a:solidFill>
                      <a:schemeClr val="bg2"/>
                    </a:solidFill>
                  </a:tcPr>
                </a:tc>
                <a:tc>
                  <a:txBody>
                    <a:bodyPr/>
                    <a:lstStyle/>
                    <a:p>
                      <a:pPr algn="ctr"/>
                      <a:r>
                        <a:rPr lang="en-US" sz="1800" dirty="0"/>
                        <a:t>Improves multitasking and throughput, but not as powerful as adding more cores.</a:t>
                      </a:r>
                      <a:endParaRPr lang="en-US" sz="1800" dirty="0">
                        <a:solidFill>
                          <a:schemeClr val="tx1"/>
                        </a:solidFill>
                      </a:endParaRPr>
                    </a:p>
                  </a:txBody>
                  <a:tcPr anchor="ctr">
                    <a:solidFill>
                      <a:schemeClr val="bg2"/>
                    </a:solidFill>
                  </a:tcPr>
                </a:tc>
                <a:extLst>
                  <a:ext uri="{0D108BD9-81ED-4DB2-BD59-A6C34878D82A}">
                    <a16:rowId xmlns:a16="http://schemas.microsoft.com/office/drawing/2014/main" val="3821209133"/>
                  </a:ext>
                </a:extLst>
              </a:tr>
            </a:tbl>
          </a:graphicData>
        </a:graphic>
      </p:graphicFrame>
    </p:spTree>
    <p:extLst>
      <p:ext uri="{BB962C8B-B14F-4D97-AF65-F5344CB8AC3E}">
        <p14:creationId xmlns:p14="http://schemas.microsoft.com/office/powerpoint/2010/main" val="25542850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6DF85-8A91-4C35-CDAA-069C85A59F14}"/>
              </a:ext>
            </a:extLst>
          </p:cNvPr>
          <p:cNvSpPr>
            <a:spLocks noGrp="1"/>
          </p:cNvSpPr>
          <p:nvPr>
            <p:ph type="title"/>
          </p:nvPr>
        </p:nvSpPr>
        <p:spPr/>
        <p:txBody>
          <a:bodyPr/>
          <a:lstStyle/>
          <a:p>
            <a:r>
              <a:rPr lang="en-US" dirty="0"/>
              <a:t>Core vs Threads</a:t>
            </a:r>
          </a:p>
        </p:txBody>
      </p:sp>
      <p:pic>
        <p:nvPicPr>
          <p:cNvPr id="5" name="Content Placeholder 4">
            <a:extLst>
              <a:ext uri="{FF2B5EF4-FFF2-40B4-BE49-F238E27FC236}">
                <a16:creationId xmlns:a16="http://schemas.microsoft.com/office/drawing/2014/main" id="{2A7C25E3-1BD8-5D7A-97AA-061E2775DF7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37129" y="1554723"/>
            <a:ext cx="9197788" cy="4592637"/>
          </a:xfrm>
          <a:prstGeom prst="rect">
            <a:avLst/>
          </a:prstGeom>
        </p:spPr>
      </p:pic>
    </p:spTree>
    <p:extLst>
      <p:ext uri="{BB962C8B-B14F-4D97-AF65-F5344CB8AC3E}">
        <p14:creationId xmlns:p14="http://schemas.microsoft.com/office/powerpoint/2010/main" val="34499107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8B517-1E5C-3BED-D34B-1E36B765990D}"/>
              </a:ext>
            </a:extLst>
          </p:cNvPr>
          <p:cNvSpPr>
            <a:spLocks noGrp="1"/>
          </p:cNvSpPr>
          <p:nvPr>
            <p:ph type="title"/>
          </p:nvPr>
        </p:nvSpPr>
        <p:spPr>
          <a:xfrm>
            <a:off x="452225" y="184483"/>
            <a:ext cx="10653578" cy="622434"/>
          </a:xfrm>
        </p:spPr>
        <p:txBody>
          <a:bodyPr/>
          <a:lstStyle/>
          <a:p>
            <a:r>
              <a:rPr lang="en-US" dirty="0"/>
              <a:t>How They Work Together</a:t>
            </a:r>
          </a:p>
        </p:txBody>
      </p:sp>
      <p:sp>
        <p:nvSpPr>
          <p:cNvPr id="3" name="Content Placeholder 2">
            <a:extLst>
              <a:ext uri="{FF2B5EF4-FFF2-40B4-BE49-F238E27FC236}">
                <a16:creationId xmlns:a16="http://schemas.microsoft.com/office/drawing/2014/main" id="{24388815-9C8F-E9C4-7022-6FAD13277DAF}"/>
              </a:ext>
            </a:extLst>
          </p:cNvPr>
          <p:cNvSpPr>
            <a:spLocks noGrp="1"/>
          </p:cNvSpPr>
          <p:nvPr>
            <p:ph idx="1"/>
          </p:nvPr>
        </p:nvSpPr>
        <p:spPr>
          <a:xfrm>
            <a:off x="452224" y="920330"/>
            <a:ext cx="10653579" cy="1396636"/>
          </a:xfrm>
        </p:spPr>
        <p:txBody>
          <a:bodyPr>
            <a:normAutofit lnSpcReduction="10000"/>
          </a:bodyPr>
          <a:lstStyle/>
          <a:p>
            <a:r>
              <a:rPr lang="en-US" b="1" dirty="0"/>
              <a:t>Processor</a:t>
            </a:r>
            <a:r>
              <a:rPr lang="en-US" dirty="0"/>
              <a:t> = the whole chip (like the "brain" of the computer).</a:t>
            </a:r>
          </a:p>
          <a:p>
            <a:r>
              <a:rPr lang="en-US" b="1" dirty="0"/>
              <a:t>Cores</a:t>
            </a:r>
            <a:r>
              <a:rPr lang="en-US" dirty="0"/>
              <a:t> = physical workers inside the processor.</a:t>
            </a:r>
          </a:p>
          <a:p>
            <a:r>
              <a:rPr lang="en-US" b="1" dirty="0"/>
              <a:t>Threads</a:t>
            </a:r>
            <a:r>
              <a:rPr lang="en-US" dirty="0"/>
              <a:t> = virtual helpers that let each core juggle multiple tasks at once.</a:t>
            </a:r>
          </a:p>
        </p:txBody>
      </p:sp>
      <p:sp>
        <p:nvSpPr>
          <p:cNvPr id="7" name="Title 1">
            <a:extLst>
              <a:ext uri="{FF2B5EF4-FFF2-40B4-BE49-F238E27FC236}">
                <a16:creationId xmlns:a16="http://schemas.microsoft.com/office/drawing/2014/main" id="{EA07695A-2F84-637D-EA2B-862713C56F76}"/>
              </a:ext>
            </a:extLst>
          </p:cNvPr>
          <p:cNvSpPr txBox="1">
            <a:spLocks/>
          </p:cNvSpPr>
          <p:nvPr/>
        </p:nvSpPr>
        <p:spPr>
          <a:xfrm>
            <a:off x="452227" y="2430380"/>
            <a:ext cx="10653578" cy="62243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lang="en-US" dirty="0"/>
              <a:t>Example</a:t>
            </a:r>
          </a:p>
        </p:txBody>
      </p:sp>
      <p:sp>
        <p:nvSpPr>
          <p:cNvPr id="8" name="Content Placeholder 2">
            <a:extLst>
              <a:ext uri="{FF2B5EF4-FFF2-40B4-BE49-F238E27FC236}">
                <a16:creationId xmlns:a16="http://schemas.microsoft.com/office/drawing/2014/main" id="{657433FF-0E7A-5421-4B5C-CD0D968C6662}"/>
              </a:ext>
            </a:extLst>
          </p:cNvPr>
          <p:cNvSpPr txBox="1">
            <a:spLocks/>
          </p:cNvSpPr>
          <p:nvPr/>
        </p:nvSpPr>
        <p:spPr>
          <a:xfrm>
            <a:off x="452225" y="3091800"/>
            <a:ext cx="10653579" cy="376619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Suppose you have a CPU with </a:t>
            </a:r>
            <a:r>
              <a:rPr lang="en-US" b="1" dirty="0"/>
              <a:t>1 processor, 4 cores, and 8 threads</a:t>
            </a:r>
            <a:r>
              <a:rPr lang="en-US" dirty="0"/>
              <a:t>:</a:t>
            </a:r>
          </a:p>
          <a:p>
            <a:r>
              <a:rPr lang="en-US" dirty="0"/>
              <a:t>The </a:t>
            </a:r>
            <a:r>
              <a:rPr lang="en-US" b="1" dirty="0"/>
              <a:t>processor</a:t>
            </a:r>
            <a:r>
              <a:rPr lang="en-US" dirty="0"/>
              <a:t> is the single CPU chip.</a:t>
            </a:r>
          </a:p>
          <a:p>
            <a:r>
              <a:rPr lang="en-US" dirty="0"/>
              <a:t>The </a:t>
            </a:r>
            <a:r>
              <a:rPr lang="en-US" b="1" dirty="0"/>
              <a:t>4 cores</a:t>
            </a:r>
            <a:r>
              <a:rPr lang="en-US" dirty="0"/>
              <a:t> are the actual physical units that can run instructions in parallel.</a:t>
            </a:r>
          </a:p>
          <a:p>
            <a:r>
              <a:rPr lang="en-US" dirty="0"/>
              <a:t>The </a:t>
            </a:r>
            <a:r>
              <a:rPr lang="en-US" b="1" dirty="0"/>
              <a:t>8 threads</a:t>
            </a:r>
            <a:r>
              <a:rPr lang="en-US" dirty="0"/>
              <a:t> mean each core can handle 2 instruction streams (thanks to Hyper-Threading), so the OS sees 8 logical processors.</a:t>
            </a:r>
          </a:p>
          <a:p>
            <a:pPr marL="0" indent="0" algn="ctr">
              <a:buNone/>
            </a:pPr>
            <a:r>
              <a:rPr lang="en-US" b="1" dirty="0"/>
              <a:t>[ More cores = true parallelism.</a:t>
            </a:r>
          </a:p>
          <a:p>
            <a:pPr marL="0" indent="0" algn="ctr">
              <a:buNone/>
            </a:pPr>
            <a:r>
              <a:rPr lang="en-US" b="1" dirty="0"/>
              <a:t> More threads = better multitasking efficiency,</a:t>
            </a:r>
          </a:p>
          <a:p>
            <a:pPr marL="0" indent="0" algn="ctr">
              <a:buNone/>
            </a:pPr>
            <a:r>
              <a:rPr lang="en-US" b="1" dirty="0"/>
              <a:t> but threads share the same physical core resources.]</a:t>
            </a:r>
          </a:p>
        </p:txBody>
      </p:sp>
    </p:spTree>
    <p:extLst>
      <p:ext uri="{BB962C8B-B14F-4D97-AF65-F5344CB8AC3E}">
        <p14:creationId xmlns:p14="http://schemas.microsoft.com/office/powerpoint/2010/main" val="8700005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DE9D4-C2F2-4E93-E9CF-C1EE01BA242A}"/>
              </a:ext>
            </a:extLst>
          </p:cNvPr>
          <p:cNvSpPr>
            <a:spLocks noGrp="1"/>
          </p:cNvSpPr>
          <p:nvPr>
            <p:ph type="title"/>
          </p:nvPr>
        </p:nvSpPr>
        <p:spPr>
          <a:xfrm>
            <a:off x="232610" y="259882"/>
            <a:ext cx="10653578" cy="451516"/>
          </a:xfrm>
        </p:spPr>
        <p:txBody>
          <a:bodyPr>
            <a:normAutofit fontScale="90000"/>
          </a:bodyPr>
          <a:lstStyle/>
          <a:p>
            <a:r>
              <a:rPr lang="en-US" dirty="0"/>
              <a:t>Scheduling Hierarchy</a:t>
            </a:r>
          </a:p>
        </p:txBody>
      </p:sp>
      <p:sp>
        <p:nvSpPr>
          <p:cNvPr id="6" name="Rectangle 1">
            <a:extLst>
              <a:ext uri="{FF2B5EF4-FFF2-40B4-BE49-F238E27FC236}">
                <a16:creationId xmlns:a16="http://schemas.microsoft.com/office/drawing/2014/main" id="{574DF941-8473-55D5-14C4-801A04929EDB}"/>
              </a:ext>
            </a:extLst>
          </p:cNvPr>
          <p:cNvSpPr>
            <a:spLocks noGrp="1" noChangeArrowheads="1"/>
          </p:cNvSpPr>
          <p:nvPr>
            <p:ph idx="1"/>
          </p:nvPr>
        </p:nvSpPr>
        <p:spPr bwMode="auto">
          <a:xfrm>
            <a:off x="232610" y="855777"/>
            <a:ext cx="11726779" cy="6217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1" i="0" u="none" strike="noStrike" cap="none" normalizeH="0" baseline="0" dirty="0">
                <a:ln>
                  <a:noFill/>
                </a:ln>
                <a:solidFill>
                  <a:schemeClr val="tx1"/>
                </a:solidFill>
                <a:effectLst/>
                <a:latin typeface="Arial" panose="020B0604020202020204" pitchFamily="34" charset="0"/>
              </a:rPr>
              <a:t>Processor (CPU)</a:t>
            </a:r>
            <a:r>
              <a:rPr kumimoji="0" lang="en-US" altLang="en-US"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The OS sees the entire CPU as the main resource.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If you have multiple processors (rare in consumer PCs, common in servers), the OS decides which processor gets which workload. </a:t>
            </a:r>
          </a:p>
          <a:p>
            <a:pPr marL="457200" marR="0" lvl="1"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1" i="0" u="none" strike="noStrike" cap="none" normalizeH="0" baseline="0" dirty="0">
                <a:ln>
                  <a:noFill/>
                </a:ln>
                <a:solidFill>
                  <a:schemeClr val="tx1"/>
                </a:solidFill>
                <a:effectLst/>
                <a:latin typeface="Arial" panose="020B0604020202020204" pitchFamily="34" charset="0"/>
              </a:rPr>
              <a:t>Core</a:t>
            </a:r>
            <a:r>
              <a:rPr kumimoji="0" lang="en-US" altLang="en-US"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Each processor contains multiple cores.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The OS scheduler assigns tasks (processes/threads) to available cores.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This is where </a:t>
            </a:r>
            <a:r>
              <a:rPr kumimoji="0" lang="en-US" altLang="en-US" sz="2000" b="1" i="0" u="none" strike="noStrike" cap="none" normalizeH="0" baseline="0" dirty="0">
                <a:ln>
                  <a:noFill/>
                </a:ln>
                <a:solidFill>
                  <a:schemeClr val="tx1"/>
                </a:solidFill>
                <a:effectLst/>
                <a:latin typeface="Arial" panose="020B0604020202020204" pitchFamily="34" charset="0"/>
              </a:rPr>
              <a:t>true parallelism</a:t>
            </a:r>
            <a:r>
              <a:rPr kumimoji="0" lang="en-US" altLang="en-US" sz="2000" b="0" i="0" u="none" strike="noStrike" cap="none" normalizeH="0" baseline="0" dirty="0">
                <a:ln>
                  <a:noFill/>
                </a:ln>
                <a:solidFill>
                  <a:schemeClr val="tx1"/>
                </a:solidFill>
                <a:effectLst/>
                <a:latin typeface="Arial" panose="020B0604020202020204" pitchFamily="34" charset="0"/>
              </a:rPr>
              <a:t> happens — multiple cores can execute instructions simultaneously. </a:t>
            </a:r>
          </a:p>
          <a:p>
            <a:pPr marL="457200" marR="0" lvl="1"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1" i="0" u="none" strike="noStrike" cap="none" normalizeH="0" baseline="0" dirty="0">
                <a:ln>
                  <a:noFill/>
                </a:ln>
                <a:solidFill>
                  <a:schemeClr val="tx1"/>
                </a:solidFill>
                <a:effectLst/>
                <a:latin typeface="Arial" panose="020B0604020202020204" pitchFamily="34" charset="0"/>
              </a:rPr>
              <a:t>Thread</a:t>
            </a:r>
            <a:r>
              <a:rPr kumimoji="0" lang="en-US" altLang="en-US"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Threads are the smallest schedulable units.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The OS scheduler decides which thread runs on which core at a given time.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With technologies like </a:t>
            </a:r>
            <a:r>
              <a:rPr kumimoji="0" lang="en-US" altLang="en-US" b="1" i="0" u="none" strike="noStrike" cap="none" normalizeH="0" baseline="0" dirty="0">
                <a:ln>
                  <a:noFill/>
                </a:ln>
                <a:solidFill>
                  <a:schemeClr val="tx1"/>
                </a:solidFill>
                <a:effectLst/>
                <a:latin typeface="Arial" panose="020B0604020202020204" pitchFamily="34" charset="0"/>
              </a:rPr>
              <a:t>Hyper-Threading (Intel)</a:t>
            </a:r>
            <a:r>
              <a:rPr kumimoji="0" lang="en-US" altLang="en-US" b="0" i="0" u="none" strike="noStrike" cap="none" normalizeH="0" baseline="0" dirty="0">
                <a:ln>
                  <a:noFill/>
                </a:ln>
                <a:solidFill>
                  <a:schemeClr val="tx1"/>
                </a:solidFill>
                <a:effectLst/>
                <a:latin typeface="Arial" panose="020B0604020202020204" pitchFamily="34" charset="0"/>
              </a:rPr>
              <a:t> or </a:t>
            </a:r>
            <a:r>
              <a:rPr kumimoji="0" lang="en-US" altLang="en-US" b="1" i="0" u="none" strike="noStrike" cap="none" normalizeH="0" baseline="0" dirty="0">
                <a:ln>
                  <a:noFill/>
                </a:ln>
                <a:solidFill>
                  <a:schemeClr val="tx1"/>
                </a:solidFill>
                <a:effectLst/>
                <a:latin typeface="Arial" panose="020B0604020202020204" pitchFamily="34" charset="0"/>
              </a:rPr>
              <a:t>SMT (AMD)</a:t>
            </a:r>
            <a:r>
              <a:rPr kumimoji="0" lang="en-US" altLang="en-US" b="0" i="0" u="none" strike="noStrike" cap="none" normalizeH="0" baseline="0" dirty="0">
                <a:ln>
                  <a:noFill/>
                </a:ln>
                <a:solidFill>
                  <a:schemeClr val="tx1"/>
                </a:solidFill>
                <a:effectLst/>
                <a:latin typeface="Arial" panose="020B0604020202020204" pitchFamily="34" charset="0"/>
              </a:rPr>
              <a:t>, each physical core can handle multiple logical threads, so the OS sees more “virtual CPUs” than physical cores.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98118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92768-A431-0BA7-5C6C-BC3F4F5D629F}"/>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951922D2-D397-9EA4-A66D-55B0884D1A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D5D8B9-89CB-33E8-7752-E942592DD7B8}"/>
              </a:ext>
            </a:extLst>
          </p:cNvPr>
          <p:cNvSpPr>
            <a:spLocks noGrp="1"/>
          </p:cNvSpPr>
          <p:nvPr>
            <p:ph type="title"/>
          </p:nvPr>
        </p:nvSpPr>
        <p:spPr>
          <a:xfrm>
            <a:off x="634314" y="564397"/>
            <a:ext cx="3494314" cy="5786638"/>
          </a:xfrm>
        </p:spPr>
        <p:txBody>
          <a:bodyPr anchor="t">
            <a:normAutofit/>
          </a:bodyPr>
          <a:lstStyle/>
          <a:p>
            <a:pPr algn="ctr"/>
            <a:r>
              <a:rPr lang="en-US" dirty="0"/>
              <a:t>Concurrency </a:t>
            </a:r>
            <a:br>
              <a:rPr lang="en-US" dirty="0"/>
            </a:br>
            <a:r>
              <a:rPr lang="en-US" dirty="0"/>
              <a:t>vs</a:t>
            </a:r>
            <a:br>
              <a:rPr lang="en-US" dirty="0"/>
            </a:br>
            <a:r>
              <a:rPr lang="en-US" dirty="0"/>
              <a:t>Parallelism</a:t>
            </a:r>
            <a:endParaRPr lang="en-US" b="0" dirty="0"/>
          </a:p>
        </p:txBody>
      </p:sp>
      <p:graphicFrame>
        <p:nvGraphicFramePr>
          <p:cNvPr id="17" name="Content Placeholder 2">
            <a:extLst>
              <a:ext uri="{FF2B5EF4-FFF2-40B4-BE49-F238E27FC236}">
                <a16:creationId xmlns:a16="http://schemas.microsoft.com/office/drawing/2014/main" id="{D6B8FD97-A2E7-AF53-D6C2-A962CF718FE0}"/>
              </a:ext>
            </a:extLst>
          </p:cNvPr>
          <p:cNvGraphicFramePr>
            <a:graphicFrameLocks noGrp="1"/>
          </p:cNvGraphicFramePr>
          <p:nvPr>
            <p:ph idx="1"/>
            <p:extLst>
              <p:ext uri="{D42A27DB-BD31-4B8C-83A1-F6EECF244321}">
                <p14:modId xmlns:p14="http://schemas.microsoft.com/office/powerpoint/2010/main" val="3402104061"/>
              </p:ext>
            </p:extLst>
          </p:nvPr>
        </p:nvGraphicFramePr>
        <p:xfrm>
          <a:off x="4608246" y="548640"/>
          <a:ext cx="6949440" cy="57866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829691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F5587-5D4E-AC06-FA62-0CDDE474E003}"/>
              </a:ext>
            </a:extLst>
          </p:cNvPr>
          <p:cNvSpPr>
            <a:spLocks noGrp="1"/>
          </p:cNvSpPr>
          <p:nvPr>
            <p:ph type="title"/>
          </p:nvPr>
        </p:nvSpPr>
        <p:spPr/>
        <p:txBody>
          <a:bodyPr/>
          <a:lstStyle/>
          <a:p>
            <a:r>
              <a:rPr lang="en-US" dirty="0"/>
              <a:t>Concurrent application vs Parallel application</a:t>
            </a:r>
          </a:p>
        </p:txBody>
      </p:sp>
      <p:graphicFrame>
        <p:nvGraphicFramePr>
          <p:cNvPr id="4" name="Content Placeholder 3">
            <a:extLst>
              <a:ext uri="{FF2B5EF4-FFF2-40B4-BE49-F238E27FC236}">
                <a16:creationId xmlns:a16="http://schemas.microsoft.com/office/drawing/2014/main" id="{69426722-B04D-D42A-8E50-4AD04DFF05B8}"/>
              </a:ext>
            </a:extLst>
          </p:cNvPr>
          <p:cNvGraphicFramePr>
            <a:graphicFrameLocks noGrp="1"/>
          </p:cNvGraphicFramePr>
          <p:nvPr>
            <p:ph idx="1"/>
          </p:nvPr>
        </p:nvGraphicFramePr>
        <p:xfrm>
          <a:off x="483683" y="1221234"/>
          <a:ext cx="10653450" cy="5312872"/>
        </p:xfrm>
        <a:graphic>
          <a:graphicData uri="http://schemas.openxmlformats.org/drawingml/2006/table">
            <a:tbl>
              <a:tblPr firstRow="1" bandRow="1">
                <a:tableStyleId>{5C22544A-7EE6-4342-B048-85BDC9FD1C3A}</a:tableStyleId>
              </a:tblPr>
              <a:tblGrid>
                <a:gridCol w="3551150">
                  <a:extLst>
                    <a:ext uri="{9D8B030D-6E8A-4147-A177-3AD203B41FA5}">
                      <a16:colId xmlns:a16="http://schemas.microsoft.com/office/drawing/2014/main" val="2484057515"/>
                    </a:ext>
                  </a:extLst>
                </a:gridCol>
                <a:gridCol w="3551150">
                  <a:extLst>
                    <a:ext uri="{9D8B030D-6E8A-4147-A177-3AD203B41FA5}">
                      <a16:colId xmlns:a16="http://schemas.microsoft.com/office/drawing/2014/main" val="3608150108"/>
                    </a:ext>
                  </a:extLst>
                </a:gridCol>
                <a:gridCol w="3551150">
                  <a:extLst>
                    <a:ext uri="{9D8B030D-6E8A-4147-A177-3AD203B41FA5}">
                      <a16:colId xmlns:a16="http://schemas.microsoft.com/office/drawing/2014/main" val="3691448465"/>
                    </a:ext>
                  </a:extLst>
                </a:gridCol>
              </a:tblGrid>
              <a:tr h="832312">
                <a:tc>
                  <a:txBody>
                    <a:bodyPr/>
                    <a:lstStyle/>
                    <a:p>
                      <a:pPr marL="0" algn="ctr" defTabSz="914400" rtl="0" eaLnBrk="1" latinLnBrk="0" hangingPunct="1"/>
                      <a:r>
                        <a:rPr lang="en-US" sz="1800" b="1" kern="1200" dirty="0">
                          <a:solidFill>
                            <a:schemeClr val="tx1"/>
                          </a:solidFill>
                          <a:latin typeface="+mn-lt"/>
                          <a:ea typeface="+mn-ea"/>
                          <a:cs typeface="+mn-cs"/>
                        </a:rPr>
                        <a:t>Aspect</a:t>
                      </a:r>
                    </a:p>
                  </a:txBody>
                  <a:tcPr anchor="ctr">
                    <a:solidFill>
                      <a:schemeClr val="accent2">
                        <a:lumMod val="20000"/>
                        <a:lumOff val="80000"/>
                      </a:schemeClr>
                    </a:solidFill>
                  </a:tcPr>
                </a:tc>
                <a:tc>
                  <a:txBody>
                    <a:bodyPr/>
                    <a:lstStyle/>
                    <a:p>
                      <a:pPr marL="0" algn="ctr" defTabSz="914400" rtl="0" eaLnBrk="1" latinLnBrk="0" hangingPunct="1"/>
                      <a:r>
                        <a:rPr lang="en-US" sz="1800" b="1" kern="1200" dirty="0">
                          <a:solidFill>
                            <a:schemeClr val="tx1"/>
                          </a:solidFill>
                          <a:latin typeface="+mn-lt"/>
                          <a:ea typeface="+mn-ea"/>
                          <a:cs typeface="+mn-cs"/>
                        </a:rPr>
                        <a:t>Concurrent application </a:t>
                      </a:r>
                    </a:p>
                  </a:txBody>
                  <a:tcPr anchor="ctr">
                    <a:solidFill>
                      <a:schemeClr val="accent2">
                        <a:lumMod val="20000"/>
                        <a:lumOff val="80000"/>
                      </a:schemeClr>
                    </a:solidFill>
                  </a:tcPr>
                </a:tc>
                <a:tc>
                  <a:txBody>
                    <a:bodyPr/>
                    <a:lstStyle/>
                    <a:p>
                      <a:pPr marL="0" algn="ctr" defTabSz="914400" rtl="0" eaLnBrk="1" latinLnBrk="0" hangingPunct="1"/>
                      <a:r>
                        <a:rPr lang="en-US" sz="1800" b="1" kern="1200" dirty="0">
                          <a:solidFill>
                            <a:schemeClr val="tx1"/>
                          </a:solidFill>
                          <a:latin typeface="+mn-lt"/>
                          <a:ea typeface="+mn-ea"/>
                          <a:cs typeface="+mn-cs"/>
                        </a:rPr>
                        <a:t>Parallel application</a:t>
                      </a:r>
                    </a:p>
                  </a:txBody>
                  <a:tcPr anchor="ctr">
                    <a:solidFill>
                      <a:schemeClr val="accent2">
                        <a:lumMod val="20000"/>
                        <a:lumOff val="80000"/>
                      </a:schemeClr>
                    </a:solidFill>
                  </a:tcPr>
                </a:tc>
                <a:extLst>
                  <a:ext uri="{0D108BD9-81ED-4DB2-BD59-A6C34878D82A}">
                    <a16:rowId xmlns:a16="http://schemas.microsoft.com/office/drawing/2014/main" val="4204113015"/>
                  </a:ext>
                </a:extLst>
              </a:tr>
              <a:tr h="832312">
                <a:tc>
                  <a:txBody>
                    <a:bodyPr/>
                    <a:lstStyle/>
                    <a:p>
                      <a:pPr marL="0" algn="ctr" defTabSz="914400" rtl="0" eaLnBrk="1" latinLnBrk="0" hangingPunct="1"/>
                      <a:r>
                        <a:rPr lang="en-US" b="1" dirty="0"/>
                        <a:t>Definition</a:t>
                      </a:r>
                      <a:endParaRPr lang="en-US" sz="1800" b="1" kern="1200" dirty="0">
                        <a:solidFill>
                          <a:schemeClr val="tx1"/>
                        </a:solidFill>
                        <a:latin typeface="+mn-lt"/>
                        <a:ea typeface="+mn-ea"/>
                        <a:cs typeface="+mn-cs"/>
                      </a:endParaRPr>
                    </a:p>
                  </a:txBody>
                  <a:tcPr anchor="c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Multiple tasks </a:t>
                      </a:r>
                      <a:r>
                        <a:rPr lang="en-US" i="1" dirty="0"/>
                        <a:t>progress</a:t>
                      </a:r>
                      <a:r>
                        <a:rPr lang="en-US" dirty="0"/>
                        <a:t> at the same time, but not necessarily simultaneously. The system switches between tasks quickly.</a:t>
                      </a:r>
                    </a:p>
                    <a:p>
                      <a:pPr marL="0" algn="ctr" defTabSz="914400" rtl="0" eaLnBrk="1" latinLnBrk="0" hangingPunct="1"/>
                      <a:endParaRPr lang="en-US" sz="1800" b="1" kern="1200" dirty="0">
                        <a:solidFill>
                          <a:schemeClr val="tx1"/>
                        </a:solidFill>
                        <a:latin typeface="+mn-lt"/>
                        <a:ea typeface="+mn-ea"/>
                        <a:cs typeface="+mn-cs"/>
                      </a:endParaRPr>
                    </a:p>
                  </a:txBody>
                  <a:tcPr anchor="c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Multiple tasks are executed </a:t>
                      </a:r>
                      <a:r>
                        <a:rPr lang="en-US" i="1" dirty="0"/>
                        <a:t>simultaneously</a:t>
                      </a:r>
                      <a:r>
                        <a:rPr lang="en-US" dirty="0"/>
                        <a:t> on different cores/threads or processors.</a:t>
                      </a:r>
                    </a:p>
                    <a:p>
                      <a:pPr marL="0" algn="ctr" defTabSz="914400" rtl="0" eaLnBrk="1" latinLnBrk="0" hangingPunct="1"/>
                      <a:endParaRPr lang="en-US" sz="1800" b="1" kern="1200" dirty="0">
                        <a:solidFill>
                          <a:schemeClr val="tx1"/>
                        </a:solidFill>
                        <a:latin typeface="+mn-lt"/>
                        <a:ea typeface="+mn-ea"/>
                        <a:cs typeface="+mn-cs"/>
                      </a:endParaRPr>
                    </a:p>
                  </a:txBody>
                  <a:tcPr anchor="ctr">
                    <a:solidFill>
                      <a:schemeClr val="bg2"/>
                    </a:solidFill>
                  </a:tcPr>
                </a:tc>
                <a:extLst>
                  <a:ext uri="{0D108BD9-81ED-4DB2-BD59-A6C34878D82A}">
                    <a16:rowId xmlns:a16="http://schemas.microsoft.com/office/drawing/2014/main" val="2050542349"/>
                  </a:ext>
                </a:extLst>
              </a:tr>
              <a:tr h="832312">
                <a:tc>
                  <a:txBody>
                    <a:bodyPr/>
                    <a:lstStyle/>
                    <a:p>
                      <a:pPr marL="0" algn="ctr" defTabSz="914400" rtl="0" eaLnBrk="1" latinLnBrk="0" hangingPunct="1"/>
                      <a:r>
                        <a:rPr lang="en-US" b="1" dirty="0"/>
                        <a:t>Analogy</a:t>
                      </a:r>
                      <a:endParaRPr lang="en-US" sz="1800" b="1" kern="1200" dirty="0">
                        <a:solidFill>
                          <a:schemeClr val="tx1"/>
                        </a:solidFill>
                        <a:latin typeface="+mn-lt"/>
                        <a:ea typeface="+mn-ea"/>
                        <a:cs typeface="+mn-cs"/>
                      </a:endParaRPr>
                    </a:p>
                  </a:txBody>
                  <a:tcPr anchor="ctr">
                    <a:solidFill>
                      <a:schemeClr val="bg2"/>
                    </a:solidFill>
                  </a:tcPr>
                </a:tc>
                <a:tc>
                  <a:txBody>
                    <a:bodyPr/>
                    <a:lstStyle/>
                    <a:p>
                      <a:pPr marL="0" algn="ctr" defTabSz="914400" rtl="0" eaLnBrk="1" latinLnBrk="0" hangingPunct="1"/>
                      <a:r>
                        <a:rPr lang="en-US" dirty="0"/>
                        <a:t>One cashier serving many customers by switching between them rapidly.</a:t>
                      </a:r>
                      <a:endParaRPr lang="en-US" sz="1800" b="1" kern="1200" dirty="0">
                        <a:solidFill>
                          <a:schemeClr val="tx1"/>
                        </a:solidFill>
                        <a:latin typeface="+mn-lt"/>
                        <a:ea typeface="+mn-ea"/>
                        <a:cs typeface="+mn-cs"/>
                      </a:endParaRPr>
                    </a:p>
                  </a:txBody>
                  <a:tcPr anchor="ctr">
                    <a:solidFill>
                      <a:schemeClr val="bg2"/>
                    </a:solidFill>
                  </a:tcPr>
                </a:tc>
                <a:tc>
                  <a:txBody>
                    <a:bodyPr/>
                    <a:lstStyle/>
                    <a:p>
                      <a:pPr marL="0" algn="ctr" defTabSz="914400" rtl="0" eaLnBrk="1" latinLnBrk="0" hangingPunct="1"/>
                      <a:r>
                        <a:rPr lang="en-US" dirty="0"/>
                        <a:t>Multiple cashiers serving multiple customers at the same time.</a:t>
                      </a:r>
                      <a:endParaRPr lang="en-US" sz="1800" b="1" kern="1200" dirty="0">
                        <a:solidFill>
                          <a:schemeClr val="tx1"/>
                        </a:solidFill>
                        <a:latin typeface="+mn-lt"/>
                        <a:ea typeface="+mn-ea"/>
                        <a:cs typeface="+mn-cs"/>
                      </a:endParaRPr>
                    </a:p>
                  </a:txBody>
                  <a:tcPr anchor="ctr">
                    <a:solidFill>
                      <a:schemeClr val="bg2"/>
                    </a:solidFill>
                  </a:tcPr>
                </a:tc>
                <a:extLst>
                  <a:ext uri="{0D108BD9-81ED-4DB2-BD59-A6C34878D82A}">
                    <a16:rowId xmlns:a16="http://schemas.microsoft.com/office/drawing/2014/main" val="3095867465"/>
                  </a:ext>
                </a:extLst>
              </a:tr>
              <a:tr h="832312">
                <a:tc>
                  <a:txBody>
                    <a:bodyPr/>
                    <a:lstStyle/>
                    <a:p>
                      <a:pPr marL="0" algn="ctr" defTabSz="914400" rtl="0" eaLnBrk="1" latinLnBrk="0" hangingPunct="1"/>
                      <a:r>
                        <a:rPr lang="en-US" b="1" dirty="0"/>
                        <a:t>Execution</a:t>
                      </a:r>
                      <a:endParaRPr lang="en-US" sz="1800" b="1" kern="1200" dirty="0">
                        <a:solidFill>
                          <a:schemeClr val="tx1"/>
                        </a:solidFill>
                        <a:latin typeface="+mn-lt"/>
                        <a:ea typeface="+mn-ea"/>
                        <a:cs typeface="+mn-cs"/>
                      </a:endParaRPr>
                    </a:p>
                  </a:txBody>
                  <a:tcPr anchor="ctr">
                    <a:solidFill>
                      <a:schemeClr val="bg2"/>
                    </a:solidFill>
                  </a:tcPr>
                </a:tc>
                <a:tc>
                  <a:txBody>
                    <a:bodyPr/>
                    <a:lstStyle/>
                    <a:p>
                      <a:pPr marL="0" algn="ctr" defTabSz="914400" rtl="0" eaLnBrk="1" latinLnBrk="0" hangingPunct="1"/>
                      <a:r>
                        <a:rPr lang="en-US" dirty="0"/>
                        <a:t>Achieved through time-slicing on a single CPU/core.</a:t>
                      </a:r>
                      <a:endParaRPr lang="en-US" sz="1800" b="1" kern="1200" dirty="0">
                        <a:solidFill>
                          <a:schemeClr val="tx1"/>
                        </a:solidFill>
                        <a:latin typeface="+mn-lt"/>
                        <a:ea typeface="+mn-ea"/>
                        <a:cs typeface="+mn-cs"/>
                      </a:endParaRPr>
                    </a:p>
                  </a:txBody>
                  <a:tcPr anchor="ctr">
                    <a:solidFill>
                      <a:schemeClr val="bg2"/>
                    </a:solidFill>
                  </a:tcPr>
                </a:tc>
                <a:tc>
                  <a:txBody>
                    <a:bodyPr/>
                    <a:lstStyle/>
                    <a:p>
                      <a:pPr marL="0" algn="ctr" defTabSz="914400" rtl="0" eaLnBrk="1" latinLnBrk="0" hangingPunct="1"/>
                      <a:r>
                        <a:rPr lang="en-US" dirty="0"/>
                        <a:t>Achieved through multiple cores/CPUs running tasks truly in parallel.</a:t>
                      </a:r>
                      <a:endParaRPr lang="en-US" sz="1800" b="1" kern="1200" dirty="0">
                        <a:solidFill>
                          <a:schemeClr val="tx1"/>
                        </a:solidFill>
                        <a:latin typeface="+mn-lt"/>
                        <a:ea typeface="+mn-ea"/>
                        <a:cs typeface="+mn-cs"/>
                      </a:endParaRPr>
                    </a:p>
                  </a:txBody>
                  <a:tcPr anchor="ctr">
                    <a:solidFill>
                      <a:schemeClr val="bg2"/>
                    </a:solidFill>
                  </a:tcPr>
                </a:tc>
                <a:extLst>
                  <a:ext uri="{0D108BD9-81ED-4DB2-BD59-A6C34878D82A}">
                    <a16:rowId xmlns:a16="http://schemas.microsoft.com/office/drawing/2014/main" val="1350427353"/>
                  </a:ext>
                </a:extLst>
              </a:tr>
              <a:tr h="832312">
                <a:tc>
                  <a:txBody>
                    <a:bodyPr/>
                    <a:lstStyle/>
                    <a:p>
                      <a:pPr marL="0" algn="ctr" defTabSz="914400" rtl="0" eaLnBrk="1" latinLnBrk="0" hangingPunct="1"/>
                      <a:r>
                        <a:rPr lang="en-US" b="1" dirty="0"/>
                        <a:t>Example</a:t>
                      </a:r>
                      <a:endParaRPr lang="en-US" sz="1800" b="1" kern="1200" dirty="0">
                        <a:solidFill>
                          <a:schemeClr val="tx1"/>
                        </a:solidFill>
                        <a:latin typeface="+mn-lt"/>
                        <a:ea typeface="+mn-ea"/>
                        <a:cs typeface="+mn-cs"/>
                      </a:endParaRPr>
                    </a:p>
                  </a:txBody>
                  <a:tcPr anchor="ctr">
                    <a:solidFill>
                      <a:schemeClr val="bg2"/>
                    </a:solidFill>
                  </a:tcPr>
                </a:tc>
                <a:tc>
                  <a:txBody>
                    <a:bodyPr/>
                    <a:lstStyle/>
                    <a:p>
                      <a:pPr marL="0" algn="ctr" defTabSz="914400" rtl="0" eaLnBrk="1" latinLnBrk="0" hangingPunct="1"/>
                      <a:r>
                        <a:rPr lang="en-US" dirty="0"/>
                        <a:t>A web server handling thousands of requests by interleaving them.</a:t>
                      </a:r>
                      <a:endParaRPr lang="en-US" sz="1800" b="1" kern="1200" dirty="0">
                        <a:solidFill>
                          <a:schemeClr val="tx1"/>
                        </a:solidFill>
                        <a:latin typeface="+mn-lt"/>
                        <a:ea typeface="+mn-ea"/>
                        <a:cs typeface="+mn-cs"/>
                      </a:endParaRPr>
                    </a:p>
                  </a:txBody>
                  <a:tcPr anchor="ctr">
                    <a:solidFill>
                      <a:schemeClr val="bg2"/>
                    </a:solidFill>
                  </a:tcPr>
                </a:tc>
                <a:tc>
                  <a:txBody>
                    <a:bodyPr/>
                    <a:lstStyle/>
                    <a:p>
                      <a:pPr marL="0" algn="ctr" defTabSz="914400" rtl="0" eaLnBrk="1" latinLnBrk="0" hangingPunct="1"/>
                      <a:r>
                        <a:rPr lang="en-US" dirty="0"/>
                        <a:t>A machine learning algorithm splitting data across cores for faster training.</a:t>
                      </a:r>
                      <a:endParaRPr lang="en-US" sz="1800" b="1" kern="1200" dirty="0">
                        <a:solidFill>
                          <a:schemeClr val="tx1"/>
                        </a:solidFill>
                        <a:latin typeface="+mn-lt"/>
                        <a:ea typeface="+mn-ea"/>
                        <a:cs typeface="+mn-cs"/>
                      </a:endParaRPr>
                    </a:p>
                  </a:txBody>
                  <a:tcPr anchor="ctr">
                    <a:solidFill>
                      <a:schemeClr val="bg2"/>
                    </a:solidFill>
                  </a:tcPr>
                </a:tc>
                <a:extLst>
                  <a:ext uri="{0D108BD9-81ED-4DB2-BD59-A6C34878D82A}">
                    <a16:rowId xmlns:a16="http://schemas.microsoft.com/office/drawing/2014/main" val="3839612027"/>
                  </a:ext>
                </a:extLst>
              </a:tr>
            </a:tbl>
          </a:graphicData>
        </a:graphic>
      </p:graphicFrame>
    </p:spTree>
    <p:extLst>
      <p:ext uri="{BB962C8B-B14F-4D97-AF65-F5344CB8AC3E}">
        <p14:creationId xmlns:p14="http://schemas.microsoft.com/office/powerpoint/2010/main" val="15714700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82B4DD">
            <a:alpha val="10000"/>
          </a:srgbClr>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04C908-BB66-EF4A-4B85-1E169A3A8D64}"/>
              </a:ext>
            </a:extLst>
          </p:cNvPr>
          <p:cNvSpPr>
            <a:spLocks noGrp="1"/>
          </p:cNvSpPr>
          <p:nvPr>
            <p:ph type="title"/>
          </p:nvPr>
        </p:nvSpPr>
        <p:spPr>
          <a:xfrm>
            <a:off x="318008" y="108406"/>
            <a:ext cx="6123432" cy="1006518"/>
          </a:xfrm>
        </p:spPr>
        <p:txBody>
          <a:bodyPr anchor="b">
            <a:normAutofit/>
          </a:bodyPr>
          <a:lstStyle/>
          <a:p>
            <a:r>
              <a:rPr lang="en-US" dirty="0"/>
              <a:t>What’ll we do this time??</a:t>
            </a:r>
          </a:p>
        </p:txBody>
      </p:sp>
      <p:sp>
        <p:nvSpPr>
          <p:cNvPr id="3" name="Content Placeholder 2">
            <a:extLst>
              <a:ext uri="{FF2B5EF4-FFF2-40B4-BE49-F238E27FC236}">
                <a16:creationId xmlns:a16="http://schemas.microsoft.com/office/drawing/2014/main" id="{A9F9BCBA-4689-EA24-F12F-81EC2D5D80D5}"/>
              </a:ext>
            </a:extLst>
          </p:cNvPr>
          <p:cNvSpPr>
            <a:spLocks noGrp="1"/>
          </p:cNvSpPr>
          <p:nvPr>
            <p:ph idx="1"/>
          </p:nvPr>
        </p:nvSpPr>
        <p:spPr>
          <a:xfrm>
            <a:off x="318008" y="1584960"/>
            <a:ext cx="5384800" cy="2631440"/>
          </a:xfrm>
        </p:spPr>
        <p:txBody>
          <a:bodyPr>
            <a:normAutofit/>
          </a:bodyPr>
          <a:lstStyle/>
          <a:p>
            <a:pPr>
              <a:lnSpc>
                <a:spcPct val="110000"/>
              </a:lnSpc>
            </a:pPr>
            <a:r>
              <a:rPr lang="en-US" sz="1500" dirty="0"/>
              <a:t>We’ll use OpenMP with C++ as our language and library to implement concepts.</a:t>
            </a:r>
          </a:p>
          <a:p>
            <a:pPr>
              <a:lnSpc>
                <a:spcPct val="110000"/>
              </a:lnSpc>
            </a:pPr>
            <a:r>
              <a:rPr lang="en-US" sz="1500" dirty="0"/>
              <a:t>OpenMP :</a:t>
            </a:r>
          </a:p>
          <a:p>
            <a:pPr marL="457200" indent="-457200">
              <a:lnSpc>
                <a:spcPct val="110000"/>
              </a:lnSpc>
              <a:buFont typeface="+mj-lt"/>
              <a:buAutoNum type="arabicPeriod"/>
            </a:pPr>
            <a:r>
              <a:rPr lang="en-US" sz="1500" dirty="0"/>
              <a:t> Is an API for writing multithreaded applications.</a:t>
            </a:r>
          </a:p>
          <a:p>
            <a:pPr marL="457200" indent="-457200">
              <a:lnSpc>
                <a:spcPct val="110000"/>
              </a:lnSpc>
              <a:buFont typeface="+mj-lt"/>
              <a:buAutoNum type="arabicPeriod"/>
            </a:pPr>
            <a:r>
              <a:rPr lang="en-US" sz="1500" dirty="0"/>
              <a:t>A set of compiler directives and library routines for parallel application programmer.</a:t>
            </a:r>
          </a:p>
          <a:p>
            <a:pPr marL="457200" indent="-457200">
              <a:lnSpc>
                <a:spcPct val="110000"/>
              </a:lnSpc>
              <a:buFont typeface="+mj-lt"/>
              <a:buAutoNum type="arabicPeriod"/>
            </a:pPr>
            <a:r>
              <a:rPr lang="en-US" sz="1500" dirty="0"/>
              <a:t>Greatly simplifies writing multithreaded programs in C, C++ and Fortran.</a:t>
            </a:r>
          </a:p>
        </p:txBody>
      </p:sp>
      <p:pic>
        <p:nvPicPr>
          <p:cNvPr id="5" name="Picture 4">
            <a:extLst>
              <a:ext uri="{FF2B5EF4-FFF2-40B4-BE49-F238E27FC236}">
                <a16:creationId xmlns:a16="http://schemas.microsoft.com/office/drawing/2014/main" id="{783C8E8E-B22C-C363-E82B-E8E3C4E5E3DE}"/>
              </a:ext>
            </a:extLst>
          </p:cNvPr>
          <p:cNvPicPr>
            <a:picLocks noChangeAspect="1"/>
          </p:cNvPicPr>
          <p:nvPr/>
        </p:nvPicPr>
        <p:blipFill>
          <a:blip r:embed="rId3">
            <a:extLst>
              <a:ext uri="{28A0092B-C50C-407E-A947-70E740481C1C}">
                <a14:useLocalDpi xmlns:a14="http://schemas.microsoft.com/office/drawing/2010/main" val="0"/>
              </a:ext>
            </a:extLst>
          </a:blip>
          <a:srcRect l="10666" t="6667" r="16250" b="11999"/>
          <a:stretch>
            <a:fillRect/>
          </a:stretch>
        </p:blipFill>
        <p:spPr>
          <a:xfrm>
            <a:off x="6096000" y="1513840"/>
            <a:ext cx="5837780" cy="3921760"/>
          </a:xfrm>
          <a:prstGeom prst="rect">
            <a:avLst/>
          </a:prstGeom>
        </p:spPr>
      </p:pic>
      <p:sp>
        <p:nvSpPr>
          <p:cNvPr id="6" name="Content Placeholder 2">
            <a:extLst>
              <a:ext uri="{FF2B5EF4-FFF2-40B4-BE49-F238E27FC236}">
                <a16:creationId xmlns:a16="http://schemas.microsoft.com/office/drawing/2014/main" id="{03A89B29-C9E5-617F-FB8F-30B9F28C98A5}"/>
              </a:ext>
            </a:extLst>
          </p:cNvPr>
          <p:cNvSpPr txBox="1">
            <a:spLocks/>
          </p:cNvSpPr>
          <p:nvPr/>
        </p:nvSpPr>
        <p:spPr>
          <a:xfrm>
            <a:off x="452980" y="4521200"/>
            <a:ext cx="5384800" cy="751840"/>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We’ll use visual studio as our IDE.</a:t>
            </a:r>
          </a:p>
          <a:p>
            <a:r>
              <a:rPr lang="en-US" sz="1400" dirty="0"/>
              <a:t>First , let’s run code in ubuntu</a:t>
            </a:r>
          </a:p>
        </p:txBody>
      </p:sp>
    </p:spTree>
    <p:extLst>
      <p:ext uri="{BB962C8B-B14F-4D97-AF65-F5344CB8AC3E}">
        <p14:creationId xmlns:p14="http://schemas.microsoft.com/office/powerpoint/2010/main" val="24774990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CD836-F450-687A-58D0-431454AF66CE}"/>
              </a:ext>
            </a:extLst>
          </p:cNvPr>
          <p:cNvSpPr>
            <a:spLocks noGrp="1"/>
          </p:cNvSpPr>
          <p:nvPr>
            <p:ph type="title"/>
          </p:nvPr>
        </p:nvSpPr>
        <p:spPr/>
        <p:txBody>
          <a:bodyPr/>
          <a:lstStyle/>
          <a:p>
            <a:r>
              <a:rPr lang="en-US"/>
              <a:t>Ubuntu set up</a:t>
            </a:r>
            <a:endParaRPr lang="en-US" dirty="0"/>
          </a:p>
        </p:txBody>
      </p:sp>
      <p:sp>
        <p:nvSpPr>
          <p:cNvPr id="3" name="Content Placeholder 2">
            <a:extLst>
              <a:ext uri="{FF2B5EF4-FFF2-40B4-BE49-F238E27FC236}">
                <a16:creationId xmlns:a16="http://schemas.microsoft.com/office/drawing/2014/main" id="{7A6C4086-3514-0559-4F97-8968AC44E3ED}"/>
              </a:ext>
            </a:extLst>
          </p:cNvPr>
          <p:cNvSpPr>
            <a:spLocks noGrp="1"/>
          </p:cNvSpPr>
          <p:nvPr>
            <p:ph idx="1"/>
          </p:nvPr>
        </p:nvSpPr>
        <p:spPr/>
        <p:txBody>
          <a:bodyPr>
            <a:normAutofit fontScale="92500" lnSpcReduction="20000"/>
          </a:bodyPr>
          <a:lstStyle/>
          <a:p>
            <a:pPr marL="457200" indent="-457200">
              <a:buFont typeface="+mj-lt"/>
              <a:buAutoNum type="arabicPeriod"/>
            </a:pPr>
            <a:r>
              <a:rPr lang="en-US" dirty="0"/>
              <a:t>Run power shell as administrator</a:t>
            </a:r>
          </a:p>
          <a:p>
            <a:pPr marL="457200" indent="-457200">
              <a:buFont typeface="+mj-lt"/>
              <a:buAutoNum type="arabicPeriod"/>
            </a:pPr>
            <a:r>
              <a:rPr lang="en-US" dirty="0"/>
              <a:t>Write : </a:t>
            </a:r>
            <a:r>
              <a:rPr lang="en-US" dirty="0" err="1">
                <a:solidFill>
                  <a:srgbClr val="FF0000"/>
                </a:solidFill>
              </a:rPr>
              <a:t>wsl</a:t>
            </a:r>
            <a:r>
              <a:rPr lang="en-US" dirty="0">
                <a:solidFill>
                  <a:srgbClr val="FF0000"/>
                </a:solidFill>
              </a:rPr>
              <a:t> –install</a:t>
            </a:r>
          </a:p>
          <a:p>
            <a:pPr marL="457200" indent="-457200">
              <a:buFont typeface="+mj-lt"/>
              <a:buAutoNum type="arabicPeriod"/>
            </a:pPr>
            <a:r>
              <a:rPr lang="en-US" dirty="0"/>
              <a:t>Search about ubuntu and choose it</a:t>
            </a:r>
          </a:p>
          <a:p>
            <a:pPr marL="457200" indent="-457200">
              <a:buFont typeface="+mj-lt"/>
              <a:buAutoNum type="arabicPeriod"/>
            </a:pPr>
            <a:r>
              <a:rPr lang="en-US" dirty="0"/>
              <a:t>Write on </a:t>
            </a:r>
            <a:r>
              <a:rPr lang="en-US" dirty="0" err="1"/>
              <a:t>cmd</a:t>
            </a:r>
            <a:r>
              <a:rPr lang="en-US" dirty="0"/>
              <a:t> : </a:t>
            </a:r>
            <a:r>
              <a:rPr lang="en-US" dirty="0" err="1">
                <a:solidFill>
                  <a:srgbClr val="FF0000"/>
                </a:solidFill>
              </a:rPr>
              <a:t>sudo</a:t>
            </a:r>
            <a:r>
              <a:rPr lang="en-US" dirty="0">
                <a:solidFill>
                  <a:srgbClr val="FF0000"/>
                </a:solidFill>
              </a:rPr>
              <a:t> apt-get update</a:t>
            </a:r>
          </a:p>
          <a:p>
            <a:pPr marL="457200" indent="-457200">
              <a:buFont typeface="+mj-lt"/>
              <a:buAutoNum type="arabicPeriod"/>
            </a:pPr>
            <a:r>
              <a:rPr lang="en-US" dirty="0"/>
              <a:t>Write : </a:t>
            </a:r>
            <a:r>
              <a:rPr lang="en-US" dirty="0" err="1">
                <a:solidFill>
                  <a:srgbClr val="FF0000"/>
                </a:solidFill>
              </a:rPr>
              <a:t>sudo</a:t>
            </a:r>
            <a:r>
              <a:rPr lang="en-US" dirty="0">
                <a:solidFill>
                  <a:srgbClr val="FF0000"/>
                </a:solidFill>
              </a:rPr>
              <a:t> apt install build-essential</a:t>
            </a:r>
          </a:p>
          <a:p>
            <a:pPr marL="457200" indent="-457200">
              <a:buFont typeface="+mj-lt"/>
              <a:buAutoNum type="arabicPeriod"/>
            </a:pPr>
            <a:r>
              <a:rPr lang="en-US" dirty="0"/>
              <a:t>Create project folder : </a:t>
            </a:r>
            <a:r>
              <a:rPr lang="en-US" dirty="0" err="1">
                <a:solidFill>
                  <a:srgbClr val="FF0000"/>
                </a:solidFill>
              </a:rPr>
              <a:t>mkdir</a:t>
            </a:r>
            <a:r>
              <a:rPr lang="en-US" dirty="0">
                <a:solidFill>
                  <a:srgbClr val="FF0000"/>
                </a:solidFill>
              </a:rPr>
              <a:t> [</a:t>
            </a:r>
            <a:r>
              <a:rPr lang="en-US" dirty="0" err="1">
                <a:solidFill>
                  <a:srgbClr val="FF0000"/>
                </a:solidFill>
              </a:rPr>
              <a:t>proj</a:t>
            </a:r>
            <a:r>
              <a:rPr lang="en-US" dirty="0">
                <a:solidFill>
                  <a:srgbClr val="FF0000"/>
                </a:solidFill>
              </a:rPr>
              <a:t> name]</a:t>
            </a:r>
          </a:p>
          <a:p>
            <a:pPr marL="457200" indent="-457200">
              <a:buFont typeface="+mj-lt"/>
              <a:buAutoNum type="arabicPeriod"/>
            </a:pPr>
            <a:r>
              <a:rPr lang="en-US" dirty="0"/>
              <a:t>Go to this folder : </a:t>
            </a:r>
            <a:r>
              <a:rPr lang="en-US" dirty="0">
                <a:solidFill>
                  <a:srgbClr val="FF0000"/>
                </a:solidFill>
              </a:rPr>
              <a:t>cd [</a:t>
            </a:r>
            <a:r>
              <a:rPr lang="en-US" dirty="0" err="1">
                <a:solidFill>
                  <a:srgbClr val="FF0000"/>
                </a:solidFill>
              </a:rPr>
              <a:t>proj</a:t>
            </a:r>
            <a:r>
              <a:rPr lang="en-US" dirty="0">
                <a:solidFill>
                  <a:srgbClr val="FF0000"/>
                </a:solidFill>
              </a:rPr>
              <a:t> name]</a:t>
            </a:r>
          </a:p>
          <a:p>
            <a:pPr marL="457200" indent="-457200">
              <a:buFont typeface="+mj-lt"/>
              <a:buAutoNum type="arabicPeriod"/>
            </a:pPr>
            <a:r>
              <a:rPr lang="en-US" dirty="0"/>
              <a:t>Create a file with .</a:t>
            </a:r>
            <a:r>
              <a:rPr lang="en-US" dirty="0" err="1"/>
              <a:t>cpp</a:t>
            </a:r>
            <a:r>
              <a:rPr lang="en-US" dirty="0"/>
              <a:t> : </a:t>
            </a:r>
            <a:r>
              <a:rPr lang="en-US" dirty="0">
                <a:solidFill>
                  <a:srgbClr val="FF0000"/>
                </a:solidFill>
              </a:rPr>
              <a:t>touch [file name .</a:t>
            </a:r>
            <a:r>
              <a:rPr lang="en-US" dirty="0" err="1">
                <a:solidFill>
                  <a:srgbClr val="FF0000"/>
                </a:solidFill>
              </a:rPr>
              <a:t>cpp</a:t>
            </a:r>
            <a:r>
              <a:rPr lang="en-US" dirty="0">
                <a:solidFill>
                  <a:srgbClr val="FF0000"/>
                </a:solidFill>
              </a:rPr>
              <a:t>]</a:t>
            </a:r>
          </a:p>
          <a:p>
            <a:pPr marL="457200" indent="-457200">
              <a:buFont typeface="+mj-lt"/>
              <a:buAutoNum type="arabicPeriod"/>
            </a:pPr>
            <a:r>
              <a:rPr lang="en-US" dirty="0"/>
              <a:t>Open it and write your code : </a:t>
            </a:r>
            <a:r>
              <a:rPr lang="en-US" dirty="0">
                <a:solidFill>
                  <a:srgbClr val="FF0000"/>
                </a:solidFill>
              </a:rPr>
              <a:t>nano [file name .</a:t>
            </a:r>
            <a:r>
              <a:rPr lang="en-US" dirty="0" err="1">
                <a:solidFill>
                  <a:srgbClr val="FF0000"/>
                </a:solidFill>
              </a:rPr>
              <a:t>cpp</a:t>
            </a:r>
            <a:r>
              <a:rPr lang="en-US" dirty="0">
                <a:solidFill>
                  <a:srgbClr val="FF0000"/>
                </a:solidFill>
              </a:rPr>
              <a:t>]</a:t>
            </a:r>
          </a:p>
          <a:p>
            <a:pPr marL="457200" indent="-457200">
              <a:buFont typeface="+mj-lt"/>
              <a:buAutoNum type="arabicPeriod"/>
            </a:pPr>
            <a:r>
              <a:rPr lang="en-US" dirty="0"/>
              <a:t>Debug file : </a:t>
            </a:r>
            <a:r>
              <a:rPr lang="en-US" dirty="0">
                <a:solidFill>
                  <a:srgbClr val="FF0000"/>
                </a:solidFill>
              </a:rPr>
              <a:t>g++ -o [debug file name] [filename.cpp] –Wall</a:t>
            </a:r>
          </a:p>
          <a:p>
            <a:pPr marL="457200" indent="-457200">
              <a:buFont typeface="+mj-lt"/>
              <a:buAutoNum type="arabicPeriod"/>
            </a:pPr>
            <a:r>
              <a:rPr lang="en-US" dirty="0"/>
              <a:t>Run one process  : </a:t>
            </a:r>
            <a:r>
              <a:rPr lang="en-US" dirty="0">
                <a:solidFill>
                  <a:srgbClr val="FF0000"/>
                </a:solidFill>
              </a:rPr>
              <a:t>./[</a:t>
            </a:r>
            <a:r>
              <a:rPr lang="en-US" dirty="0" err="1">
                <a:solidFill>
                  <a:srgbClr val="FF0000"/>
                </a:solidFill>
              </a:rPr>
              <a:t>depug</a:t>
            </a:r>
            <a:r>
              <a:rPr lang="en-US" dirty="0">
                <a:solidFill>
                  <a:srgbClr val="FF0000"/>
                </a:solidFill>
              </a:rPr>
              <a:t> file name] input</a:t>
            </a:r>
          </a:p>
        </p:txBody>
      </p:sp>
    </p:spTree>
    <p:extLst>
      <p:ext uri="{BB962C8B-B14F-4D97-AF65-F5344CB8AC3E}">
        <p14:creationId xmlns:p14="http://schemas.microsoft.com/office/powerpoint/2010/main" val="39615600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58519-356C-06EB-C0B5-835C666BE3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1027D4-F28D-DC99-83CE-588737883339}"/>
              </a:ext>
            </a:extLst>
          </p:cNvPr>
          <p:cNvSpPr>
            <a:spLocks noGrp="1"/>
          </p:cNvSpPr>
          <p:nvPr>
            <p:ph type="title"/>
          </p:nvPr>
        </p:nvSpPr>
        <p:spPr>
          <a:xfrm>
            <a:off x="500888" y="110920"/>
            <a:ext cx="10653578" cy="1132258"/>
          </a:xfrm>
        </p:spPr>
        <p:txBody>
          <a:bodyPr/>
          <a:lstStyle/>
          <a:p>
            <a:r>
              <a:rPr lang="en-US" dirty="0"/>
              <a:t>Ubuntu set up</a:t>
            </a:r>
          </a:p>
        </p:txBody>
      </p:sp>
      <p:sp>
        <p:nvSpPr>
          <p:cNvPr id="6" name="TextBox 5">
            <a:extLst>
              <a:ext uri="{FF2B5EF4-FFF2-40B4-BE49-F238E27FC236}">
                <a16:creationId xmlns:a16="http://schemas.microsoft.com/office/drawing/2014/main" id="{7BDD9E1C-C2BF-B25B-69D1-B046C173439E}"/>
              </a:ext>
            </a:extLst>
          </p:cNvPr>
          <p:cNvSpPr txBox="1"/>
          <p:nvPr/>
        </p:nvSpPr>
        <p:spPr>
          <a:xfrm>
            <a:off x="579120" y="677049"/>
            <a:ext cx="10444480" cy="6186309"/>
          </a:xfrm>
          <a:prstGeom prst="rect">
            <a:avLst/>
          </a:prstGeom>
          <a:noFill/>
        </p:spPr>
        <p:txBody>
          <a:bodyPr wrap="square" rtlCol="0">
            <a:spAutoFit/>
          </a:bodyPr>
          <a:lstStyle/>
          <a:p>
            <a:r>
              <a:rPr lang="en-US" dirty="0"/>
              <a:t>#include&lt;iostream&gt;</a:t>
            </a:r>
          </a:p>
          <a:p>
            <a:r>
              <a:rPr lang="en-US" dirty="0"/>
              <a:t>#include&lt;omp.h&gt;</a:t>
            </a:r>
          </a:p>
          <a:p>
            <a:r>
              <a:rPr lang="en-US" dirty="0"/>
              <a:t>#include "</a:t>
            </a:r>
            <a:r>
              <a:rPr lang="en-US" dirty="0" err="1"/>
              <a:t>common.h</a:t>
            </a:r>
            <a:r>
              <a:rPr lang="en-US" dirty="0"/>
              <a:t>"</a:t>
            </a:r>
          </a:p>
          <a:p>
            <a:r>
              <a:rPr lang="en-US" dirty="0"/>
              <a:t>using namespace std;</a:t>
            </a:r>
          </a:p>
          <a:p>
            <a:endParaRPr lang="en-US" dirty="0"/>
          </a:p>
          <a:p>
            <a:r>
              <a:rPr lang="en-US" dirty="0"/>
              <a:t>int main(int </a:t>
            </a:r>
            <a:r>
              <a:rPr lang="en-US" dirty="0" err="1"/>
              <a:t>argc,char</a:t>
            </a:r>
            <a:r>
              <a:rPr lang="en-US" dirty="0"/>
              <a:t>*</a:t>
            </a:r>
            <a:r>
              <a:rPr lang="en-US" dirty="0" err="1"/>
              <a:t>argv</a:t>
            </a:r>
            <a:r>
              <a:rPr lang="en-US" dirty="0"/>
              <a:t>[])</a:t>
            </a:r>
          </a:p>
          <a:p>
            <a:r>
              <a:rPr lang="en-US" dirty="0"/>
              <a:t>{</a:t>
            </a:r>
          </a:p>
          <a:p>
            <a:r>
              <a:rPr lang="en-US" dirty="0"/>
              <a:t>char*</a:t>
            </a:r>
            <a:r>
              <a:rPr lang="en-US" dirty="0" err="1"/>
              <a:t>ch</a:t>
            </a:r>
            <a:r>
              <a:rPr lang="en-US" dirty="0"/>
              <a:t>=</a:t>
            </a:r>
            <a:r>
              <a:rPr lang="en-US" dirty="0" err="1"/>
              <a:t>argv</a:t>
            </a:r>
            <a:r>
              <a:rPr lang="en-US" dirty="0"/>
              <a:t>[1];</a:t>
            </a:r>
          </a:p>
          <a:p>
            <a:r>
              <a:rPr lang="en-US" dirty="0"/>
              <a:t>int total=0;</a:t>
            </a:r>
          </a:p>
          <a:p>
            <a:r>
              <a:rPr lang="en-US" dirty="0"/>
              <a:t>#pragma </a:t>
            </a:r>
            <a:r>
              <a:rPr lang="en-US" dirty="0" err="1"/>
              <a:t>omp</a:t>
            </a:r>
            <a:r>
              <a:rPr lang="en-US" dirty="0"/>
              <a:t> parallel</a:t>
            </a:r>
          </a:p>
          <a:p>
            <a:r>
              <a:rPr lang="en-US" dirty="0"/>
              <a:t>{</a:t>
            </a:r>
          </a:p>
          <a:p>
            <a:r>
              <a:rPr lang="en-US" dirty="0"/>
              <a:t>int id=</a:t>
            </a:r>
            <a:r>
              <a:rPr lang="en-US" dirty="0" err="1"/>
              <a:t>omp_get_thread_num</a:t>
            </a:r>
            <a:r>
              <a:rPr lang="en-US" dirty="0"/>
              <a:t>();</a:t>
            </a:r>
          </a:p>
          <a:p>
            <a:r>
              <a:rPr lang="en-US" dirty="0"/>
              <a:t>total=</a:t>
            </a:r>
            <a:r>
              <a:rPr lang="en-US" dirty="0" err="1"/>
              <a:t>omp_get_num_threads</a:t>
            </a:r>
            <a:r>
              <a:rPr lang="en-US" dirty="0"/>
              <a:t>();</a:t>
            </a:r>
          </a:p>
          <a:p>
            <a:r>
              <a:rPr lang="en-US" dirty="0"/>
              <a:t>while(1)</a:t>
            </a:r>
          </a:p>
          <a:p>
            <a:r>
              <a:rPr lang="en-US" dirty="0"/>
              <a:t>{</a:t>
            </a:r>
            <a:r>
              <a:rPr lang="en-US" dirty="0" err="1"/>
              <a:t>cout</a:t>
            </a:r>
            <a:r>
              <a:rPr lang="en-US" dirty="0"/>
              <a:t>&lt;&lt;"Thread name : "&lt;&lt;</a:t>
            </a:r>
            <a:r>
              <a:rPr lang="en-US" dirty="0" err="1"/>
              <a:t>ch</a:t>
            </a:r>
            <a:r>
              <a:rPr lang="en-US" dirty="0"/>
              <a:t>&lt;&lt;" , Thread ID : "&lt;&lt;id&lt;&lt;</a:t>
            </a:r>
            <a:r>
              <a:rPr lang="en-US" dirty="0" err="1"/>
              <a:t>endl</a:t>
            </a:r>
            <a:r>
              <a:rPr lang="en-US" dirty="0"/>
              <a:t>;</a:t>
            </a:r>
          </a:p>
          <a:p>
            <a:r>
              <a:rPr lang="en-US" dirty="0"/>
              <a:t>Spin(2);</a:t>
            </a:r>
          </a:p>
          <a:p>
            <a:r>
              <a:rPr lang="en-US" dirty="0" err="1"/>
              <a:t>cout</a:t>
            </a:r>
            <a:r>
              <a:rPr lang="en-US" dirty="0"/>
              <a:t>&lt;&lt;"Total running threads : "&lt;&lt;total&lt;&lt;</a:t>
            </a:r>
            <a:r>
              <a:rPr lang="en-US" dirty="0" err="1"/>
              <a:t>endl</a:t>
            </a:r>
            <a:r>
              <a:rPr lang="en-US" dirty="0"/>
              <a:t>;</a:t>
            </a:r>
          </a:p>
          <a:p>
            <a:r>
              <a:rPr lang="en-US" dirty="0"/>
              <a:t>}</a:t>
            </a:r>
          </a:p>
          <a:p>
            <a:r>
              <a:rPr lang="en-US" dirty="0"/>
              <a:t>}</a:t>
            </a:r>
          </a:p>
          <a:p>
            <a:endParaRPr lang="en-US" dirty="0"/>
          </a:p>
          <a:p>
            <a:r>
              <a:rPr lang="en-US" dirty="0"/>
              <a:t>return 0;</a:t>
            </a:r>
          </a:p>
          <a:p>
            <a:r>
              <a:rPr lang="en-US" dirty="0"/>
              <a:t>}</a:t>
            </a:r>
          </a:p>
        </p:txBody>
      </p:sp>
    </p:spTree>
    <p:extLst>
      <p:ext uri="{BB962C8B-B14F-4D97-AF65-F5344CB8AC3E}">
        <p14:creationId xmlns:p14="http://schemas.microsoft.com/office/powerpoint/2010/main" val="445808534"/>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868</TotalTime>
  <Words>1364</Words>
  <Application>Microsoft Office PowerPoint</Application>
  <PresentationFormat>Widescreen</PresentationFormat>
  <Paragraphs>148</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Aptos</vt:lpstr>
      <vt:lpstr>Arial</vt:lpstr>
      <vt:lpstr>Cambria Math</vt:lpstr>
      <vt:lpstr>Grandview</vt:lpstr>
      <vt:lpstr>Neue Haas Grotesk Text Pro</vt:lpstr>
      <vt:lpstr>Wingdings</vt:lpstr>
      <vt:lpstr>VanillaVTI</vt:lpstr>
      <vt:lpstr>Parallel computing</vt:lpstr>
      <vt:lpstr>Moore’s law  the number of transistors on a chip roughly doubles every two years, driving exponential growth in computing power and efficiency.</vt:lpstr>
      <vt:lpstr>Performance vs Power in Moore’s law  Ed-grchowski research</vt:lpstr>
      <vt:lpstr>Performance vs Power in Moore’s law  Ed-grchowski research</vt:lpstr>
      <vt:lpstr>Parallel computing Is a computational approach where large problems are divided into smaller tasks that are solved simultaneously by multiple processors.</vt:lpstr>
      <vt:lpstr>Processor vs core vs thread</vt:lpstr>
      <vt:lpstr>Core vs Threads</vt:lpstr>
      <vt:lpstr>How They Work Together</vt:lpstr>
      <vt:lpstr>Scheduling Hierarchy</vt:lpstr>
      <vt:lpstr>Concurrency  vs Parallelism</vt:lpstr>
      <vt:lpstr>Concurrent application vs Parallel application</vt:lpstr>
      <vt:lpstr>What’ll we do this time??</vt:lpstr>
      <vt:lpstr>Ubuntu set up</vt:lpstr>
      <vt:lpstr>Ubuntu set 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Mariam Malak</dc:creator>
  <cp:lastModifiedBy>Mariam Malak</cp:lastModifiedBy>
  <cp:revision>8</cp:revision>
  <dcterms:created xsi:type="dcterms:W3CDTF">2026-02-12T13:52:08Z</dcterms:created>
  <dcterms:modified xsi:type="dcterms:W3CDTF">2026-02-23T08:57:59Z</dcterms:modified>
</cp:coreProperties>
</file>