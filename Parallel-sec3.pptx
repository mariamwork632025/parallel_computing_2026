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4"/>
  </p:notesMasterIdLst>
  <p:sldIdLst>
    <p:sldId id="256" r:id="rId2"/>
    <p:sldId id="278" r:id="rId3"/>
    <p:sldId id="279" r:id="rId4"/>
    <p:sldId id="259" r:id="rId5"/>
    <p:sldId id="260" r:id="rId6"/>
    <p:sldId id="263" r:id="rId7"/>
    <p:sldId id="261" r:id="rId8"/>
    <p:sldId id="280" r:id="rId9"/>
    <p:sldId id="281" r:id="rId10"/>
    <p:sldId id="282" r:id="rId11"/>
    <p:sldId id="283" r:id="rId12"/>
    <p:sldId id="27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B4DD"/>
    <a:srgbClr val="0171C2"/>
    <a:srgbClr val="2772B7"/>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922" autoAdjust="0"/>
  </p:normalViewPr>
  <p:slideViewPr>
    <p:cSldViewPr snapToGrid="0">
      <p:cViewPr varScale="1">
        <p:scale>
          <a:sx n="71" d="100"/>
          <a:sy n="71" d="100"/>
        </p:scale>
        <p:origin x="113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2T14:41:50.796"/>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667 345,'-2'0,"1"-1,-1 0,1 0,-1 1,1-1,-1 0,1 0,0 0,0 0,-1-1,-1-1,-7-6,-29-16,6 4,-47-38,63 44,3 1,-1 1,-1 0,0 1,0 1,-1 0,-1 1,0 1,-26-10,31 16,1-1,0 0,0-1,1-1,-1 0,1 0,0-1,-11-9,16 11,0 1,-1 0,0 0,0 1,0-1,-8-1,13 4,1 1,0-1,0 1,-1-1,1 1,0-1,-1 1,1 0,0 0,-1 0,1 0,-1 0,1 0,0 0,-1 0,1 1,0-1,-1 0,1 1,0-1,0 1,-1-1,1 1,0 0,0 0,0-1,0 1,0 0,0 0,0 0,0 0,0 0,0 0,0 1,1-1,-1 0,0 0,1 1,-1-1,1 2,-2 11,1 1,0 0,1 0,1-1,4 24,1 13,-5-32,-1-3,1 1,1-1,1 0,5 19,-6-29,0-1,0 0,1 0,0-1,-1 1,2 0,-1-1,0 0,1 1,0-1,0-1,0 1,1-1,-1 1,1-1,7 4,58 33,-56-30,1-1,0 0,0-1,1-1,0 0,0-1,20 4,-12-6,-13-3,-29-1,-10 2,-1 0,1 2,0 2,0 0,-40 15,27-8,-59 11,53-18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2T14:41:52.61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86 99,'256'0,"-284"0,1-1,0-1,0-1,1-2,-1-1,1 0,0-2,0-1,1-2,-39-21,52 20,12 12,0 0,0 0,0 0,0 0,0-1,0 1,0 0,0 0,0 0,0-1,0 1,0 0,0 0,1 0,-1 0,0 0,0-1,0 1,0 0,0 0,1 0,-1 0,0 0,0 0,0 0,0 0,1 0,-1-1,0 1,0 0,0 0,1 0,-1 0,0 0,0 0,0 0,0 0,1 0,-1 0,0 0,0 1,2-1,0 0,0 0,0 0,0 1,0-1,0 1,0 0,-1-1,1 1,0 0,0 0,-1 0,1 0,1 2,82 84,-62-64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2T14:41:58.348"/>
    </inkml:context>
    <inkml:brush xml:id="br0">
      <inkml:brushProperty name="width" value="0.3" units="cm"/>
      <inkml:brushProperty name="height" value="0.6" units="cm"/>
      <inkml:brushProperty name="color" value="#FFFFFF"/>
      <inkml:brushProperty name="tip" value="rectangle"/>
      <inkml:brushProperty name="rasterOp" value="maskPen"/>
      <inkml:brushProperty name="ignorePressure" value="1"/>
    </inkml:brush>
  </inkml:definitions>
  <inkml:trace contextRef="#ctx0" brushRef="#br0">3174 1,'326'215,"-282"-186,2-3,1-1,69 25,146 38,-256-86,39 13,-29-5,-17-9,-1 0,1-1,0 1,-1-1,1 1,0-1,-1 1,1-1,-1 0,1 0,-1 0,1 0,-1 0,-1 0,-171 3,95-4,-183 0,-91 0,-85 0,-1832-1,2021 3,92 5,147-5,0 1,1-1,-1 2,-13 4,22-7,0 1,0-1,0 1,0-1,1 0,-1 1,0 0,0-1,1 1,-1 0,0-1,1 1,-1 0,0 0,1-1,-1 1,1 0,0 0,-1 0,0 1,2-1,-1 0,0 0,0 0,0 1,1-1,-1 0,0 0,1 0,-1 0,1 0,0 0,-1 0,1 0,0 0,0 0,-1 0,1-1,0 1,0 0,2 1,9 7,0-1,1 0,0-1,21 9,67 21,6-4,2-6,119 15,229 5,1136-19,-1562-29,-20 0,0 0,0 1,0 1,0 0,0 0,16 4,-25-4,0 0,0-1,0 1,-1 0,1 0,0 0,0 1,0-1,-1 0,1 1,-1-1,1 1,-1-1,0 1,1 0,-1 0,0 0,0-1,1 4,-1-1,0-1,-1 1,1-1,-1 1,0 0,1-1,-2 1,1-1,0 1,-2 5,-1 2,-1 0,0-1,0 0,-1 0,0 0,-9 13,1-7,-1 0,0 0,-1-2,-1 0,0 0,-1-2,0 0,-1-1,-1 0,1-2,-1 0,-25 7,-12 1,-2-3,1-2,-62 5,93-14,14 0,0-1,-1-1,1 0,0 0,0-1,-1-1,1 0,-18-5,29 6,1 0,-1 0,1 0,-1 0,1-1,0 1,-1 0,1 0,-1-1,1 1,0 0,-1 0,1-1,0 1,-1 0,1-1,0 1,-1-1,1 1,0 0,0-1,0 1,-1-1,1 1,0-1,0 1,0 0,0-1,0 1,0-1,0 1,0-1,0 1,0-1,0 1,0-1,0 1,0-1,0 1,0 0,1-1,-1 1,0-1,0 1,1-1,-1 1,0 0,0-1,1 1,-1 0,1-1,10-10,0 1,1 0,0 1,0 0,1 1,0 0,17-6,-19 8,82-40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2T14:42:08.08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995 1219,'-741'0,"731"0,-27 1,36-1,-1 1,0-1,1 0,-1 1,0-1,1 1,-1 0,1-1,-1 1,1 0,-1 0,1 0,0 0,-1 0,1 0,0 0,-2 3,3-4,-1 1,1 0,0-1,0 1,0 0,0-1,0 1,-1 0,1-1,0 1,1 0,-1-1,0 1,0 0,0-1,0 1,0 0,1-1,-1 1,0 0,0-1,1 1,-1-1,1 1,-1-1,0 1,1-1,-1 1,1-1,-1 1,1-1,0 1,-1-1,1 0,-1 1,1-1,0 0,-1 0,1 1,0-1,31 10,3-5,-1-1,64-2,-60-2,1 1,50 9,-7-1,137-1,-192-8,-637-1,673 2,81-2,-136-1,0 0,0 0,0-1,-1 0,1 0,-1-1,0 0,0 0,0-1,7-5,-7 4,1 0,0 1,0 0,1 1,0 0,12-4,-17 7,-1 0,0 1,1 0,-1 0,1 0,-1 0,0 1,1-1,-1 1,0 0,1 0,-1 0,0 0,0 0,0 1,0 0,0-1,0 1,0 0,-1 1,1-1,3 4,-1 1,1-1,-2 1,1 0,-1 0,0 0,0 0,-1 1,0 0,0 0,-1 0,0 0,1 11,0 4,-1 0,-2 0,-2 31,0-34,-1 0,-1 0,-1 0,-1-1,-1 0,-11 22,-64 107,50-97,-3 0,-2-3,-2 0,-2-3,-2-2,-2-1,-2-2,-63 41,97-73,0 1,-1-2,0 0,0-1,0 0,-28 6,39-11,1-1,0 0,-1 0,1 0,0 0,-1 0,1-1,0 1,-1-1,1 1,0-1,0 0,-1 0,1 0,0 0,0 0,0 0,0-1,0 1,1-1,-1 0,0 1,1-1,-1 0,1 0,-1 0,1 0,0 0,0 0,-1-4,-3-6,2 1,0-1,0 0,-1-21,4 32,-7-103,10-145,0 146,28-562,-29 623,3-27,-4 64,0 1,0-1,1 1,-1-1,1 1,0 0,0 0,1-1,-1 2,1-1,5-6,3-4,0-1,-1 0,0 0,-2-1,0 0,0-1,6-23,18-35,67-101,14-28,-99 173,2 1,1 0,1 2,2 0,31-35,-44 55,1 0,1 1,-1 1,1-1,0 2,1-1,-1 1,21-8,-22 11,-1 0,1 1,0 0,1 0,-1 0,0 1,0 0,0 1,0 0,0 0,0 1,0 0,10 4,-14-5,0 1,0 0,0 0,-1 0,1 0,-1 1,1 0,-1-1,0 1,0 0,0 1,0-1,-1 0,1 1,-1 0,3 6,0 4,0 0,-1 0,4 23,0-2,15 65,-4 1,-5 0,-4 1,-5 131,-7 285,2-336,-3-134,-2-1,-2 1,-16 56,7-36,15-61,-1 0,0 0,0 0,-1 0,0 0,-6 10,-5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2T14:42:22.002"/>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506 1,'-419'0,"413"0,0 0,0 1,0 0,0 0,0 0,0 1,1 0,-1 0,-7 4,12-5,-1 0,1 0,0-1,0 1,-1 0,1 0,0 0,0 0,0 1,0-1,0 0,0 0,1 1,-1-1,0 0,1 1,-1-1,1 1,-1-1,1 1,-1-1,1 1,0-1,0 1,0-1,0 1,0-1,0 1,1-1,-1 1,0-1,1 1,-1-1,1 1,-1-1,1 1,0-1,0 0,-1 0,1 1,0-1,2 2,9 10,0-1,1 0,0-1,1 0,0-1,28 15,-9-5,15 10,46 31,-85-54,0 1,-1 0,1 0,-1 1,-1 0,0 0,8 14,-11-17,-1-1,1 1,0-1,1 0,-1 0,1-1,0 1,1-1,-1 0,1 0,-1-1,1 0,0 0,0 0,0-1,1 0,-1 0,1 0,7 0,13 2,1-3,-1 0,40-4,-17 0,198 1,-367 0,-129 5,243-3,0 1,1 0,-1-1,0 2,1-1,-1 0,-5 4,9-5,0 1,0-1,1 1,-1-1,0 1,0-1,1 1,-1 0,1-1,-1 1,0 0,1-1,-1 1,1 0,0 0,-1 0,1-1,0 1,-1 0,1 0,0 0,0 0,0 0,0-1,0 1,0 0,0 0,0 0,0 0,0 0,0 0,0-1,1 1,-1 0,0 0,1 0,-1 0,1-1,-1 1,1 0,-1 0,1-1,-1 1,2 1,5 6,1 1,0-1,1-1,0 1,0-1,0-1,1 0,0 0,0-1,0 0,19 6,-14-7,1 0,0 0,0-2,0 0,0 0,1-2,26-2,-52 2,-1-1,1 1,-1-2,1 1,-1-1,1-1,0 0,-14-7,-3 1,25 9,1 0,0 0,-1-1,1 1,0 0,-1 0,1 0,-1 0,1 0,0 0,-1 0,1 0,0 0,-1 0,1 1,-1-1,1 0,0 0,-1 0,1 0,0 1,-1-1,1 0,0 0,-1 0,1 1,0-1,0 0,-1 1,1-1,0 0,0 0,0 1,-1-1,1 0,0 1,0-1,0 1,0-1,0 1,-3 20,3-18,4 247,0-137,-3-53</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2T14:42:23.24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90 586,'-7'-7,"1"-1,1 0,-1 0,1-1,1 0,0 1,0-1,0-1,-1-9,-3-14,-4-41,11 69,-9-72,3-1,6-126,1 203,0 0,0 0,0 0,0 0,0 0,0 0,0 0,0 1,0-1,1 0,-1 0,0 0,1 0,-1 0,0 0,1 0,-1 0,1 1,0-1,0-1,0 3,0 0,0 0,0-1,-1 1,1 0,0 0,0 0,-1 0,1 0,-1 0,1 0,-1 0,1 0,-1 1,0-1,1 0,-1 1,8 26,-1 0,-1 0,2 34,1 94,-8-110,5 552,-7-564,1-23,0 6,0 0,-6 31,6-47,0 0,0 0,0-1,0 1,0 0,0 0,-1 0,1-1,0 1,0 0,-1-1,1 1,-1 0,1 0,-1-1,1 1,-1-1,1 1,-1 0,0 0,-6-12,0-27,7 34,-1 0,1 0,0-1,1 1,-1 0,1 0,1-6,-2 9,1 0,-1 0,1 0,-1 0,1 0,-1 0,1 0,-1 1,1-1,0 0,0 0,-1 1,1-1,0 0,0 1,0-1,0 1,0-1,0 1,0-1,0 1,0 0,0-1,0 1,0 0,0 0,0 0,0 0,0 0,0 0,0 0,0 0,0 0,0 1,0-1,2 1,4 1,0 1,-1 0,1 0,-1 0,0 1,0 0,0 0,0 0,6 7,46 54,-20-21,-37-43,0 0,0 1,0-1,0 0,0 0,0-1,0 1,1 0,-1 0,0-1,1 1,-1 0,0-1,1 1,-1-1,1 0,2 1,-3-1,0-1,0 1,-1 0,1-1,0 1,0 0,0-1,-1 1,1-1,0 1,0-1,-1 0,1 1,-1-1,1 0,0 1,-1-1,1 0,-1 0,0 0,1 0,2-7,0 0,-1 0,0 0,-1 0,1-9,5-89,-7-123,-1 42,1 180,3-33,-3 39,0-1,0 1,0 0,0 0,1 0,-1 0,0-1,1 1,-1 0,1 0,-1 0,1 0,0 0,-1 0,1 0,0 0,0 0,0 1,-1-1,1 0,0 0,0 1,0-1,0 0,2 0,-2 1,1 1,0-1,-1 0,1 1,-1-1,1 0,-1 1,1 0,-1-1,1 1,-1 0,0 0,1 0,-1 0,0 0,0 0,0 0,0 0,0 0,1 2,22 31,-21-30,29 55,-5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2T14:42:42.524"/>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1,'5'0,"7"0,0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2T14:42:50.919"/>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2T14:42:51.347"/>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2T14:42:52.466"/>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0 1227,'2'-2,"0"1,-1 0,1-1,0 1,0 0,-1 0,1 0,0 0,0 0,0 1,5-2,8-3,81-24,166-29,-158 38,152-48,-241 63,0-1,0-1,-1 0,0-1,0 0,19-16,-25 17,-1-1,0 1,0-1,-1 0,0-1,0 1,-1-1,0 0,-1-1,1 1,2-15,-1 7,3-17,26-57,-28 77,1 0,1 0,0 1,0 1,2-1,20-18,-3 6,2 2,0 1,37-20,114-49,226-61,9 31,48 14,-426 99,-6 0,-70 16,-759 133,-8-55,650-74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2-12T14:42:56.600"/>
    </inkml:context>
    <inkml:brush xml:id="br0">
      <inkml:brushProperty name="width" value="0.5" units="cm"/>
      <inkml:brushProperty name="height" value="1" units="cm"/>
      <inkml:brushProperty name="color" value="#FFFFFF"/>
      <inkml:brushProperty name="tip" value="rectangle"/>
      <inkml:brushProperty name="rasterOp" value="maskPen"/>
      <inkml:brushProperty name="ignorePressure" value="1"/>
    </inkml:brush>
  </inkml:definitions>
  <inkml:trace contextRef="#ctx0" brushRef="#br0">116 0,'0'10,"-10"4,-8-2,-5 3,-10 4,2-2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A22530-92FE-4C3F-9B3B-BCC6CE1117E9}" type="datetimeFigureOut">
              <a:rPr lang="en-US" smtClean="0"/>
              <a:t>2/20/2026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08E562-24ED-41D7-AEB8-880B26994F1F}" type="slidenum">
              <a:rPr lang="en-US" smtClean="0"/>
              <a:t>‹#›</a:t>
            </a:fld>
            <a:endParaRPr lang="en-US"/>
          </a:p>
        </p:txBody>
      </p:sp>
    </p:spTree>
    <p:extLst>
      <p:ext uri="{BB962C8B-B14F-4D97-AF65-F5344CB8AC3E}">
        <p14:creationId xmlns:p14="http://schemas.microsoft.com/office/powerpoint/2010/main" val="2188170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machine state</a:t>
            </a:r>
            <a:r>
              <a:rPr lang="en-US" dirty="0"/>
              <a:t>: what a program can read or update when it is running</a:t>
            </a:r>
          </a:p>
        </p:txBody>
      </p:sp>
      <p:sp>
        <p:nvSpPr>
          <p:cNvPr id="4" name="Slide Number Placeholder 3"/>
          <p:cNvSpPr>
            <a:spLocks noGrp="1"/>
          </p:cNvSpPr>
          <p:nvPr>
            <p:ph type="sldNum" sz="quarter" idx="5"/>
          </p:nvPr>
        </p:nvSpPr>
        <p:spPr/>
        <p:txBody>
          <a:bodyPr/>
          <a:lstStyle/>
          <a:p>
            <a:fld id="{9908E562-24ED-41D7-AEB8-880B26994F1F}" type="slidenum">
              <a:rPr lang="en-US" smtClean="0"/>
              <a:t>3</a:t>
            </a:fld>
            <a:endParaRPr lang="en-US"/>
          </a:p>
        </p:txBody>
      </p:sp>
    </p:spTree>
    <p:extLst>
      <p:ext uri="{BB962C8B-B14F-4D97-AF65-F5344CB8AC3E}">
        <p14:creationId xmlns:p14="http://schemas.microsoft.com/office/powerpoint/2010/main" val="1053582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t>we have the two regions of the address space that may grow (and shrink) while the program runs. </a:t>
            </a:r>
          </a:p>
          <a:p>
            <a:pPr marL="171450" indent="-171450">
              <a:buFont typeface="Arial" panose="020B0604020202020204" pitchFamily="34" charset="0"/>
              <a:buChar char="•"/>
            </a:pPr>
            <a:r>
              <a:rPr lang="en-US" b="1" dirty="0"/>
              <a:t>Those are the heap (at the top) and the stack (at the bottom). </a:t>
            </a:r>
          </a:p>
          <a:p>
            <a:pPr marL="171450" indent="-171450">
              <a:buFont typeface="Arial" panose="020B0604020202020204" pitchFamily="34" charset="0"/>
              <a:buChar char="•"/>
            </a:pPr>
            <a:r>
              <a:rPr lang="en-US" b="1" dirty="0"/>
              <a:t>We place them like this because each wishes to be able to grow, and by putting them at opposite ends of the address space, we can allow such growth: they just have to grow in opposite directions. The heap thus starts just after the code (at 1KB) and grows downward (say when a user requests more memory via malloc()); the stack starts at 16KB and grows upward (say when a user makes a procedure call).</a:t>
            </a:r>
          </a:p>
        </p:txBody>
      </p:sp>
      <p:sp>
        <p:nvSpPr>
          <p:cNvPr id="4" name="Slide Number Placeholder 3"/>
          <p:cNvSpPr>
            <a:spLocks noGrp="1"/>
          </p:cNvSpPr>
          <p:nvPr>
            <p:ph type="sldNum" sz="quarter" idx="5"/>
          </p:nvPr>
        </p:nvSpPr>
        <p:spPr/>
        <p:txBody>
          <a:bodyPr/>
          <a:lstStyle/>
          <a:p>
            <a:fld id="{9908E562-24ED-41D7-AEB8-880B26994F1F}" type="slidenum">
              <a:rPr lang="en-US" smtClean="0"/>
              <a:t>7</a:t>
            </a:fld>
            <a:endParaRPr lang="en-US"/>
          </a:p>
        </p:txBody>
      </p:sp>
    </p:spTree>
    <p:extLst>
      <p:ext uri="{BB962C8B-B14F-4D97-AF65-F5344CB8AC3E}">
        <p14:creationId xmlns:p14="http://schemas.microsoft.com/office/powerpoint/2010/main" val="2725802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2/20/2026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990084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2/20/2026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8422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2/20/2026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61099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2/20/2026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2060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2/20/2026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0340984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2/20/2026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4314591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2/20/2026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4029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2/20/2026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36017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2/20/2026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61851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2/20/2026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69039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2/20/2026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01921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171C2">
            <a:alpha val="8000"/>
          </a:srgb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2/20/2026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859073491"/>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customXml" Target="../ink/ink6.xml"/><Relationship Id="rId18" Type="http://schemas.openxmlformats.org/officeDocument/2006/relationships/image" Target="../media/image10.png"/><Relationship Id="rId3" Type="http://schemas.openxmlformats.org/officeDocument/2006/relationships/customXml" Target="../ink/ink1.xml"/><Relationship Id="rId21" Type="http://schemas.openxmlformats.org/officeDocument/2006/relationships/image" Target="../media/image11.png"/><Relationship Id="rId7" Type="http://schemas.openxmlformats.org/officeDocument/2006/relationships/customXml" Target="../ink/ink3.xml"/><Relationship Id="rId12" Type="http://schemas.openxmlformats.org/officeDocument/2006/relationships/image" Target="../media/image7.png"/><Relationship Id="rId17" Type="http://schemas.openxmlformats.org/officeDocument/2006/relationships/customXml" Target="../ink/ink8.xml"/><Relationship Id="rId2" Type="http://schemas.openxmlformats.org/officeDocument/2006/relationships/image" Target="../media/image2.png"/><Relationship Id="rId16" Type="http://schemas.openxmlformats.org/officeDocument/2006/relationships/image" Target="../media/image9.png"/><Relationship Id="rId20" Type="http://schemas.openxmlformats.org/officeDocument/2006/relationships/customXml" Target="../ink/ink10.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image" Target="../media/image12.png"/><Relationship Id="rId10" Type="http://schemas.openxmlformats.org/officeDocument/2006/relationships/image" Target="../media/image6.png"/><Relationship Id="rId19" Type="http://schemas.openxmlformats.org/officeDocument/2006/relationships/customXml" Target="../ink/ink9.xml"/><Relationship Id="rId4" Type="http://schemas.openxmlformats.org/officeDocument/2006/relationships/image" Target="../media/image3.png"/><Relationship Id="rId9" Type="http://schemas.openxmlformats.org/officeDocument/2006/relationships/customXml" Target="../ink/ink4.xml"/><Relationship Id="rId14" Type="http://schemas.openxmlformats.org/officeDocument/2006/relationships/image" Target="../media/image8.png"/><Relationship Id="rId22" Type="http://schemas.openxmlformats.org/officeDocument/2006/relationships/customXml" Target="../ink/ink11.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a:extLst>
              <a:ext uri="{FF2B5EF4-FFF2-40B4-BE49-F238E27FC236}">
                <a16:creationId xmlns:a16="http://schemas.microsoft.com/office/drawing/2014/main" id="{583447EF-0A89-8D11-D654-A72B4E49FCBC}"/>
              </a:ext>
            </a:extLst>
          </p:cNvPr>
          <p:cNvPicPr>
            <a:picLocks noChangeAspect="1"/>
          </p:cNvPicPr>
          <p:nvPr/>
        </p:nvPicPr>
        <p:blipFill>
          <a:blip r:embed="rId2">
            <a:extLst>
              <a:ext uri="{28A0092B-C50C-407E-A947-70E740481C1C}">
                <a14:useLocalDpi xmlns:a14="http://schemas.microsoft.com/office/drawing/2010/main" val="0"/>
              </a:ext>
            </a:extLst>
          </a:blip>
          <a:srcRect t="12500" b="12500"/>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DF15DF8A-891A-1965-E372-1BA1F3B94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9929D53-5DEF-676E-7A33-156FB769F7F9}"/>
              </a:ext>
            </a:extLst>
          </p:cNvPr>
          <p:cNvSpPr>
            <a:spLocks noGrp="1"/>
          </p:cNvSpPr>
          <p:nvPr>
            <p:ph type="ctrTitle"/>
          </p:nvPr>
        </p:nvSpPr>
        <p:spPr>
          <a:xfrm>
            <a:off x="7473219" y="898373"/>
            <a:ext cx="4470544" cy="3474720"/>
          </a:xfrm>
        </p:spPr>
        <p:txBody>
          <a:bodyPr anchor="b">
            <a:normAutofit/>
          </a:bodyPr>
          <a:lstStyle/>
          <a:p>
            <a:pPr algn="l"/>
            <a:r>
              <a:rPr lang="en-US" sz="5800"/>
              <a:t>Parallel</a:t>
            </a:r>
            <a:br>
              <a:rPr lang="en-US" sz="5800"/>
            </a:br>
            <a:r>
              <a:rPr lang="en-US" sz="5800"/>
              <a:t>computing</a:t>
            </a:r>
            <a:endParaRPr lang="en-US" sz="5800" dirty="0"/>
          </a:p>
        </p:txBody>
      </p:sp>
      <p:sp>
        <p:nvSpPr>
          <p:cNvPr id="3" name="Subtitle 2">
            <a:extLst>
              <a:ext uri="{FF2B5EF4-FFF2-40B4-BE49-F238E27FC236}">
                <a16:creationId xmlns:a16="http://schemas.microsoft.com/office/drawing/2014/main" id="{30B473AC-FAE5-08F1-B10B-0BB328814639}"/>
              </a:ext>
            </a:extLst>
          </p:cNvPr>
          <p:cNvSpPr>
            <a:spLocks noGrp="1"/>
          </p:cNvSpPr>
          <p:nvPr>
            <p:ph type="subTitle" idx="1"/>
          </p:nvPr>
        </p:nvSpPr>
        <p:spPr>
          <a:xfrm>
            <a:off x="7482646" y="4495013"/>
            <a:ext cx="4116410" cy="1386840"/>
          </a:xfrm>
        </p:spPr>
        <p:txBody>
          <a:bodyPr anchor="t">
            <a:normAutofit/>
          </a:bodyPr>
          <a:lstStyle/>
          <a:p>
            <a:pPr algn="l"/>
            <a:r>
              <a:rPr lang="en-US" sz="2200" dirty="0"/>
              <a:t>Sec.2</a:t>
            </a:r>
          </a:p>
          <a:p>
            <a:pPr algn="l"/>
            <a:r>
              <a:rPr lang="en-US" sz="2200" dirty="0"/>
              <a:t>Eng/ Mariam Malak</a:t>
            </a:r>
          </a:p>
        </p:txBody>
      </p:sp>
    </p:spTree>
    <p:extLst>
      <p:ext uri="{BB962C8B-B14F-4D97-AF65-F5344CB8AC3E}">
        <p14:creationId xmlns:p14="http://schemas.microsoft.com/office/powerpoint/2010/main" val="177730384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4C32F-35C7-D402-230C-610326F3710C}"/>
              </a:ext>
            </a:extLst>
          </p:cNvPr>
          <p:cNvSpPr>
            <a:spLocks noGrp="1"/>
          </p:cNvSpPr>
          <p:nvPr>
            <p:ph type="title"/>
          </p:nvPr>
        </p:nvSpPr>
        <p:spPr/>
        <p:txBody>
          <a:bodyPr/>
          <a:lstStyle/>
          <a:p>
            <a:r>
              <a:rPr lang="en-US" dirty="0"/>
              <a:t>Program vs process</a:t>
            </a:r>
          </a:p>
        </p:txBody>
      </p:sp>
      <p:sp>
        <p:nvSpPr>
          <p:cNvPr id="3" name="Content Placeholder 2">
            <a:extLst>
              <a:ext uri="{FF2B5EF4-FFF2-40B4-BE49-F238E27FC236}">
                <a16:creationId xmlns:a16="http://schemas.microsoft.com/office/drawing/2014/main" id="{22A2BA28-28A7-BCFA-3F4D-51EEE3CC73DE}"/>
              </a:ext>
            </a:extLst>
          </p:cNvPr>
          <p:cNvSpPr>
            <a:spLocks noGrp="1"/>
          </p:cNvSpPr>
          <p:nvPr>
            <p:ph idx="1"/>
          </p:nvPr>
        </p:nvSpPr>
        <p:spPr/>
        <p:txBody>
          <a:bodyPr>
            <a:normAutofit lnSpcReduction="10000"/>
          </a:bodyPr>
          <a:lstStyle/>
          <a:p>
            <a:r>
              <a:rPr lang="en-US" dirty="0"/>
              <a:t>what happens when a program runs?</a:t>
            </a:r>
          </a:p>
          <a:p>
            <a:pPr>
              <a:buFont typeface="Wingdings" panose="05000000000000000000" pitchFamily="2" charset="2"/>
              <a:buChar char="q"/>
            </a:pPr>
            <a:r>
              <a:rPr lang="en-US" dirty="0"/>
              <a:t>Well, a running program does one very simple thing: it executes instructions</a:t>
            </a:r>
          </a:p>
          <a:p>
            <a:pPr>
              <a:buFont typeface="Wingdings" panose="05000000000000000000" pitchFamily="2" charset="2"/>
              <a:buChar char="q"/>
            </a:pPr>
            <a:r>
              <a:rPr lang="en-US" dirty="0"/>
              <a:t>The processor </a:t>
            </a:r>
            <a:r>
              <a:rPr lang="en-US" b="1" dirty="0"/>
              <a:t>fetches</a:t>
            </a:r>
            <a:r>
              <a:rPr lang="en-US" dirty="0"/>
              <a:t> an instruction from memory, </a:t>
            </a:r>
            <a:r>
              <a:rPr lang="en-US" b="1" dirty="0"/>
              <a:t>decodes</a:t>
            </a:r>
            <a:r>
              <a:rPr lang="en-US" dirty="0"/>
              <a:t> it (i.e., figures out which instruction this is), and </a:t>
            </a:r>
            <a:r>
              <a:rPr lang="en-US" b="1" dirty="0"/>
              <a:t>executes</a:t>
            </a:r>
            <a:r>
              <a:rPr lang="en-US" dirty="0"/>
              <a:t> it (i.e., it does the thing that it is supposed to do, like add two numbers together, access memory, check a condition, jump to a function, and so forth). After it is done with this instruction, the processor moves on to the next instruction, and so on, and so on, until the program finally completes.</a:t>
            </a:r>
          </a:p>
          <a:p>
            <a:pPr marL="0" indent="0" algn="ctr">
              <a:buNone/>
            </a:pPr>
            <a:r>
              <a:rPr lang="en-US" b="1" dirty="0"/>
              <a:t>[Von Neumann model of computing]</a:t>
            </a:r>
          </a:p>
          <a:p>
            <a:pPr>
              <a:buFont typeface="Wingdings" panose="05000000000000000000" pitchFamily="2" charset="2"/>
              <a:buChar char="q"/>
            </a:pPr>
            <a:r>
              <a:rPr lang="en-US" dirty="0"/>
              <a:t>The process, informally, is quite simple: it is a running program .</a:t>
            </a:r>
          </a:p>
          <a:p>
            <a:pPr>
              <a:buFont typeface="Wingdings" panose="05000000000000000000" pitchFamily="2" charset="2"/>
              <a:buChar char="q"/>
            </a:pPr>
            <a:r>
              <a:rPr lang="en-US" dirty="0"/>
              <a:t>The program itself is a lifeless thing: it just sits there on the disk, a bunch of instructions (and maybe some static data), waiting to spring into action. </a:t>
            </a:r>
          </a:p>
        </p:txBody>
      </p:sp>
    </p:spTree>
    <p:extLst>
      <p:ext uri="{BB962C8B-B14F-4D97-AF65-F5344CB8AC3E}">
        <p14:creationId xmlns:p14="http://schemas.microsoft.com/office/powerpoint/2010/main" val="298950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E13D5-6EC9-717C-756B-05BA83D4A0D3}"/>
              </a:ext>
            </a:extLst>
          </p:cNvPr>
          <p:cNvSpPr>
            <a:spLocks noGrp="1"/>
          </p:cNvSpPr>
          <p:nvPr>
            <p:ph type="title"/>
          </p:nvPr>
        </p:nvSpPr>
        <p:spPr/>
        <p:txBody>
          <a:bodyPr/>
          <a:lstStyle/>
          <a:p>
            <a:r>
              <a:rPr lang="en-US" dirty="0"/>
              <a:t>The abstraction : A process</a:t>
            </a:r>
          </a:p>
        </p:txBody>
      </p:sp>
      <p:sp>
        <p:nvSpPr>
          <p:cNvPr id="3" name="Content Placeholder 2">
            <a:extLst>
              <a:ext uri="{FF2B5EF4-FFF2-40B4-BE49-F238E27FC236}">
                <a16:creationId xmlns:a16="http://schemas.microsoft.com/office/drawing/2014/main" id="{A36C8B92-06E5-9636-DD59-267C68EB3F3D}"/>
              </a:ext>
            </a:extLst>
          </p:cNvPr>
          <p:cNvSpPr>
            <a:spLocks noGrp="1"/>
          </p:cNvSpPr>
          <p:nvPr>
            <p:ph idx="1"/>
          </p:nvPr>
        </p:nvSpPr>
        <p:spPr/>
        <p:txBody>
          <a:bodyPr/>
          <a:lstStyle/>
          <a:p>
            <a:r>
              <a:rPr lang="en-US" dirty="0"/>
              <a:t>The abstraction provided by the OS of a running program is something we will call</a:t>
            </a:r>
          </a:p>
          <a:p>
            <a:pPr marL="0" indent="0">
              <a:buNone/>
            </a:pPr>
            <a:r>
              <a:rPr lang="en-US" dirty="0"/>
              <a:t> </a:t>
            </a:r>
            <a:r>
              <a:rPr lang="en-US" b="1" dirty="0"/>
              <a:t>a process.</a:t>
            </a:r>
          </a:p>
          <a:p>
            <a:endParaRPr lang="en-US" b="1" dirty="0"/>
          </a:p>
          <a:p>
            <a:r>
              <a:rPr lang="en-US" dirty="0"/>
              <a:t>One obvious component of machine state that comprises a process is its memory. Instructions lie in memory; the data that the running program reads and writes sits in memory as well. </a:t>
            </a:r>
          </a:p>
          <a:p>
            <a:r>
              <a:rPr lang="en-US" dirty="0"/>
              <a:t>Thus the memory that the process can address (called its </a:t>
            </a:r>
            <a:r>
              <a:rPr lang="en-US" b="1" dirty="0"/>
              <a:t>address space</a:t>
            </a:r>
            <a:r>
              <a:rPr lang="en-US" dirty="0"/>
              <a:t>) is part of the process</a:t>
            </a:r>
            <a:endParaRPr lang="en-US" b="1" dirty="0"/>
          </a:p>
        </p:txBody>
      </p:sp>
    </p:spTree>
    <p:extLst>
      <p:ext uri="{BB962C8B-B14F-4D97-AF65-F5344CB8AC3E}">
        <p14:creationId xmlns:p14="http://schemas.microsoft.com/office/powerpoint/2010/main" val="734923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4B2E6-FC86-12AA-0014-1B986FD67A2E}"/>
              </a:ext>
            </a:extLst>
          </p:cNvPr>
          <p:cNvSpPr>
            <a:spLocks noGrp="1"/>
          </p:cNvSpPr>
          <p:nvPr>
            <p:ph type="title"/>
          </p:nvPr>
        </p:nvSpPr>
        <p:spPr>
          <a:xfrm>
            <a:off x="612648" y="603504"/>
            <a:ext cx="5862396" cy="1527048"/>
          </a:xfrm>
        </p:spPr>
        <p:txBody>
          <a:bodyPr anchor="b">
            <a:normAutofit/>
          </a:bodyPr>
          <a:lstStyle/>
          <a:p>
            <a:r>
              <a:rPr lang="en-US" dirty="0"/>
              <a:t>Memory view</a:t>
            </a:r>
          </a:p>
        </p:txBody>
      </p:sp>
      <p:sp>
        <p:nvSpPr>
          <p:cNvPr id="3" name="Content Placeholder 2">
            <a:extLst>
              <a:ext uri="{FF2B5EF4-FFF2-40B4-BE49-F238E27FC236}">
                <a16:creationId xmlns:a16="http://schemas.microsoft.com/office/drawing/2014/main" id="{2E6938CF-039F-6B65-424A-D3E9C132E423}"/>
              </a:ext>
            </a:extLst>
          </p:cNvPr>
          <p:cNvSpPr>
            <a:spLocks noGrp="1"/>
          </p:cNvSpPr>
          <p:nvPr>
            <p:ph idx="1"/>
          </p:nvPr>
        </p:nvSpPr>
        <p:spPr>
          <a:xfrm>
            <a:off x="612648" y="2212848"/>
            <a:ext cx="5862396" cy="4096512"/>
          </a:xfrm>
        </p:spPr>
        <p:txBody>
          <a:bodyPr>
            <a:normAutofit/>
          </a:bodyPr>
          <a:lstStyle/>
          <a:p>
            <a:r>
              <a:rPr lang="en-US" sz="1800" dirty="0"/>
              <a:t>From the perspective of memory, early machines didn’t provide much of an abstraction to users.</a:t>
            </a:r>
          </a:p>
          <a:p>
            <a:r>
              <a:rPr lang="en-US" sz="1800" dirty="0"/>
              <a:t>The OS was a set of routines (a library, really) that sat in memory (starting at physical address 0 in this example), and there would be one running program (a process) that currently sat in physical memory and used the rest of memory</a:t>
            </a:r>
          </a:p>
        </p:txBody>
      </p:sp>
      <p:pic>
        <p:nvPicPr>
          <p:cNvPr id="5" name="Picture 4">
            <a:extLst>
              <a:ext uri="{FF2B5EF4-FFF2-40B4-BE49-F238E27FC236}">
                <a16:creationId xmlns:a16="http://schemas.microsoft.com/office/drawing/2014/main" id="{835D93E3-A1C0-237F-02B5-33A697BC3B99}"/>
              </a:ext>
            </a:extLst>
          </p:cNvPr>
          <p:cNvPicPr>
            <a:picLocks noChangeAspect="1"/>
          </p:cNvPicPr>
          <p:nvPr/>
        </p:nvPicPr>
        <p:blipFill>
          <a:blip r:embed="rId2"/>
          <a:srcRect l="10776"/>
          <a:stretch>
            <a:fillRect/>
          </a:stretch>
        </p:blipFill>
        <p:spPr>
          <a:xfrm>
            <a:off x="7471064" y="856725"/>
            <a:ext cx="4301837" cy="5172935"/>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9242C788-E70B-A667-A057-14D339BC2CB3}"/>
                  </a:ext>
                </a:extLst>
              </p14:cNvPr>
              <p14:cNvContentPartPr/>
              <p14:nvPr/>
            </p14:nvContentPartPr>
            <p14:xfrm>
              <a:off x="7480260" y="5704936"/>
              <a:ext cx="240120" cy="207720"/>
            </p14:xfrm>
          </p:contentPart>
        </mc:Choice>
        <mc:Fallback xmlns="">
          <p:pic>
            <p:nvPicPr>
              <p:cNvPr id="6" name="Ink 5">
                <a:extLst>
                  <a:ext uri="{FF2B5EF4-FFF2-40B4-BE49-F238E27FC236}">
                    <a16:creationId xmlns:a16="http://schemas.microsoft.com/office/drawing/2014/main" id="{9242C788-E70B-A667-A057-14D339BC2CB3}"/>
                  </a:ext>
                </a:extLst>
              </p:cNvPr>
              <p:cNvPicPr/>
              <p:nvPr/>
            </p:nvPicPr>
            <p:blipFill>
              <a:blip r:embed="rId4"/>
              <a:stretch>
                <a:fillRect/>
              </a:stretch>
            </p:blipFill>
            <p:spPr>
              <a:xfrm>
                <a:off x="7426260" y="5597296"/>
                <a:ext cx="347760" cy="423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 name="Ink 6">
                <a:extLst>
                  <a:ext uri="{FF2B5EF4-FFF2-40B4-BE49-F238E27FC236}">
                    <a16:creationId xmlns:a16="http://schemas.microsoft.com/office/drawing/2014/main" id="{3263C411-16F5-3C4D-2B16-65B1F7F41B78}"/>
                  </a:ext>
                </a:extLst>
              </p14:cNvPr>
              <p14:cNvContentPartPr/>
              <p14:nvPr/>
            </p14:nvContentPartPr>
            <p14:xfrm>
              <a:off x="7523460" y="5877016"/>
              <a:ext cx="123120" cy="44280"/>
            </p14:xfrm>
          </p:contentPart>
        </mc:Choice>
        <mc:Fallback xmlns="">
          <p:pic>
            <p:nvPicPr>
              <p:cNvPr id="7" name="Ink 6">
                <a:extLst>
                  <a:ext uri="{FF2B5EF4-FFF2-40B4-BE49-F238E27FC236}">
                    <a16:creationId xmlns:a16="http://schemas.microsoft.com/office/drawing/2014/main" id="{3263C411-16F5-3C4D-2B16-65B1F7F41B78}"/>
                  </a:ext>
                </a:extLst>
              </p:cNvPr>
              <p:cNvPicPr/>
              <p:nvPr/>
            </p:nvPicPr>
            <p:blipFill>
              <a:blip r:embed="rId6"/>
              <a:stretch>
                <a:fillRect/>
              </a:stretch>
            </p:blipFill>
            <p:spPr>
              <a:xfrm>
                <a:off x="7469820" y="5769016"/>
                <a:ext cx="23076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8" name="Ink 7">
                <a:extLst>
                  <a:ext uri="{FF2B5EF4-FFF2-40B4-BE49-F238E27FC236}">
                    <a16:creationId xmlns:a16="http://schemas.microsoft.com/office/drawing/2014/main" id="{F54AE2EE-F804-B85F-DCB1-303973B93823}"/>
                  </a:ext>
                </a:extLst>
              </p14:cNvPr>
              <p14:cNvContentPartPr/>
              <p14:nvPr/>
            </p14:nvContentPartPr>
            <p14:xfrm>
              <a:off x="4312620" y="2628736"/>
              <a:ext cx="1469880" cy="428040"/>
            </p14:xfrm>
          </p:contentPart>
        </mc:Choice>
        <mc:Fallback xmlns="">
          <p:pic>
            <p:nvPicPr>
              <p:cNvPr id="8" name="Ink 7">
                <a:extLst>
                  <a:ext uri="{FF2B5EF4-FFF2-40B4-BE49-F238E27FC236}">
                    <a16:creationId xmlns:a16="http://schemas.microsoft.com/office/drawing/2014/main" id="{F54AE2EE-F804-B85F-DCB1-303973B93823}"/>
                  </a:ext>
                </a:extLst>
              </p:cNvPr>
              <p:cNvPicPr/>
              <p:nvPr/>
            </p:nvPicPr>
            <p:blipFill>
              <a:blip r:embed="rId8"/>
              <a:stretch>
                <a:fillRect/>
              </a:stretch>
            </p:blipFill>
            <p:spPr>
              <a:xfrm>
                <a:off x="4258620" y="2521096"/>
                <a:ext cx="1577520" cy="6436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9" name="Ink 8">
                <a:extLst>
                  <a:ext uri="{FF2B5EF4-FFF2-40B4-BE49-F238E27FC236}">
                    <a16:creationId xmlns:a16="http://schemas.microsoft.com/office/drawing/2014/main" id="{CEF5743A-D729-E157-811B-4FDAE649CF75}"/>
                  </a:ext>
                </a:extLst>
              </p14:cNvPr>
              <p14:cNvContentPartPr/>
              <p14:nvPr/>
            </p14:nvContentPartPr>
            <p14:xfrm>
              <a:off x="7289460" y="5328016"/>
              <a:ext cx="358560" cy="825840"/>
            </p14:xfrm>
          </p:contentPart>
        </mc:Choice>
        <mc:Fallback xmlns="">
          <p:pic>
            <p:nvPicPr>
              <p:cNvPr id="9" name="Ink 8">
                <a:extLst>
                  <a:ext uri="{FF2B5EF4-FFF2-40B4-BE49-F238E27FC236}">
                    <a16:creationId xmlns:a16="http://schemas.microsoft.com/office/drawing/2014/main" id="{CEF5743A-D729-E157-811B-4FDAE649CF75}"/>
                  </a:ext>
                </a:extLst>
              </p:cNvPr>
              <p:cNvPicPr/>
              <p:nvPr/>
            </p:nvPicPr>
            <p:blipFill>
              <a:blip r:embed="rId10"/>
              <a:stretch>
                <a:fillRect/>
              </a:stretch>
            </p:blipFill>
            <p:spPr>
              <a:xfrm>
                <a:off x="7199460" y="5148016"/>
                <a:ext cx="538200" cy="1185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Ink 10">
                <a:extLst>
                  <a:ext uri="{FF2B5EF4-FFF2-40B4-BE49-F238E27FC236}">
                    <a16:creationId xmlns:a16="http://schemas.microsoft.com/office/drawing/2014/main" id="{DC47CE73-5621-FFB9-F0B0-38DCC2CBD95E}"/>
                  </a:ext>
                </a:extLst>
              </p14:cNvPr>
              <p14:cNvContentPartPr/>
              <p14:nvPr/>
            </p14:nvContentPartPr>
            <p14:xfrm>
              <a:off x="7288740" y="5714656"/>
              <a:ext cx="338400" cy="362520"/>
            </p14:xfrm>
          </p:contentPart>
        </mc:Choice>
        <mc:Fallback xmlns="">
          <p:pic>
            <p:nvPicPr>
              <p:cNvPr id="11" name="Ink 10">
                <a:extLst>
                  <a:ext uri="{FF2B5EF4-FFF2-40B4-BE49-F238E27FC236}">
                    <a16:creationId xmlns:a16="http://schemas.microsoft.com/office/drawing/2014/main" id="{DC47CE73-5621-FFB9-F0B0-38DCC2CBD95E}"/>
                  </a:ext>
                </a:extLst>
              </p:cNvPr>
              <p:cNvPicPr/>
              <p:nvPr/>
            </p:nvPicPr>
            <p:blipFill>
              <a:blip r:embed="rId12"/>
              <a:stretch>
                <a:fillRect/>
              </a:stretch>
            </p:blipFill>
            <p:spPr>
              <a:xfrm>
                <a:off x="7199100" y="5535016"/>
                <a:ext cx="518040" cy="722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BA699C35-DBCE-0BF5-978C-533796728264}"/>
                  </a:ext>
                </a:extLst>
              </p14:cNvPr>
              <p14:cNvContentPartPr/>
              <p14:nvPr/>
            </p14:nvContentPartPr>
            <p14:xfrm>
              <a:off x="7490700" y="5763976"/>
              <a:ext cx="155160" cy="420840"/>
            </p14:xfrm>
          </p:contentPart>
        </mc:Choice>
        <mc:Fallback xmlns="">
          <p:pic>
            <p:nvPicPr>
              <p:cNvPr id="12" name="Ink 11">
                <a:extLst>
                  <a:ext uri="{FF2B5EF4-FFF2-40B4-BE49-F238E27FC236}">
                    <a16:creationId xmlns:a16="http://schemas.microsoft.com/office/drawing/2014/main" id="{BA699C35-DBCE-0BF5-978C-533796728264}"/>
                  </a:ext>
                </a:extLst>
              </p:cNvPr>
              <p:cNvPicPr/>
              <p:nvPr/>
            </p:nvPicPr>
            <p:blipFill>
              <a:blip r:embed="rId14"/>
              <a:stretch>
                <a:fillRect/>
              </a:stretch>
            </p:blipFill>
            <p:spPr>
              <a:xfrm>
                <a:off x="7401060" y="5583976"/>
                <a:ext cx="334800" cy="7804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019ECCD2-BBB2-9982-03E1-26E5F6DA9F19}"/>
                  </a:ext>
                </a:extLst>
              </p14:cNvPr>
              <p14:cNvContentPartPr/>
              <p14:nvPr/>
            </p14:nvContentPartPr>
            <p14:xfrm>
              <a:off x="12760053" y="2721976"/>
              <a:ext cx="10800" cy="360"/>
            </p14:xfrm>
          </p:contentPart>
        </mc:Choice>
        <mc:Fallback xmlns="">
          <p:pic>
            <p:nvPicPr>
              <p:cNvPr id="13" name="Ink 12">
                <a:extLst>
                  <a:ext uri="{FF2B5EF4-FFF2-40B4-BE49-F238E27FC236}">
                    <a16:creationId xmlns:a16="http://schemas.microsoft.com/office/drawing/2014/main" id="{019ECCD2-BBB2-9982-03E1-26E5F6DA9F19}"/>
                  </a:ext>
                </a:extLst>
              </p:cNvPr>
              <p:cNvPicPr/>
              <p:nvPr/>
            </p:nvPicPr>
            <p:blipFill>
              <a:blip r:embed="rId16"/>
              <a:stretch>
                <a:fillRect/>
              </a:stretch>
            </p:blipFill>
            <p:spPr>
              <a:xfrm>
                <a:off x="12670053" y="2542336"/>
                <a:ext cx="19044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BA1582CF-1157-5F32-107B-8A93CAB6F68F}"/>
                  </a:ext>
                </a:extLst>
              </p14:cNvPr>
              <p14:cNvContentPartPr/>
              <p14:nvPr/>
            </p14:nvContentPartPr>
            <p14:xfrm>
              <a:off x="2555853" y="2088376"/>
              <a:ext cx="360" cy="360"/>
            </p14:xfrm>
          </p:contentPart>
        </mc:Choice>
        <mc:Fallback xmlns="">
          <p:pic>
            <p:nvPicPr>
              <p:cNvPr id="14" name="Ink 13">
                <a:extLst>
                  <a:ext uri="{FF2B5EF4-FFF2-40B4-BE49-F238E27FC236}">
                    <a16:creationId xmlns:a16="http://schemas.microsoft.com/office/drawing/2014/main" id="{BA1582CF-1157-5F32-107B-8A93CAB6F68F}"/>
                  </a:ext>
                </a:extLst>
              </p:cNvPr>
              <p:cNvPicPr/>
              <p:nvPr/>
            </p:nvPicPr>
            <p:blipFill>
              <a:blip r:embed="rId18"/>
              <a:stretch>
                <a:fillRect/>
              </a:stretch>
            </p:blipFill>
            <p:spPr>
              <a:xfrm>
                <a:off x="2466213" y="190837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FD084BFC-A2F6-531D-80FC-91B27C957029}"/>
                  </a:ext>
                </a:extLst>
              </p14:cNvPr>
              <p14:cNvContentPartPr/>
              <p14:nvPr/>
            </p14:nvContentPartPr>
            <p14:xfrm>
              <a:off x="2441733" y="2950936"/>
              <a:ext cx="360" cy="360"/>
            </p14:xfrm>
          </p:contentPart>
        </mc:Choice>
        <mc:Fallback xmlns="">
          <p:pic>
            <p:nvPicPr>
              <p:cNvPr id="15" name="Ink 14">
                <a:extLst>
                  <a:ext uri="{FF2B5EF4-FFF2-40B4-BE49-F238E27FC236}">
                    <a16:creationId xmlns:a16="http://schemas.microsoft.com/office/drawing/2014/main" id="{FD084BFC-A2F6-531D-80FC-91B27C957029}"/>
                  </a:ext>
                </a:extLst>
              </p:cNvPr>
              <p:cNvPicPr/>
              <p:nvPr/>
            </p:nvPicPr>
            <p:blipFill>
              <a:blip r:embed="rId18"/>
              <a:stretch>
                <a:fillRect/>
              </a:stretch>
            </p:blipFill>
            <p:spPr>
              <a:xfrm>
                <a:off x="2351733" y="2770936"/>
                <a:ext cx="180000" cy="3600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6" name="Ink 15">
                <a:extLst>
                  <a:ext uri="{FF2B5EF4-FFF2-40B4-BE49-F238E27FC236}">
                    <a16:creationId xmlns:a16="http://schemas.microsoft.com/office/drawing/2014/main" id="{9C2E4807-0F9F-7D41-AC31-A9A258AFECD9}"/>
                  </a:ext>
                </a:extLst>
              </p14:cNvPr>
              <p14:cNvContentPartPr/>
              <p14:nvPr/>
            </p14:nvContentPartPr>
            <p14:xfrm>
              <a:off x="2649813" y="1740616"/>
              <a:ext cx="1000800" cy="441720"/>
            </p14:xfrm>
          </p:contentPart>
        </mc:Choice>
        <mc:Fallback xmlns="">
          <p:pic>
            <p:nvPicPr>
              <p:cNvPr id="16" name="Ink 15">
                <a:extLst>
                  <a:ext uri="{FF2B5EF4-FFF2-40B4-BE49-F238E27FC236}">
                    <a16:creationId xmlns:a16="http://schemas.microsoft.com/office/drawing/2014/main" id="{9C2E4807-0F9F-7D41-AC31-A9A258AFECD9}"/>
                  </a:ext>
                </a:extLst>
              </p:cNvPr>
              <p:cNvPicPr/>
              <p:nvPr/>
            </p:nvPicPr>
            <p:blipFill>
              <a:blip r:embed="rId21"/>
              <a:stretch>
                <a:fillRect/>
              </a:stretch>
            </p:blipFill>
            <p:spPr>
              <a:xfrm>
                <a:off x="2559813" y="1560616"/>
                <a:ext cx="1180440" cy="801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7" name="Ink 16">
                <a:extLst>
                  <a:ext uri="{FF2B5EF4-FFF2-40B4-BE49-F238E27FC236}">
                    <a16:creationId xmlns:a16="http://schemas.microsoft.com/office/drawing/2014/main" id="{9C8E9750-8D0A-7E05-0459-AE9E65A7CB34}"/>
                  </a:ext>
                </a:extLst>
              </p14:cNvPr>
              <p14:cNvContentPartPr/>
              <p14:nvPr/>
            </p14:nvContentPartPr>
            <p14:xfrm>
              <a:off x="6275733" y="716776"/>
              <a:ext cx="41760" cy="31680"/>
            </p14:xfrm>
          </p:contentPart>
        </mc:Choice>
        <mc:Fallback xmlns="">
          <p:pic>
            <p:nvPicPr>
              <p:cNvPr id="17" name="Ink 16">
                <a:extLst>
                  <a:ext uri="{FF2B5EF4-FFF2-40B4-BE49-F238E27FC236}">
                    <a16:creationId xmlns:a16="http://schemas.microsoft.com/office/drawing/2014/main" id="{9C8E9750-8D0A-7E05-0459-AE9E65A7CB34}"/>
                  </a:ext>
                </a:extLst>
              </p:cNvPr>
              <p:cNvPicPr/>
              <p:nvPr/>
            </p:nvPicPr>
            <p:blipFill>
              <a:blip r:embed="rId23"/>
              <a:stretch>
                <a:fillRect/>
              </a:stretch>
            </p:blipFill>
            <p:spPr>
              <a:xfrm>
                <a:off x="6186093" y="536776"/>
                <a:ext cx="221400" cy="391320"/>
              </a:xfrm>
              <a:prstGeom prst="rect">
                <a:avLst/>
              </a:prstGeom>
            </p:spPr>
          </p:pic>
        </mc:Fallback>
      </mc:AlternateContent>
    </p:spTree>
    <p:extLst>
      <p:ext uri="{BB962C8B-B14F-4D97-AF65-F5344CB8AC3E}">
        <p14:creationId xmlns:p14="http://schemas.microsoft.com/office/powerpoint/2010/main" val="515064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E9E09C-9120-A28C-2A7E-901A531BB206}"/>
              </a:ext>
            </a:extLst>
          </p:cNvPr>
          <p:cNvSpPr>
            <a:spLocks noGrp="1"/>
          </p:cNvSpPr>
          <p:nvPr>
            <p:ph idx="1"/>
          </p:nvPr>
        </p:nvSpPr>
        <p:spPr>
          <a:xfrm>
            <a:off x="202019" y="426027"/>
            <a:ext cx="6445669" cy="6591461"/>
          </a:xfrm>
        </p:spPr>
        <p:txBody>
          <a:bodyPr>
            <a:normAutofit/>
          </a:bodyPr>
          <a:lstStyle/>
          <a:p>
            <a:pPr>
              <a:lnSpc>
                <a:spcPct val="110000"/>
              </a:lnSpc>
            </a:pPr>
            <a:r>
              <a:rPr lang="en-US" sz="1600" dirty="0"/>
              <a:t>After a time, because machines were expensive, people began to share machines more effectively. Thus the era of multiprogramming was born , in which multiple processes were ready to run at a given time, and the OS would switch between them, for example when one decided to perform an I/O. Doing so increased the effective utilization of the CPU. Such increases in efficiency were particularly important in those days where each machine cost hundreds of thousands or even millions of dollars (and you thought your Mac was expensive!).</a:t>
            </a:r>
          </a:p>
          <a:p>
            <a:pPr>
              <a:lnSpc>
                <a:spcPct val="110000"/>
              </a:lnSpc>
            </a:pPr>
            <a:r>
              <a:rPr lang="en-US" sz="1600" dirty="0"/>
              <a:t>what we’d rather do is leave processes in memory while switching between them, allowing the OS to implement </a:t>
            </a:r>
            <a:r>
              <a:rPr lang="en-US" sz="1600" b="1" dirty="0"/>
              <a:t>time sharing </a:t>
            </a:r>
            <a:r>
              <a:rPr lang="en-US" sz="1600" dirty="0"/>
              <a:t>efficiently In the diagram, there are three processes (A, B, and C) and each of them have a small part of the 512KB physical memory carved out for them. Assuming a single CPU, the OS chooses to run one of the processes (say A), while the others (B and C) sit in the ready queue waiting to run.</a:t>
            </a:r>
          </a:p>
          <a:p>
            <a:pPr marL="0" indent="0" algn="ctr">
              <a:lnSpc>
                <a:spcPct val="110000"/>
              </a:lnSpc>
              <a:buNone/>
            </a:pPr>
            <a:r>
              <a:rPr lang="en-US" sz="1600" b="1" dirty="0"/>
              <a:t>[Some problems like protection raised]</a:t>
            </a:r>
          </a:p>
          <a:p>
            <a:pPr marL="0" indent="0" algn="ctr">
              <a:lnSpc>
                <a:spcPct val="110000"/>
              </a:lnSpc>
              <a:buNone/>
            </a:pPr>
            <a:r>
              <a:rPr lang="en-US" sz="1600" b="1" dirty="0">
                <a:solidFill>
                  <a:srgbClr val="FF0000"/>
                </a:solidFill>
              </a:rPr>
              <a:t>[ you don’t want a process to be able to read, or</a:t>
            </a:r>
          </a:p>
          <a:p>
            <a:pPr marL="0" indent="0" algn="ctr">
              <a:lnSpc>
                <a:spcPct val="110000"/>
              </a:lnSpc>
              <a:buNone/>
            </a:pPr>
            <a:r>
              <a:rPr lang="en-US" sz="1600" b="1" dirty="0">
                <a:solidFill>
                  <a:srgbClr val="FF0000"/>
                </a:solidFill>
              </a:rPr>
              <a:t>worse, write some other process’s memory ]</a:t>
            </a:r>
          </a:p>
        </p:txBody>
      </p:sp>
      <p:pic>
        <p:nvPicPr>
          <p:cNvPr id="5" name="Picture 4">
            <a:extLst>
              <a:ext uri="{FF2B5EF4-FFF2-40B4-BE49-F238E27FC236}">
                <a16:creationId xmlns:a16="http://schemas.microsoft.com/office/drawing/2014/main" id="{EBBCE237-8880-0DCB-AB85-6F119D71D8E4}"/>
              </a:ext>
            </a:extLst>
          </p:cNvPr>
          <p:cNvPicPr>
            <a:picLocks noChangeAspect="1"/>
          </p:cNvPicPr>
          <p:nvPr/>
        </p:nvPicPr>
        <p:blipFill>
          <a:blip r:embed="rId2"/>
          <a:srcRect l="132" r="3395"/>
          <a:stretch>
            <a:fillRect/>
          </a:stretch>
        </p:blipFill>
        <p:spPr>
          <a:xfrm>
            <a:off x="7143661" y="426027"/>
            <a:ext cx="4846320" cy="5794744"/>
          </a:xfrm>
          <a:prstGeom prst="rect">
            <a:avLst/>
          </a:prstGeom>
        </p:spPr>
      </p:pic>
    </p:spTree>
    <p:extLst>
      <p:ext uri="{BB962C8B-B14F-4D97-AF65-F5344CB8AC3E}">
        <p14:creationId xmlns:p14="http://schemas.microsoft.com/office/powerpoint/2010/main" val="2208069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39A8D-E75E-6CEF-AD47-26026A658FA1}"/>
              </a:ext>
            </a:extLst>
          </p:cNvPr>
          <p:cNvSpPr>
            <a:spLocks noGrp="1"/>
          </p:cNvSpPr>
          <p:nvPr>
            <p:ph type="title"/>
          </p:nvPr>
        </p:nvSpPr>
        <p:spPr/>
        <p:txBody>
          <a:bodyPr/>
          <a:lstStyle/>
          <a:p>
            <a:r>
              <a:rPr lang="en-US" dirty="0"/>
              <a:t>Virtualizing memory</a:t>
            </a:r>
          </a:p>
        </p:txBody>
      </p:sp>
      <p:sp>
        <p:nvSpPr>
          <p:cNvPr id="3" name="Content Placeholder 2">
            <a:extLst>
              <a:ext uri="{FF2B5EF4-FFF2-40B4-BE49-F238E27FC236}">
                <a16:creationId xmlns:a16="http://schemas.microsoft.com/office/drawing/2014/main" id="{8C313EA5-5A0F-9482-FB44-2F2921FF19A2}"/>
              </a:ext>
            </a:extLst>
          </p:cNvPr>
          <p:cNvSpPr>
            <a:spLocks noGrp="1"/>
          </p:cNvSpPr>
          <p:nvPr>
            <p:ph idx="1"/>
          </p:nvPr>
        </p:nvSpPr>
        <p:spPr/>
        <p:txBody>
          <a:bodyPr/>
          <a:lstStyle/>
          <a:p>
            <a:r>
              <a:rPr lang="en-US" dirty="0"/>
              <a:t>Each process accesses its own private virtual address space </a:t>
            </a:r>
            <a:r>
              <a:rPr lang="en-US" b="1" dirty="0"/>
              <a:t>(sometimes just called its address space)</a:t>
            </a:r>
            <a:r>
              <a:rPr lang="en-US" dirty="0"/>
              <a:t>, which the OS somehow maps onto the physical memory of the machine.</a:t>
            </a:r>
          </a:p>
          <a:p>
            <a:r>
              <a:rPr lang="en-US" dirty="0"/>
              <a:t> A memory reference within one running program does not affect the address space of other processes (or the OS itself); </a:t>
            </a:r>
            <a:r>
              <a:rPr lang="en-US" b="1" dirty="0"/>
              <a:t>as far as the running program is concerned, it has physical memory all to itself. </a:t>
            </a:r>
          </a:p>
          <a:p>
            <a:r>
              <a:rPr lang="en-US" dirty="0"/>
              <a:t>The reality, however, is that </a:t>
            </a:r>
            <a:r>
              <a:rPr lang="en-US" b="1" dirty="0"/>
              <a:t>physical memory is a shared resource, managed by the operating system</a:t>
            </a:r>
          </a:p>
          <a:p>
            <a:pPr marL="0" indent="0" algn="ctr">
              <a:buNone/>
            </a:pPr>
            <a:r>
              <a:rPr lang="en-US" b="1" dirty="0"/>
              <a:t>[what is happening here as the OS is virtualizing memory]</a:t>
            </a:r>
          </a:p>
          <a:p>
            <a:pPr marL="0" indent="0" algn="ctr">
              <a:buNone/>
            </a:pPr>
            <a:r>
              <a:rPr lang="en-US" b="1" dirty="0"/>
              <a:t>[Transform physical resources to a virtual form of itself]</a:t>
            </a:r>
          </a:p>
        </p:txBody>
      </p:sp>
    </p:spTree>
    <p:extLst>
      <p:ext uri="{BB962C8B-B14F-4D97-AF65-F5344CB8AC3E}">
        <p14:creationId xmlns:p14="http://schemas.microsoft.com/office/powerpoint/2010/main" val="3659302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A1D00-A5DA-3A44-AF11-D04D0B6A74ED}"/>
              </a:ext>
            </a:extLst>
          </p:cNvPr>
          <p:cNvSpPr>
            <a:spLocks noGrp="1"/>
          </p:cNvSpPr>
          <p:nvPr>
            <p:ph type="title"/>
          </p:nvPr>
        </p:nvSpPr>
        <p:spPr>
          <a:xfrm>
            <a:off x="612648" y="174481"/>
            <a:ext cx="5862396" cy="748318"/>
          </a:xfrm>
        </p:spPr>
        <p:txBody>
          <a:bodyPr anchor="b">
            <a:normAutofit/>
          </a:bodyPr>
          <a:lstStyle/>
          <a:p>
            <a:r>
              <a:rPr lang="en-US" dirty="0"/>
              <a:t>Address space</a:t>
            </a:r>
          </a:p>
        </p:txBody>
      </p:sp>
      <p:sp>
        <p:nvSpPr>
          <p:cNvPr id="3" name="Content Placeholder 2">
            <a:extLst>
              <a:ext uri="{FF2B5EF4-FFF2-40B4-BE49-F238E27FC236}">
                <a16:creationId xmlns:a16="http://schemas.microsoft.com/office/drawing/2014/main" id="{8714DFB2-6BE5-72CF-3B51-04483451AA19}"/>
              </a:ext>
            </a:extLst>
          </p:cNvPr>
          <p:cNvSpPr>
            <a:spLocks noGrp="1"/>
          </p:cNvSpPr>
          <p:nvPr>
            <p:ph idx="1"/>
          </p:nvPr>
        </p:nvSpPr>
        <p:spPr>
          <a:xfrm>
            <a:off x="247585" y="1170471"/>
            <a:ext cx="6596226" cy="5703923"/>
          </a:xfrm>
        </p:spPr>
        <p:txBody>
          <a:bodyPr>
            <a:normAutofit/>
          </a:bodyPr>
          <a:lstStyle/>
          <a:p>
            <a:pPr>
              <a:lnSpc>
                <a:spcPct val="110000"/>
              </a:lnSpc>
            </a:pPr>
            <a:r>
              <a:rPr lang="en-US" sz="1600" dirty="0"/>
              <a:t>The OS creates an easy-to-use abstraction of physical memory; we call this abstraction </a:t>
            </a:r>
            <a:r>
              <a:rPr lang="en-US" sz="1600" b="1" dirty="0"/>
              <a:t>the address space</a:t>
            </a:r>
            <a:r>
              <a:rPr lang="en-US" sz="1600" dirty="0"/>
              <a:t>.</a:t>
            </a:r>
          </a:p>
          <a:p>
            <a:pPr>
              <a:lnSpc>
                <a:spcPct val="110000"/>
              </a:lnSpc>
            </a:pPr>
            <a:r>
              <a:rPr lang="en-US" sz="1600" b="1" dirty="0"/>
              <a:t>The address space is the running program’s view of memory in the system.</a:t>
            </a:r>
          </a:p>
          <a:p>
            <a:pPr marL="0" indent="0">
              <a:lnSpc>
                <a:spcPct val="110000"/>
              </a:lnSpc>
              <a:buNone/>
            </a:pPr>
            <a:r>
              <a:rPr lang="en-US" sz="1200" dirty="0"/>
              <a:t>[Understanding this fundamental OS abstraction of memory is key to understanding how memory is virtualized.]</a:t>
            </a:r>
          </a:p>
          <a:p>
            <a:pPr>
              <a:lnSpc>
                <a:spcPct val="110000"/>
              </a:lnSpc>
            </a:pPr>
            <a:r>
              <a:rPr lang="en-US" sz="1600" dirty="0"/>
              <a:t>The address space of a process contains all of the memory state of the running program. For example, the</a:t>
            </a:r>
            <a:r>
              <a:rPr lang="en-US" sz="1600" b="1" dirty="0"/>
              <a:t> code </a:t>
            </a:r>
            <a:r>
              <a:rPr lang="en-US" sz="1600" dirty="0"/>
              <a:t>of the program (the instructions) have to live in memory somewhere, and thus they are in the address space.</a:t>
            </a:r>
          </a:p>
          <a:p>
            <a:pPr>
              <a:lnSpc>
                <a:spcPct val="110000"/>
              </a:lnSpc>
            </a:pPr>
            <a:r>
              <a:rPr lang="en-US" sz="1600" dirty="0"/>
              <a:t> The program, while it is running, uses a </a:t>
            </a:r>
            <a:r>
              <a:rPr lang="en-US" sz="1600" b="1" dirty="0"/>
              <a:t>stack</a:t>
            </a:r>
            <a:r>
              <a:rPr lang="en-US" sz="1600" dirty="0"/>
              <a:t> to keep track of where it is in the function call chain as well as to allocate </a:t>
            </a:r>
            <a:r>
              <a:rPr lang="en-US" sz="1600" b="1" dirty="0"/>
              <a:t>local variables and pass parameters and return values to and from routines</a:t>
            </a:r>
            <a:r>
              <a:rPr lang="en-US" sz="1600" dirty="0"/>
              <a:t>. </a:t>
            </a:r>
          </a:p>
          <a:p>
            <a:pPr>
              <a:lnSpc>
                <a:spcPct val="110000"/>
              </a:lnSpc>
            </a:pPr>
            <a:r>
              <a:rPr lang="en-US" sz="1600" dirty="0"/>
              <a:t>Finally, the </a:t>
            </a:r>
            <a:r>
              <a:rPr lang="en-US" sz="1600" b="1" dirty="0"/>
              <a:t>heap</a:t>
            </a:r>
            <a:r>
              <a:rPr lang="en-US" sz="1600" dirty="0"/>
              <a:t> is used for </a:t>
            </a:r>
            <a:r>
              <a:rPr lang="en-US" sz="1600" b="1" dirty="0"/>
              <a:t>dynamically-allocated, user-managed memory</a:t>
            </a:r>
            <a:r>
              <a:rPr lang="en-US" sz="1600" dirty="0"/>
              <a:t>, such as that you might receive from a call to malloc() in C or new in an object-oriented language such as C++.</a:t>
            </a:r>
          </a:p>
        </p:txBody>
      </p:sp>
      <p:pic>
        <p:nvPicPr>
          <p:cNvPr id="5" name="Picture 4">
            <a:extLst>
              <a:ext uri="{FF2B5EF4-FFF2-40B4-BE49-F238E27FC236}">
                <a16:creationId xmlns:a16="http://schemas.microsoft.com/office/drawing/2014/main" id="{13E181DA-10C1-2585-686F-D70131A9CD28}"/>
              </a:ext>
            </a:extLst>
          </p:cNvPr>
          <p:cNvPicPr>
            <a:picLocks noChangeAspect="1"/>
          </p:cNvPicPr>
          <p:nvPr/>
        </p:nvPicPr>
        <p:blipFill>
          <a:blip r:embed="rId3"/>
          <a:stretch>
            <a:fillRect/>
          </a:stretch>
        </p:blipFill>
        <p:spPr>
          <a:xfrm>
            <a:off x="7091395" y="898896"/>
            <a:ext cx="4681506" cy="5088594"/>
          </a:xfrm>
          <a:prstGeom prst="rect">
            <a:avLst/>
          </a:prstGeom>
        </p:spPr>
      </p:pic>
    </p:spTree>
    <p:extLst>
      <p:ext uri="{BB962C8B-B14F-4D97-AF65-F5344CB8AC3E}">
        <p14:creationId xmlns:p14="http://schemas.microsoft.com/office/powerpoint/2010/main" val="1583058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E38D9-A29E-7B6E-CB30-C9AD7E6DB519}"/>
              </a:ext>
            </a:extLst>
          </p:cNvPr>
          <p:cNvSpPr>
            <a:spLocks noGrp="1"/>
          </p:cNvSpPr>
          <p:nvPr>
            <p:ph type="title"/>
          </p:nvPr>
        </p:nvSpPr>
        <p:spPr>
          <a:xfrm>
            <a:off x="526587" y="182881"/>
            <a:ext cx="10653578" cy="484093"/>
          </a:xfrm>
        </p:spPr>
        <p:txBody>
          <a:bodyPr>
            <a:normAutofit fontScale="90000"/>
          </a:bodyPr>
          <a:lstStyle/>
          <a:p>
            <a:r>
              <a:rPr lang="en-US" dirty="0"/>
              <a:t>OpenMP</a:t>
            </a:r>
            <a:endParaRPr lang="en-US" b="0" dirty="0"/>
          </a:p>
        </p:txBody>
      </p:sp>
      <p:sp>
        <p:nvSpPr>
          <p:cNvPr id="3" name="Content Placeholder 2">
            <a:extLst>
              <a:ext uri="{FF2B5EF4-FFF2-40B4-BE49-F238E27FC236}">
                <a16:creationId xmlns:a16="http://schemas.microsoft.com/office/drawing/2014/main" id="{9482B999-2D22-0978-6D62-0E22F8494541}"/>
              </a:ext>
            </a:extLst>
          </p:cNvPr>
          <p:cNvSpPr>
            <a:spLocks noGrp="1"/>
          </p:cNvSpPr>
          <p:nvPr>
            <p:ph idx="1"/>
          </p:nvPr>
        </p:nvSpPr>
        <p:spPr/>
        <p:txBody>
          <a:bodyPr/>
          <a:lstStyle/>
          <a:p>
            <a:r>
              <a:rPr lang="en-US" dirty="0"/>
              <a:t>There are 2 classes of shared memory:</a:t>
            </a:r>
          </a:p>
          <a:p>
            <a:pPr marL="457200" indent="-457200">
              <a:buFont typeface="+mj-lt"/>
              <a:buAutoNum type="arabicPeriod"/>
            </a:pPr>
            <a:r>
              <a:rPr lang="en-US" dirty="0">
                <a:solidFill>
                  <a:srgbClr val="FF0000"/>
                </a:solidFill>
              </a:rPr>
              <a:t>Symmetric multiprocessor[SMP]:  </a:t>
            </a:r>
          </a:p>
          <a:p>
            <a:pPr marL="0" indent="0">
              <a:buNone/>
            </a:pPr>
            <a:r>
              <a:rPr lang="en-US" dirty="0"/>
              <a:t>A shared address space with ’equal-time’ access for each processor, and the OS treats every processor the same way </a:t>
            </a:r>
          </a:p>
          <a:p>
            <a:pPr marL="0" indent="0">
              <a:buNone/>
            </a:pPr>
            <a:r>
              <a:rPr lang="en-US" dirty="0">
                <a:solidFill>
                  <a:srgbClr val="FF0000"/>
                </a:solidFill>
              </a:rPr>
              <a:t>[1. It assumes there is no special blocks in memory.</a:t>
            </a:r>
          </a:p>
          <a:p>
            <a:pPr marL="0" indent="0">
              <a:buNone/>
            </a:pPr>
            <a:r>
              <a:rPr lang="en-US" dirty="0">
                <a:solidFill>
                  <a:srgbClr val="FF0000"/>
                </a:solidFill>
              </a:rPr>
              <a:t>2. All memory is equally accessible at a roughly equal cost from anywhere in the machine.] </a:t>
            </a:r>
          </a:p>
          <a:p>
            <a:pPr marL="0" indent="0">
              <a:buNone/>
            </a:pPr>
            <a:r>
              <a:rPr lang="en-US" dirty="0">
                <a:solidFill>
                  <a:srgbClr val="FF0000"/>
                </a:solidFill>
              </a:rPr>
              <a:t>2. Non Uniform Address Space[NUMA]:</a:t>
            </a:r>
          </a:p>
          <a:p>
            <a:pPr marL="0" indent="0">
              <a:buNone/>
            </a:pPr>
            <a:r>
              <a:rPr lang="en-US" dirty="0"/>
              <a:t>Different memory regions have different access costs, think of memory segmented into “near and far” memory.</a:t>
            </a:r>
          </a:p>
        </p:txBody>
      </p:sp>
      <p:sp>
        <p:nvSpPr>
          <p:cNvPr id="6" name="Title 1">
            <a:extLst>
              <a:ext uri="{FF2B5EF4-FFF2-40B4-BE49-F238E27FC236}">
                <a16:creationId xmlns:a16="http://schemas.microsoft.com/office/drawing/2014/main" id="{F96F6796-06DD-F22F-F8DC-54C0D4C9230D}"/>
              </a:ext>
            </a:extLst>
          </p:cNvPr>
          <p:cNvSpPr txBox="1">
            <a:spLocks/>
          </p:cNvSpPr>
          <p:nvPr/>
        </p:nvSpPr>
        <p:spPr>
          <a:xfrm>
            <a:off x="612648" y="666974"/>
            <a:ext cx="10653578" cy="928429"/>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marL="285750" indent="-285750">
              <a:buFont typeface="Arial" panose="020B0604020202020204" pitchFamily="34" charset="0"/>
              <a:buChar char="•"/>
            </a:pPr>
            <a:r>
              <a:rPr lang="en-US" sz="1800" b="0" dirty="0"/>
              <a:t>Depends on shared memory computer.</a:t>
            </a:r>
          </a:p>
          <a:p>
            <a:pPr marL="285750" indent="-285750">
              <a:buFont typeface="Arial" panose="020B0604020202020204" pitchFamily="34" charset="0"/>
              <a:buChar char="•"/>
            </a:pPr>
            <a:r>
              <a:rPr lang="en-US" sz="2000" b="0" dirty="0">
                <a:solidFill>
                  <a:srgbClr val="FF0000"/>
                </a:solidFill>
              </a:rPr>
              <a:t>S</a:t>
            </a:r>
            <a:r>
              <a:rPr lang="en-US" sz="2000" dirty="0">
                <a:solidFill>
                  <a:srgbClr val="FF0000"/>
                </a:solidFill>
              </a:rPr>
              <a:t>hared memory computer</a:t>
            </a:r>
            <a:r>
              <a:rPr lang="en-US" sz="1800" b="0" dirty="0"/>
              <a:t>: any computer compose of multiple processing elements thar share address space.</a:t>
            </a:r>
            <a:endParaRPr lang="en-US" b="0" dirty="0"/>
          </a:p>
        </p:txBody>
      </p:sp>
    </p:spTree>
    <p:extLst>
      <p:ext uri="{BB962C8B-B14F-4D97-AF65-F5344CB8AC3E}">
        <p14:creationId xmlns:p14="http://schemas.microsoft.com/office/powerpoint/2010/main" val="24997228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5DEC7-A710-8083-72CC-F853A6DE0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D86FAD-D8E2-E3DD-B4E5-32B329B5B8EC}"/>
              </a:ext>
            </a:extLst>
          </p:cNvPr>
          <p:cNvSpPr>
            <a:spLocks noGrp="1"/>
          </p:cNvSpPr>
          <p:nvPr>
            <p:ph type="title"/>
          </p:nvPr>
        </p:nvSpPr>
        <p:spPr>
          <a:xfrm>
            <a:off x="526587" y="182881"/>
            <a:ext cx="10653578" cy="484093"/>
          </a:xfrm>
        </p:spPr>
        <p:txBody>
          <a:bodyPr>
            <a:normAutofit fontScale="90000"/>
          </a:bodyPr>
          <a:lstStyle/>
          <a:p>
            <a:r>
              <a:rPr lang="en-US" dirty="0"/>
              <a:t>OpenMP</a:t>
            </a:r>
            <a:endParaRPr lang="en-US" b="0" dirty="0"/>
          </a:p>
        </p:txBody>
      </p:sp>
      <p:sp>
        <p:nvSpPr>
          <p:cNvPr id="3" name="Content Placeholder 2">
            <a:extLst>
              <a:ext uri="{FF2B5EF4-FFF2-40B4-BE49-F238E27FC236}">
                <a16:creationId xmlns:a16="http://schemas.microsoft.com/office/drawing/2014/main" id="{78201C86-2A64-4C39-D98C-C566F9289F33}"/>
              </a:ext>
            </a:extLst>
          </p:cNvPr>
          <p:cNvSpPr>
            <a:spLocks noGrp="1"/>
          </p:cNvSpPr>
          <p:nvPr>
            <p:ph idx="1"/>
          </p:nvPr>
        </p:nvSpPr>
        <p:spPr>
          <a:xfrm>
            <a:off x="612648" y="1715532"/>
            <a:ext cx="6659522" cy="4593828"/>
          </a:xfrm>
        </p:spPr>
        <p:txBody>
          <a:bodyPr>
            <a:normAutofit fontScale="77500" lnSpcReduction="20000"/>
          </a:bodyPr>
          <a:lstStyle/>
          <a:p>
            <a:r>
              <a:rPr lang="en-US" dirty="0">
                <a:solidFill>
                  <a:srgbClr val="FF0000"/>
                </a:solidFill>
              </a:rPr>
              <a:t>Based on NUMA approach, we can say :</a:t>
            </a:r>
          </a:p>
          <a:p>
            <a:pPr marL="457200" indent="-457200">
              <a:buFont typeface="+mj-lt"/>
              <a:buAutoNum type="arabicPeriod"/>
            </a:pPr>
            <a:r>
              <a:rPr lang="en-US" dirty="0"/>
              <a:t>Some address spaces are closer to processor than others.</a:t>
            </a:r>
          </a:p>
          <a:p>
            <a:pPr marL="457200" indent="-457200">
              <a:buFont typeface="+mj-lt"/>
              <a:buAutoNum type="arabicPeriod"/>
            </a:pPr>
            <a:r>
              <a:rPr lang="en-US" dirty="0"/>
              <a:t>Modern CPUs that we have are SMPs, the fact the matter is they’re not.</a:t>
            </a:r>
          </a:p>
          <a:p>
            <a:pPr marL="457200" indent="-457200">
              <a:buFont typeface="+mj-lt"/>
              <a:buAutoNum type="arabicPeriod"/>
            </a:pPr>
            <a:r>
              <a:rPr lang="en-US" dirty="0"/>
              <a:t>The fact the matter is when you think about an algorithm, you want to keep in mind that there’re a cache hierarchy behind there.</a:t>
            </a:r>
          </a:p>
          <a:p>
            <a:pPr marL="457200" indent="-457200">
              <a:buFont typeface="+mj-lt"/>
              <a:buAutoNum type="arabicPeriod"/>
            </a:pPr>
            <a:r>
              <a:rPr lang="en-US" dirty="0"/>
              <a:t>If something is setting in a cache close to the processor, it has much faster access time than if it’s setting in DRAM faraway.</a:t>
            </a:r>
          </a:p>
          <a:p>
            <a:r>
              <a:rPr lang="en-US" dirty="0"/>
              <a:t>The way a modern OS manages a process is it further decompose that into threads and it does that by fragmenting the stack.</a:t>
            </a:r>
          </a:p>
          <a:p>
            <a:r>
              <a:rPr lang="en-US" dirty="0"/>
              <a:t>So each thread has its own chunk of the stack and maintains its own program pointer and its own register set and but they share the text region(code area), the data region and the heap. </a:t>
            </a:r>
          </a:p>
        </p:txBody>
      </p:sp>
      <p:sp>
        <p:nvSpPr>
          <p:cNvPr id="6" name="Title 1">
            <a:extLst>
              <a:ext uri="{FF2B5EF4-FFF2-40B4-BE49-F238E27FC236}">
                <a16:creationId xmlns:a16="http://schemas.microsoft.com/office/drawing/2014/main" id="{FA63BD25-FCD8-8D54-7E63-38E17F3BBD29}"/>
              </a:ext>
            </a:extLst>
          </p:cNvPr>
          <p:cNvSpPr txBox="1">
            <a:spLocks/>
          </p:cNvSpPr>
          <p:nvPr/>
        </p:nvSpPr>
        <p:spPr>
          <a:xfrm>
            <a:off x="612648" y="666974"/>
            <a:ext cx="5088905" cy="928429"/>
          </a:xfrm>
          <a:prstGeom prst="rect">
            <a:avLst/>
          </a:prstGeom>
        </p:spPr>
        <p:txBody>
          <a:bodyPr vert="horz" lIns="91440" tIns="45720" rIns="91440" bIns="45720" rtlCol="0" anchor="t">
            <a:normAutofit fontScale="90000" lnSpcReduction="10000"/>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marL="285750" indent="-285750">
              <a:buFont typeface="Arial" panose="020B0604020202020204" pitchFamily="34" charset="0"/>
              <a:buChar char="•"/>
            </a:pPr>
            <a:r>
              <a:rPr lang="en-US" sz="1800" b="0" dirty="0"/>
              <a:t>Depends on shared memory computer.</a:t>
            </a:r>
          </a:p>
          <a:p>
            <a:pPr marL="285750" indent="-285750">
              <a:buFont typeface="Arial" panose="020B0604020202020204" pitchFamily="34" charset="0"/>
              <a:buChar char="•"/>
            </a:pPr>
            <a:r>
              <a:rPr lang="en-US" sz="2000" b="0" dirty="0">
                <a:solidFill>
                  <a:srgbClr val="FF0000"/>
                </a:solidFill>
              </a:rPr>
              <a:t>S</a:t>
            </a:r>
            <a:r>
              <a:rPr lang="en-US" sz="2000" dirty="0">
                <a:solidFill>
                  <a:srgbClr val="FF0000"/>
                </a:solidFill>
              </a:rPr>
              <a:t>hared memory computer</a:t>
            </a:r>
            <a:r>
              <a:rPr lang="en-US" sz="1800" b="0" dirty="0"/>
              <a:t>: any computer compose of multiple processing elements thar share address space.</a:t>
            </a:r>
            <a:endParaRPr lang="en-US" b="0" dirty="0"/>
          </a:p>
        </p:txBody>
      </p:sp>
      <p:pic>
        <p:nvPicPr>
          <p:cNvPr id="5" name="Picture 4">
            <a:extLst>
              <a:ext uri="{FF2B5EF4-FFF2-40B4-BE49-F238E27FC236}">
                <a16:creationId xmlns:a16="http://schemas.microsoft.com/office/drawing/2014/main" id="{BC947BF7-E33F-FD33-941D-07C102C592F1}"/>
              </a:ext>
            </a:extLst>
          </p:cNvPr>
          <p:cNvPicPr>
            <a:picLocks noChangeAspect="1"/>
          </p:cNvPicPr>
          <p:nvPr/>
        </p:nvPicPr>
        <p:blipFill>
          <a:blip r:embed="rId2"/>
          <a:stretch>
            <a:fillRect/>
          </a:stretch>
        </p:blipFill>
        <p:spPr>
          <a:xfrm>
            <a:off x="7272169" y="666974"/>
            <a:ext cx="4701091" cy="5411097"/>
          </a:xfrm>
          <a:prstGeom prst="rect">
            <a:avLst/>
          </a:prstGeom>
        </p:spPr>
      </p:pic>
    </p:spTree>
    <p:extLst>
      <p:ext uri="{BB962C8B-B14F-4D97-AF65-F5344CB8AC3E}">
        <p14:creationId xmlns:p14="http://schemas.microsoft.com/office/powerpoint/2010/main" val="992404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D059C-4497-0A39-2459-78D11A16D9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5765D-3B6A-3432-05DF-A18265326F96}"/>
              </a:ext>
            </a:extLst>
          </p:cNvPr>
          <p:cNvSpPr>
            <a:spLocks noGrp="1"/>
          </p:cNvSpPr>
          <p:nvPr>
            <p:ph type="title"/>
          </p:nvPr>
        </p:nvSpPr>
        <p:spPr>
          <a:xfrm>
            <a:off x="526587" y="182881"/>
            <a:ext cx="10653578" cy="484093"/>
          </a:xfrm>
        </p:spPr>
        <p:txBody>
          <a:bodyPr>
            <a:normAutofit fontScale="90000"/>
          </a:bodyPr>
          <a:lstStyle/>
          <a:p>
            <a:r>
              <a:rPr lang="en-US" dirty="0"/>
              <a:t>OpenMP</a:t>
            </a:r>
            <a:endParaRPr lang="en-US" b="0" dirty="0"/>
          </a:p>
        </p:txBody>
      </p:sp>
      <p:sp>
        <p:nvSpPr>
          <p:cNvPr id="3" name="Content Placeholder 2">
            <a:extLst>
              <a:ext uri="{FF2B5EF4-FFF2-40B4-BE49-F238E27FC236}">
                <a16:creationId xmlns:a16="http://schemas.microsoft.com/office/drawing/2014/main" id="{00401B21-0C79-E681-24BB-20CB69BAC258}"/>
              </a:ext>
            </a:extLst>
          </p:cNvPr>
          <p:cNvSpPr>
            <a:spLocks noGrp="1"/>
          </p:cNvSpPr>
          <p:nvPr>
            <p:ph idx="1"/>
          </p:nvPr>
        </p:nvSpPr>
        <p:spPr>
          <a:xfrm>
            <a:off x="612648" y="1715532"/>
            <a:ext cx="6659522" cy="4593828"/>
          </a:xfrm>
        </p:spPr>
        <p:txBody>
          <a:bodyPr>
            <a:normAutofit fontScale="77500" lnSpcReduction="20000"/>
          </a:bodyPr>
          <a:lstStyle/>
          <a:p>
            <a:r>
              <a:rPr lang="en-US" dirty="0"/>
              <a:t>Threads have a stack which is their own little piece of memory but then they have a heap which belongs to the process and is shared between the threads.</a:t>
            </a:r>
          </a:p>
          <a:p>
            <a:r>
              <a:rPr lang="en-US" dirty="0"/>
              <a:t>Sharing process state among multiple threads which is greatly reduces the cost of switching context.</a:t>
            </a:r>
          </a:p>
          <a:p>
            <a:r>
              <a:rPr lang="en-US" dirty="0"/>
              <a:t>You may have threads more than  processor cores.</a:t>
            </a:r>
          </a:p>
          <a:p>
            <a:r>
              <a:rPr lang="en-US" dirty="0">
                <a:solidFill>
                  <a:srgbClr val="FF0000"/>
                </a:solidFill>
              </a:rPr>
              <a:t>An instance of a program [process]:</a:t>
            </a:r>
          </a:p>
          <a:p>
            <a:pPr marL="457200" indent="-457200">
              <a:buFont typeface="+mj-lt"/>
              <a:buAutoNum type="arabicPeriod"/>
            </a:pPr>
            <a:r>
              <a:rPr lang="en-US" dirty="0"/>
              <a:t>One process lots of threads</a:t>
            </a:r>
          </a:p>
          <a:p>
            <a:pPr marL="457200" indent="-457200">
              <a:buFont typeface="+mj-lt"/>
              <a:buAutoNum type="arabicPeriod"/>
            </a:pPr>
            <a:r>
              <a:rPr lang="en-US" dirty="0"/>
              <a:t>Threads interact through reads/writes to a shared  address space.</a:t>
            </a:r>
          </a:p>
          <a:p>
            <a:pPr marL="457200" indent="-457200">
              <a:buFont typeface="+mj-lt"/>
              <a:buAutoNum type="arabicPeriod"/>
            </a:pPr>
            <a:r>
              <a:rPr lang="en-US" dirty="0"/>
              <a:t>OS schedular decides when to run which threads … interleaving for fairness</a:t>
            </a:r>
          </a:p>
          <a:p>
            <a:pPr marL="457200" indent="-457200">
              <a:buFont typeface="+mj-lt"/>
              <a:buAutoNum type="arabicPeriod"/>
            </a:pPr>
            <a:r>
              <a:rPr lang="en-US" dirty="0"/>
              <a:t>Synchronization to assure every legal order results in correct results.</a:t>
            </a:r>
          </a:p>
        </p:txBody>
      </p:sp>
      <p:sp>
        <p:nvSpPr>
          <p:cNvPr id="6" name="Title 1">
            <a:extLst>
              <a:ext uri="{FF2B5EF4-FFF2-40B4-BE49-F238E27FC236}">
                <a16:creationId xmlns:a16="http://schemas.microsoft.com/office/drawing/2014/main" id="{DB476740-F052-F176-422E-6197D3ECA4D2}"/>
              </a:ext>
            </a:extLst>
          </p:cNvPr>
          <p:cNvSpPr txBox="1">
            <a:spLocks/>
          </p:cNvSpPr>
          <p:nvPr/>
        </p:nvSpPr>
        <p:spPr>
          <a:xfrm>
            <a:off x="612648" y="666974"/>
            <a:ext cx="5088905" cy="928429"/>
          </a:xfrm>
          <a:prstGeom prst="rect">
            <a:avLst/>
          </a:prstGeom>
        </p:spPr>
        <p:txBody>
          <a:bodyPr vert="horz" lIns="91440" tIns="45720" rIns="91440" bIns="45720" rtlCol="0" anchor="t">
            <a:normAutofit fontScale="90000" lnSpcReduction="10000"/>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marL="285750" indent="-285750">
              <a:buFont typeface="Arial" panose="020B0604020202020204" pitchFamily="34" charset="0"/>
              <a:buChar char="•"/>
            </a:pPr>
            <a:r>
              <a:rPr lang="en-US" sz="1800" b="0" dirty="0"/>
              <a:t>Depends on shared memory computer.</a:t>
            </a:r>
          </a:p>
          <a:p>
            <a:pPr marL="285750" indent="-285750">
              <a:buFont typeface="Arial" panose="020B0604020202020204" pitchFamily="34" charset="0"/>
              <a:buChar char="•"/>
            </a:pPr>
            <a:r>
              <a:rPr lang="en-US" sz="2000" b="0" dirty="0">
                <a:solidFill>
                  <a:srgbClr val="FF0000"/>
                </a:solidFill>
              </a:rPr>
              <a:t>S</a:t>
            </a:r>
            <a:r>
              <a:rPr lang="en-US" sz="2000" dirty="0">
                <a:solidFill>
                  <a:srgbClr val="FF0000"/>
                </a:solidFill>
              </a:rPr>
              <a:t>hared memory computer</a:t>
            </a:r>
            <a:r>
              <a:rPr lang="en-US" sz="1800" b="0" dirty="0"/>
              <a:t>: any computer compose of multiple processing elements thar share address space.</a:t>
            </a:r>
            <a:endParaRPr lang="en-US" b="0" dirty="0"/>
          </a:p>
        </p:txBody>
      </p:sp>
      <p:pic>
        <p:nvPicPr>
          <p:cNvPr id="5" name="Picture 4">
            <a:extLst>
              <a:ext uri="{FF2B5EF4-FFF2-40B4-BE49-F238E27FC236}">
                <a16:creationId xmlns:a16="http://schemas.microsoft.com/office/drawing/2014/main" id="{5DBE7E1B-C81E-AFB3-09E4-8559146867C0}"/>
              </a:ext>
            </a:extLst>
          </p:cNvPr>
          <p:cNvPicPr>
            <a:picLocks noChangeAspect="1"/>
          </p:cNvPicPr>
          <p:nvPr/>
        </p:nvPicPr>
        <p:blipFill>
          <a:blip r:embed="rId2"/>
          <a:stretch>
            <a:fillRect/>
          </a:stretch>
        </p:blipFill>
        <p:spPr>
          <a:xfrm>
            <a:off x="7272169" y="666974"/>
            <a:ext cx="4701091" cy="5411097"/>
          </a:xfrm>
          <a:prstGeom prst="rect">
            <a:avLst/>
          </a:prstGeom>
        </p:spPr>
      </p:pic>
    </p:spTree>
    <p:extLst>
      <p:ext uri="{BB962C8B-B14F-4D97-AF65-F5344CB8AC3E}">
        <p14:creationId xmlns:p14="http://schemas.microsoft.com/office/powerpoint/2010/main" val="1240697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E7B04-DDEC-6372-86E0-FBB2134AC9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F3AD92-C9BB-0449-94FF-77BF5B3A244C}"/>
              </a:ext>
            </a:extLst>
          </p:cNvPr>
          <p:cNvSpPr>
            <a:spLocks noGrp="1"/>
          </p:cNvSpPr>
          <p:nvPr>
            <p:ph type="title"/>
          </p:nvPr>
        </p:nvSpPr>
        <p:spPr>
          <a:xfrm>
            <a:off x="526587" y="182881"/>
            <a:ext cx="10653578" cy="484093"/>
          </a:xfrm>
        </p:spPr>
        <p:txBody>
          <a:bodyPr>
            <a:normAutofit fontScale="90000"/>
          </a:bodyPr>
          <a:lstStyle/>
          <a:p>
            <a:r>
              <a:rPr lang="en-US" dirty="0"/>
              <a:t>OpenMP</a:t>
            </a:r>
            <a:endParaRPr lang="en-US" b="0" dirty="0"/>
          </a:p>
        </p:txBody>
      </p:sp>
      <p:sp>
        <p:nvSpPr>
          <p:cNvPr id="3" name="Content Placeholder 2">
            <a:extLst>
              <a:ext uri="{FF2B5EF4-FFF2-40B4-BE49-F238E27FC236}">
                <a16:creationId xmlns:a16="http://schemas.microsoft.com/office/drawing/2014/main" id="{BA2B8FD9-C529-87E4-D4CE-F9C5D89D3CE9}"/>
              </a:ext>
            </a:extLst>
          </p:cNvPr>
          <p:cNvSpPr>
            <a:spLocks noGrp="1"/>
          </p:cNvSpPr>
          <p:nvPr>
            <p:ph idx="1"/>
          </p:nvPr>
        </p:nvSpPr>
        <p:spPr>
          <a:xfrm>
            <a:off x="193101" y="1715532"/>
            <a:ext cx="5902900" cy="4593828"/>
          </a:xfrm>
        </p:spPr>
        <p:txBody>
          <a:bodyPr>
            <a:normAutofit/>
          </a:bodyPr>
          <a:lstStyle/>
          <a:p>
            <a:r>
              <a:rPr lang="en-US" dirty="0"/>
              <a:t>Programmer have to make sure that every single way you interleave those threads gives you a correct result.</a:t>
            </a:r>
          </a:p>
          <a:p>
            <a:r>
              <a:rPr lang="en-US" dirty="0"/>
              <a:t>Threads communicate by sharing variables.</a:t>
            </a:r>
          </a:p>
          <a:p>
            <a:r>
              <a:rPr lang="en-US" dirty="0"/>
              <a:t>These variables are sitting in the heap of the process.</a:t>
            </a:r>
          </a:p>
          <a:p>
            <a:r>
              <a:rPr lang="en-US" dirty="0"/>
              <a:t>All threads can see that</a:t>
            </a:r>
          </a:p>
          <a:p>
            <a:r>
              <a:rPr lang="en-US" dirty="0"/>
              <a:t>So the threads interact by looking at those variables.</a:t>
            </a:r>
          </a:p>
        </p:txBody>
      </p:sp>
      <p:sp>
        <p:nvSpPr>
          <p:cNvPr id="6" name="Title 1">
            <a:extLst>
              <a:ext uri="{FF2B5EF4-FFF2-40B4-BE49-F238E27FC236}">
                <a16:creationId xmlns:a16="http://schemas.microsoft.com/office/drawing/2014/main" id="{20FBF39D-F8A5-22E7-9B38-58DA15D953F1}"/>
              </a:ext>
            </a:extLst>
          </p:cNvPr>
          <p:cNvSpPr txBox="1">
            <a:spLocks/>
          </p:cNvSpPr>
          <p:nvPr/>
        </p:nvSpPr>
        <p:spPr>
          <a:xfrm>
            <a:off x="612648" y="666974"/>
            <a:ext cx="5088905" cy="928429"/>
          </a:xfrm>
          <a:prstGeom prst="rect">
            <a:avLst/>
          </a:prstGeom>
        </p:spPr>
        <p:txBody>
          <a:bodyPr vert="horz" lIns="91440" tIns="45720" rIns="91440" bIns="45720" rtlCol="0" anchor="t">
            <a:normAutofit fontScale="90000" lnSpcReduction="10000"/>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pPr marL="285750" indent="-285750">
              <a:buFont typeface="Arial" panose="020B0604020202020204" pitchFamily="34" charset="0"/>
              <a:buChar char="•"/>
            </a:pPr>
            <a:r>
              <a:rPr lang="en-US" sz="1800" b="0" dirty="0"/>
              <a:t>Depends on shared memory computer.</a:t>
            </a:r>
          </a:p>
          <a:p>
            <a:pPr marL="285750" indent="-285750">
              <a:buFont typeface="Arial" panose="020B0604020202020204" pitchFamily="34" charset="0"/>
              <a:buChar char="•"/>
            </a:pPr>
            <a:r>
              <a:rPr lang="en-US" sz="2000" b="0" dirty="0">
                <a:solidFill>
                  <a:srgbClr val="FF0000"/>
                </a:solidFill>
              </a:rPr>
              <a:t>S</a:t>
            </a:r>
            <a:r>
              <a:rPr lang="en-US" sz="2000" dirty="0">
                <a:solidFill>
                  <a:srgbClr val="FF0000"/>
                </a:solidFill>
              </a:rPr>
              <a:t>hared memory computer</a:t>
            </a:r>
            <a:r>
              <a:rPr lang="en-US" sz="1800" b="0" dirty="0"/>
              <a:t>: any computer compose of multiple processing elements thar share address space.</a:t>
            </a:r>
            <a:endParaRPr lang="en-US" b="0" dirty="0"/>
          </a:p>
        </p:txBody>
      </p:sp>
      <p:sp>
        <p:nvSpPr>
          <p:cNvPr id="4" name="Content Placeholder 2">
            <a:extLst>
              <a:ext uri="{FF2B5EF4-FFF2-40B4-BE49-F238E27FC236}">
                <a16:creationId xmlns:a16="http://schemas.microsoft.com/office/drawing/2014/main" id="{67FDBB95-9324-DD18-9829-C362B06EFAAC}"/>
              </a:ext>
            </a:extLst>
          </p:cNvPr>
          <p:cNvSpPr txBox="1">
            <a:spLocks/>
          </p:cNvSpPr>
          <p:nvPr/>
        </p:nvSpPr>
        <p:spPr>
          <a:xfrm>
            <a:off x="6096000" y="1715532"/>
            <a:ext cx="6132397" cy="459382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solidFill>
                  <a:srgbClr val="FF0000"/>
                </a:solidFill>
              </a:rPr>
              <a:t>With OpenMP:</a:t>
            </a:r>
          </a:p>
          <a:p>
            <a:pPr marL="457200" indent="-457200">
              <a:buFont typeface="+mj-lt"/>
              <a:buAutoNum type="arabicPeriod"/>
            </a:pPr>
            <a:r>
              <a:rPr lang="en-US" dirty="0"/>
              <a:t>Create threads working in a shared address space</a:t>
            </a:r>
          </a:p>
          <a:p>
            <a:pPr marL="457200" indent="-457200">
              <a:buFont typeface="+mj-lt"/>
              <a:buAutoNum type="arabicPeriod"/>
            </a:pPr>
            <a:r>
              <a:rPr lang="en-US" dirty="0"/>
              <a:t>Un intended sharing that can get you into trouble with the race condition</a:t>
            </a:r>
          </a:p>
          <a:p>
            <a:pPr marL="457200" indent="-457200">
              <a:buFont typeface="+mj-lt"/>
              <a:buAutoNum type="arabicPeriod"/>
            </a:pPr>
            <a:r>
              <a:rPr lang="en-US" dirty="0"/>
              <a:t>Synchronization to have organized discipline access to shared data</a:t>
            </a:r>
          </a:p>
          <a:p>
            <a:pPr marL="457200" indent="-457200">
              <a:buFont typeface="+mj-lt"/>
              <a:buAutoNum type="arabicPeriod"/>
            </a:pPr>
            <a:r>
              <a:rPr lang="en-US" dirty="0"/>
              <a:t>Able to manage the data environment to reduce amount of synchronization</a:t>
            </a:r>
          </a:p>
        </p:txBody>
      </p:sp>
    </p:spTree>
    <p:extLst>
      <p:ext uri="{BB962C8B-B14F-4D97-AF65-F5344CB8AC3E}">
        <p14:creationId xmlns:p14="http://schemas.microsoft.com/office/powerpoint/2010/main" val="288381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23C52-DC6A-99B4-685A-B635D46DE6CB}"/>
              </a:ext>
            </a:extLst>
          </p:cNvPr>
          <p:cNvSpPr>
            <a:spLocks noGrp="1"/>
          </p:cNvSpPr>
          <p:nvPr>
            <p:ph type="title"/>
          </p:nvPr>
        </p:nvSpPr>
        <p:spPr/>
        <p:txBody>
          <a:bodyPr/>
          <a:lstStyle/>
          <a:p>
            <a:r>
              <a:rPr lang="en-US" dirty="0"/>
              <a:t>Exercise 2</a:t>
            </a:r>
          </a:p>
        </p:txBody>
      </p:sp>
      <p:sp>
        <p:nvSpPr>
          <p:cNvPr id="3" name="Content Placeholder 2">
            <a:extLst>
              <a:ext uri="{FF2B5EF4-FFF2-40B4-BE49-F238E27FC236}">
                <a16:creationId xmlns:a16="http://schemas.microsoft.com/office/drawing/2014/main" id="{EC1BB75F-0F35-36F8-E61B-ACF498BDD7A1}"/>
              </a:ext>
            </a:extLst>
          </p:cNvPr>
          <p:cNvSpPr>
            <a:spLocks noGrp="1"/>
          </p:cNvSpPr>
          <p:nvPr>
            <p:ph idx="1"/>
          </p:nvPr>
        </p:nvSpPr>
        <p:spPr/>
        <p:txBody>
          <a:bodyPr/>
          <a:lstStyle/>
          <a:p>
            <a:r>
              <a:rPr lang="en-US" dirty="0"/>
              <a:t>Create a parallel version of the PI program using a parallel construct.</a:t>
            </a:r>
            <a:r>
              <a:rPr lang="en-US" dirty="0">
                <a:solidFill>
                  <a:srgbClr val="FF0000"/>
                </a:solidFill>
              </a:rPr>
              <a:t>[pay close attention to shared versus private variables ]</a:t>
            </a:r>
          </a:p>
          <a:p>
            <a:r>
              <a:rPr lang="en-US" dirty="0"/>
              <a:t>Creating a parallel version of a program for calculating the integral of a function.</a:t>
            </a:r>
          </a:p>
        </p:txBody>
      </p:sp>
    </p:spTree>
    <p:extLst>
      <p:ext uri="{BB962C8B-B14F-4D97-AF65-F5344CB8AC3E}">
        <p14:creationId xmlns:p14="http://schemas.microsoft.com/office/powerpoint/2010/main" val="3048804342"/>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933</TotalTime>
  <Words>1547</Words>
  <Application>Microsoft Office PowerPoint</Application>
  <PresentationFormat>Widescreen</PresentationFormat>
  <Paragraphs>90</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Neue Haas Grotesk Text Pro</vt:lpstr>
      <vt:lpstr>Wingdings</vt:lpstr>
      <vt:lpstr>VanillaVTI</vt:lpstr>
      <vt:lpstr>Parallel computing</vt:lpstr>
      <vt:lpstr>Program vs process</vt:lpstr>
      <vt:lpstr>The abstraction : A process</vt:lpstr>
      <vt:lpstr>Memory view</vt:lpstr>
      <vt:lpstr>PowerPoint Presentation</vt:lpstr>
      <vt:lpstr>Virtualizing memory</vt:lpstr>
      <vt:lpstr>Address space</vt:lpstr>
      <vt:lpstr>OpenMP</vt:lpstr>
      <vt:lpstr>OpenMP</vt:lpstr>
      <vt:lpstr>OpenMP</vt:lpstr>
      <vt:lpstr>OpenMP</vt:lpstr>
      <vt:lpstr>Exercise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Mariam Malak</dc:creator>
  <cp:lastModifiedBy>Mariam Malak</cp:lastModifiedBy>
  <cp:revision>7</cp:revision>
  <dcterms:created xsi:type="dcterms:W3CDTF">2026-02-12T13:52:08Z</dcterms:created>
  <dcterms:modified xsi:type="dcterms:W3CDTF">2026-02-20T15:29:48Z</dcterms:modified>
</cp:coreProperties>
</file>