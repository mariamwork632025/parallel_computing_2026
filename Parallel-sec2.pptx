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10"/>
  </p:notesMasterIdLst>
  <p:sldIdLst>
    <p:sldId id="256" r:id="rId2"/>
    <p:sldId id="257" r:id="rId3"/>
    <p:sldId id="273" r:id="rId4"/>
    <p:sldId id="258" r:id="rId5"/>
    <p:sldId id="274" r:id="rId6"/>
    <p:sldId id="275" r:id="rId7"/>
    <p:sldId id="276" r:id="rId8"/>
    <p:sldId id="27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B4DD"/>
    <a:srgbClr val="0171C2"/>
    <a:srgbClr val="2772B7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922" autoAdjust="0"/>
  </p:normalViewPr>
  <p:slideViewPr>
    <p:cSldViewPr snapToGrid="0">
      <p:cViewPr varScale="1">
        <p:scale>
          <a:sx n="71" d="100"/>
          <a:sy n="71" d="100"/>
        </p:scale>
        <p:origin x="14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A22530-92FE-4C3F-9B3B-BCC6CE1117E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08E562-24ED-41D7-AEB8-880B26994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70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084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422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099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060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98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459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96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017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851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039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921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71C2">
            <a:alpha val="8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73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3447EF-0A89-8D11-D654-A72B4E49FC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F15DF8A-891A-1965-E372-1BA1F3B94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79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3000"/>
                </a:schemeClr>
              </a:gs>
              <a:gs pos="26000">
                <a:schemeClr val="bg1">
                  <a:alpha val="2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929D53-5DEF-676E-7A33-156FB769F7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73219" y="898373"/>
            <a:ext cx="4470544" cy="3474720"/>
          </a:xfrm>
        </p:spPr>
        <p:txBody>
          <a:bodyPr anchor="b">
            <a:normAutofit/>
          </a:bodyPr>
          <a:lstStyle/>
          <a:p>
            <a:pPr algn="l"/>
            <a:r>
              <a:rPr lang="en-US" sz="5800"/>
              <a:t>Parallel</a:t>
            </a:r>
            <a:br>
              <a:rPr lang="en-US" sz="5800"/>
            </a:br>
            <a:r>
              <a:rPr lang="en-US" sz="5800"/>
              <a:t>computing</a:t>
            </a:r>
            <a:endParaRPr lang="en-US" sz="5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B473AC-FAE5-08F1-B10B-0BB3288146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82646" y="4495013"/>
            <a:ext cx="4116410" cy="1386840"/>
          </a:xfrm>
        </p:spPr>
        <p:txBody>
          <a:bodyPr anchor="t">
            <a:normAutofit/>
          </a:bodyPr>
          <a:lstStyle/>
          <a:p>
            <a:pPr algn="l"/>
            <a:r>
              <a:rPr lang="en-US" sz="2200" dirty="0"/>
              <a:t>Sec.2</a:t>
            </a:r>
          </a:p>
          <a:p>
            <a:pPr algn="l"/>
            <a:r>
              <a:rPr lang="en-US" sz="2200" dirty="0"/>
              <a:t>Eng/ Mariam Malak</a:t>
            </a:r>
          </a:p>
        </p:txBody>
      </p:sp>
    </p:spTree>
    <p:extLst>
      <p:ext uri="{BB962C8B-B14F-4D97-AF65-F5344CB8AC3E}">
        <p14:creationId xmlns:p14="http://schemas.microsoft.com/office/powerpoint/2010/main" val="17773038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207B083-EAC0-A5BB-C369-C9589EC7F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E4C32F-35C7-D402-230C-610326F37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48" y="-45383"/>
            <a:ext cx="10872216" cy="862964"/>
          </a:xfrm>
        </p:spPr>
        <p:txBody>
          <a:bodyPr anchor="b">
            <a:normAutofit fontScale="90000"/>
          </a:bodyPr>
          <a:lstStyle/>
          <a:p>
            <a:r>
              <a:rPr lang="en-US" sz="3200" dirty="0"/>
              <a:t>OpenMP constructs</a:t>
            </a:r>
            <a:br>
              <a:rPr lang="en-US" sz="2500" dirty="0"/>
            </a:br>
            <a:r>
              <a:rPr lang="en-US" sz="2500" dirty="0"/>
              <a:t> </a:t>
            </a:r>
            <a:r>
              <a:rPr lang="en-US" sz="2000" b="0" dirty="0"/>
              <a:t>most of the constructs in OpenMP are compiler directives.</a:t>
            </a:r>
            <a:endParaRPr lang="en-US" sz="2500" b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DFC397-CD96-85FF-3721-32BA927BF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85" y="2133753"/>
            <a:ext cx="6630325" cy="461462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B0037C7D-CC14-28B4-343E-BE0F2299C90F}"/>
              </a:ext>
            </a:extLst>
          </p:cNvPr>
          <p:cNvSpPr/>
          <p:nvPr/>
        </p:nvSpPr>
        <p:spPr>
          <a:xfrm>
            <a:off x="441064" y="2248349"/>
            <a:ext cx="1914861" cy="43030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FD656D24-1FFF-2DB8-CBDF-943B7C99EBD0}"/>
              </a:ext>
            </a:extLst>
          </p:cNvPr>
          <p:cNvCxnSpPr>
            <a:cxnSpLocks/>
          </p:cNvCxnSpPr>
          <p:nvPr/>
        </p:nvCxnSpPr>
        <p:spPr>
          <a:xfrm>
            <a:off x="2372046" y="2463503"/>
            <a:ext cx="5663916" cy="785284"/>
          </a:xfrm>
          <a:prstGeom prst="curved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47D0350B-4457-CCED-3A41-3E44934C292E}"/>
              </a:ext>
            </a:extLst>
          </p:cNvPr>
          <p:cNvSpPr/>
          <p:nvPr/>
        </p:nvSpPr>
        <p:spPr>
          <a:xfrm>
            <a:off x="7815415" y="1675504"/>
            <a:ext cx="4190119" cy="2108499"/>
          </a:xfrm>
          <a:custGeom>
            <a:avLst/>
            <a:gdLst>
              <a:gd name="csX0" fmla="*/ 0 w 4190119"/>
              <a:gd name="csY0" fmla="*/ 1054250 h 2108499"/>
              <a:gd name="csX1" fmla="*/ 2095060 w 4190119"/>
              <a:gd name="csY1" fmla="*/ 0 h 2108499"/>
              <a:gd name="csX2" fmla="*/ 4190120 w 4190119"/>
              <a:gd name="csY2" fmla="*/ 1054250 h 2108499"/>
              <a:gd name="csX3" fmla="*/ 2095060 w 4190119"/>
              <a:gd name="csY3" fmla="*/ 2108500 h 2108499"/>
              <a:gd name="csX4" fmla="*/ 0 w 4190119"/>
              <a:gd name="csY4" fmla="*/ 1054250 h 21084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190119" h="2108499" extrusionOk="0">
                <a:moveTo>
                  <a:pt x="0" y="1054250"/>
                </a:moveTo>
                <a:cubicBezTo>
                  <a:pt x="-45776" y="749025"/>
                  <a:pt x="944634" y="294160"/>
                  <a:pt x="2095060" y="0"/>
                </a:cubicBezTo>
                <a:cubicBezTo>
                  <a:pt x="3405127" y="-81039"/>
                  <a:pt x="4221951" y="456445"/>
                  <a:pt x="4190120" y="1054250"/>
                </a:cubicBezTo>
                <a:cubicBezTo>
                  <a:pt x="4285470" y="1615031"/>
                  <a:pt x="3241423" y="2352173"/>
                  <a:pt x="2095060" y="2108500"/>
                </a:cubicBezTo>
                <a:cubicBezTo>
                  <a:pt x="1010059" y="2222670"/>
                  <a:pt x="-31869" y="1603587"/>
                  <a:pt x="0" y="1054250"/>
                </a:cubicBezTo>
                <a:close/>
              </a:path>
            </a:pathLst>
          </a:custGeom>
          <a:noFill/>
          <a:ln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634779923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2406C4-863A-7A79-9DE3-0A5B41F1E110}"/>
              </a:ext>
            </a:extLst>
          </p:cNvPr>
          <p:cNvSpPr txBox="1"/>
          <p:nvPr/>
        </p:nvSpPr>
        <p:spPr>
          <a:xfrm>
            <a:off x="8543320" y="2455046"/>
            <a:ext cx="3085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Functions, prototypes and types in the file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EA99A1B-EE8E-FD6E-8CFF-EA9684524A05}"/>
              </a:ext>
            </a:extLst>
          </p:cNvPr>
          <p:cNvSpPr/>
          <p:nvPr/>
        </p:nvSpPr>
        <p:spPr>
          <a:xfrm>
            <a:off x="270719" y="3805522"/>
            <a:ext cx="2727079" cy="43030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463D9DA4-7ECA-DB3B-2EBE-496B54F5FA29}"/>
              </a:ext>
            </a:extLst>
          </p:cNvPr>
          <p:cNvCxnSpPr>
            <a:cxnSpLocks/>
          </p:cNvCxnSpPr>
          <p:nvPr/>
        </p:nvCxnSpPr>
        <p:spPr>
          <a:xfrm>
            <a:off x="2967302" y="4042186"/>
            <a:ext cx="4661647" cy="1027334"/>
          </a:xfrm>
          <a:prstGeom prst="curved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0272A3A-0F49-4801-9B8C-26E47EBA3B7D}"/>
              </a:ext>
            </a:extLst>
          </p:cNvPr>
          <p:cNvSpPr/>
          <p:nvPr/>
        </p:nvSpPr>
        <p:spPr>
          <a:xfrm>
            <a:off x="7628949" y="3993754"/>
            <a:ext cx="4190119" cy="2108499"/>
          </a:xfrm>
          <a:custGeom>
            <a:avLst/>
            <a:gdLst>
              <a:gd name="csX0" fmla="*/ 0 w 4190119"/>
              <a:gd name="csY0" fmla="*/ 1054250 h 2108499"/>
              <a:gd name="csX1" fmla="*/ 2095060 w 4190119"/>
              <a:gd name="csY1" fmla="*/ 0 h 2108499"/>
              <a:gd name="csX2" fmla="*/ 4190120 w 4190119"/>
              <a:gd name="csY2" fmla="*/ 1054250 h 2108499"/>
              <a:gd name="csX3" fmla="*/ 2095060 w 4190119"/>
              <a:gd name="csY3" fmla="*/ 2108500 h 2108499"/>
              <a:gd name="csX4" fmla="*/ 0 w 4190119"/>
              <a:gd name="csY4" fmla="*/ 1054250 h 21084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190119" h="2108499" extrusionOk="0">
                <a:moveTo>
                  <a:pt x="0" y="1054250"/>
                </a:moveTo>
                <a:cubicBezTo>
                  <a:pt x="-45776" y="749025"/>
                  <a:pt x="944634" y="294160"/>
                  <a:pt x="2095060" y="0"/>
                </a:cubicBezTo>
                <a:cubicBezTo>
                  <a:pt x="3405127" y="-81039"/>
                  <a:pt x="4221951" y="456445"/>
                  <a:pt x="4190120" y="1054250"/>
                </a:cubicBezTo>
                <a:cubicBezTo>
                  <a:pt x="4285470" y="1615031"/>
                  <a:pt x="3241423" y="2352173"/>
                  <a:pt x="2095060" y="2108500"/>
                </a:cubicBezTo>
                <a:cubicBezTo>
                  <a:pt x="1010059" y="2222670"/>
                  <a:pt x="-31869" y="1603587"/>
                  <a:pt x="0" y="1054250"/>
                </a:cubicBezTo>
                <a:close/>
              </a:path>
            </a:pathLst>
          </a:custGeom>
          <a:noFill/>
          <a:ln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634779923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8C95DE-FBB5-A838-F19A-C36EFEEC79C5}"/>
              </a:ext>
            </a:extLst>
          </p:cNvPr>
          <p:cNvSpPr txBox="1"/>
          <p:nvPr/>
        </p:nvSpPr>
        <p:spPr>
          <a:xfrm>
            <a:off x="8270792" y="4664355"/>
            <a:ext cx="30851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Ask compiler to reserve the default number of threads to open in parallel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4D280D5F-B90F-AA97-58A6-17359B0DCE57}"/>
              </a:ext>
            </a:extLst>
          </p:cNvPr>
          <p:cNvSpPr txBox="1">
            <a:spLocks/>
          </p:cNvSpPr>
          <p:nvPr/>
        </p:nvSpPr>
        <p:spPr>
          <a:xfrm>
            <a:off x="224991" y="848857"/>
            <a:ext cx="10872216" cy="86296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b="0" dirty="0"/>
              <a:t>Most OpenMP constructs applied to a “ structure block 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0000"/>
                </a:solidFill>
              </a:rPr>
              <a:t>Structure block</a:t>
            </a:r>
            <a:r>
              <a:rPr lang="en-US" sz="2500" b="0" dirty="0"/>
              <a:t>: a block of one or more statements with one point of entry at the top and one point of exit at the bottom</a:t>
            </a:r>
          </a:p>
        </p:txBody>
      </p:sp>
    </p:spTree>
    <p:extLst>
      <p:ext uri="{BB962C8B-B14F-4D97-AF65-F5344CB8AC3E}">
        <p14:creationId xmlns:p14="http://schemas.microsoft.com/office/powerpoint/2010/main" val="2177300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88BF3-C34F-1419-BA5E-EA63F4715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7F5F6BB-312D-7E8E-6304-7BFF53151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73536D-A2DE-7E2C-C7A1-04DDC18EA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48" y="-45383"/>
            <a:ext cx="10872216" cy="862964"/>
          </a:xfrm>
        </p:spPr>
        <p:txBody>
          <a:bodyPr anchor="b">
            <a:normAutofit fontScale="90000"/>
          </a:bodyPr>
          <a:lstStyle/>
          <a:p>
            <a:r>
              <a:rPr lang="en-US" sz="3200" dirty="0"/>
              <a:t>OpenMP constructs</a:t>
            </a:r>
            <a:br>
              <a:rPr lang="en-US" sz="2500" dirty="0"/>
            </a:br>
            <a:r>
              <a:rPr lang="en-US" sz="2500" dirty="0"/>
              <a:t> </a:t>
            </a:r>
            <a:r>
              <a:rPr lang="en-US" sz="2000" b="0" dirty="0"/>
              <a:t>most of the constructs in OpenMP are compiler directives.</a:t>
            </a:r>
            <a:endParaRPr lang="en-US" sz="2500" b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728ACD9-331D-CDFF-4D2F-BE78997F5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85" y="2133753"/>
            <a:ext cx="6630325" cy="4614623"/>
          </a:xfrm>
          <a:prstGeom prst="rect">
            <a:avLst/>
          </a:prstGeom>
        </p:spPr>
      </p:pic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7EF66A6C-343F-B321-1B22-EBB0554DD9E3}"/>
              </a:ext>
            </a:extLst>
          </p:cNvPr>
          <p:cNvCxnSpPr>
            <a:cxnSpLocks/>
          </p:cNvCxnSpPr>
          <p:nvPr/>
        </p:nvCxnSpPr>
        <p:spPr>
          <a:xfrm>
            <a:off x="2230418" y="4795144"/>
            <a:ext cx="5498935" cy="570773"/>
          </a:xfrm>
          <a:prstGeom prst="curved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6295E1B7-E66F-A295-1403-B7794BFD55F0}"/>
              </a:ext>
            </a:extLst>
          </p:cNvPr>
          <p:cNvSpPr/>
          <p:nvPr/>
        </p:nvSpPr>
        <p:spPr>
          <a:xfrm>
            <a:off x="7815415" y="1675504"/>
            <a:ext cx="4190119" cy="2108499"/>
          </a:xfrm>
          <a:custGeom>
            <a:avLst/>
            <a:gdLst>
              <a:gd name="csX0" fmla="*/ 0 w 4190119"/>
              <a:gd name="csY0" fmla="*/ 1054250 h 2108499"/>
              <a:gd name="csX1" fmla="*/ 2095060 w 4190119"/>
              <a:gd name="csY1" fmla="*/ 0 h 2108499"/>
              <a:gd name="csX2" fmla="*/ 4190120 w 4190119"/>
              <a:gd name="csY2" fmla="*/ 1054250 h 2108499"/>
              <a:gd name="csX3" fmla="*/ 2095060 w 4190119"/>
              <a:gd name="csY3" fmla="*/ 2108500 h 2108499"/>
              <a:gd name="csX4" fmla="*/ 0 w 4190119"/>
              <a:gd name="csY4" fmla="*/ 1054250 h 21084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190119" h="2108499" extrusionOk="0">
                <a:moveTo>
                  <a:pt x="0" y="1054250"/>
                </a:moveTo>
                <a:cubicBezTo>
                  <a:pt x="-45776" y="749025"/>
                  <a:pt x="944634" y="294160"/>
                  <a:pt x="2095060" y="0"/>
                </a:cubicBezTo>
                <a:cubicBezTo>
                  <a:pt x="3405127" y="-81039"/>
                  <a:pt x="4221951" y="456445"/>
                  <a:pt x="4190120" y="1054250"/>
                </a:cubicBezTo>
                <a:cubicBezTo>
                  <a:pt x="4285470" y="1615031"/>
                  <a:pt x="3241423" y="2352173"/>
                  <a:pt x="2095060" y="2108500"/>
                </a:cubicBezTo>
                <a:cubicBezTo>
                  <a:pt x="1010059" y="2222670"/>
                  <a:pt x="-31869" y="1603587"/>
                  <a:pt x="0" y="1054250"/>
                </a:cubicBezTo>
                <a:close/>
              </a:path>
            </a:pathLst>
          </a:custGeom>
          <a:noFill/>
          <a:ln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634779923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F80C57-6831-5614-8A6A-ED7659665F8E}"/>
              </a:ext>
            </a:extLst>
          </p:cNvPr>
          <p:cNvSpPr txBox="1"/>
          <p:nvPr/>
        </p:nvSpPr>
        <p:spPr>
          <a:xfrm>
            <a:off x="8543320" y="2455046"/>
            <a:ext cx="3085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Ask for thread id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AC55C8F-ABC2-64FE-870F-DA0A2BBDD710}"/>
              </a:ext>
            </a:extLst>
          </p:cNvPr>
          <p:cNvSpPr/>
          <p:nvPr/>
        </p:nvSpPr>
        <p:spPr>
          <a:xfrm>
            <a:off x="957431" y="4149919"/>
            <a:ext cx="2861533" cy="78528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AE5FCC03-9B1C-10B2-535A-3E130CCD5B07}"/>
              </a:ext>
            </a:extLst>
          </p:cNvPr>
          <p:cNvCxnSpPr>
            <a:cxnSpLocks/>
          </p:cNvCxnSpPr>
          <p:nvPr/>
        </p:nvCxnSpPr>
        <p:spPr>
          <a:xfrm flipV="1">
            <a:off x="3494457" y="2992297"/>
            <a:ext cx="4423171" cy="1515076"/>
          </a:xfrm>
          <a:prstGeom prst="curved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E3B37A7E-7201-B4F8-458C-CB553E29F31A}"/>
              </a:ext>
            </a:extLst>
          </p:cNvPr>
          <p:cNvSpPr/>
          <p:nvPr/>
        </p:nvSpPr>
        <p:spPr>
          <a:xfrm>
            <a:off x="7628949" y="3993754"/>
            <a:ext cx="4190119" cy="2108499"/>
          </a:xfrm>
          <a:custGeom>
            <a:avLst/>
            <a:gdLst>
              <a:gd name="csX0" fmla="*/ 0 w 4190119"/>
              <a:gd name="csY0" fmla="*/ 1054250 h 2108499"/>
              <a:gd name="csX1" fmla="*/ 2095060 w 4190119"/>
              <a:gd name="csY1" fmla="*/ 0 h 2108499"/>
              <a:gd name="csX2" fmla="*/ 4190120 w 4190119"/>
              <a:gd name="csY2" fmla="*/ 1054250 h 2108499"/>
              <a:gd name="csX3" fmla="*/ 2095060 w 4190119"/>
              <a:gd name="csY3" fmla="*/ 2108500 h 2108499"/>
              <a:gd name="csX4" fmla="*/ 0 w 4190119"/>
              <a:gd name="csY4" fmla="*/ 1054250 h 21084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190119" h="2108499" extrusionOk="0">
                <a:moveTo>
                  <a:pt x="0" y="1054250"/>
                </a:moveTo>
                <a:cubicBezTo>
                  <a:pt x="-45776" y="749025"/>
                  <a:pt x="944634" y="294160"/>
                  <a:pt x="2095060" y="0"/>
                </a:cubicBezTo>
                <a:cubicBezTo>
                  <a:pt x="3405127" y="-81039"/>
                  <a:pt x="4221951" y="456445"/>
                  <a:pt x="4190120" y="1054250"/>
                </a:cubicBezTo>
                <a:cubicBezTo>
                  <a:pt x="4285470" y="1615031"/>
                  <a:pt x="3241423" y="2352173"/>
                  <a:pt x="2095060" y="2108500"/>
                </a:cubicBezTo>
                <a:cubicBezTo>
                  <a:pt x="1010059" y="2222670"/>
                  <a:pt x="-31869" y="1603587"/>
                  <a:pt x="0" y="1054250"/>
                </a:cubicBezTo>
                <a:close/>
              </a:path>
            </a:pathLst>
          </a:custGeom>
          <a:noFill/>
          <a:ln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634779923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F937B6-7A1D-F776-F44E-D056D0A656A4}"/>
              </a:ext>
            </a:extLst>
          </p:cNvPr>
          <p:cNvSpPr txBox="1"/>
          <p:nvPr/>
        </p:nvSpPr>
        <p:spPr>
          <a:xfrm>
            <a:off x="8270792" y="4664355"/>
            <a:ext cx="3085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Ask for getting number of threads reserved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E7A18BEA-9E37-D970-3A09-FE2DA6ABE3C4}"/>
              </a:ext>
            </a:extLst>
          </p:cNvPr>
          <p:cNvSpPr txBox="1">
            <a:spLocks/>
          </p:cNvSpPr>
          <p:nvPr/>
        </p:nvSpPr>
        <p:spPr>
          <a:xfrm>
            <a:off x="224991" y="848857"/>
            <a:ext cx="10872216" cy="86296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b="0" dirty="0"/>
              <a:t>Most OpenMP constructs applied to a “ structure block 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0000"/>
                </a:solidFill>
              </a:rPr>
              <a:t>Structure block</a:t>
            </a:r>
            <a:r>
              <a:rPr lang="en-US" sz="2500" b="0" dirty="0"/>
              <a:t>: a block of one or more statements with one point of entry at the top and one point of exit at the bottom</a:t>
            </a:r>
          </a:p>
        </p:txBody>
      </p:sp>
    </p:spTree>
    <p:extLst>
      <p:ext uri="{BB962C8B-B14F-4D97-AF65-F5344CB8AC3E}">
        <p14:creationId xmlns:p14="http://schemas.microsoft.com/office/powerpoint/2010/main" val="4262724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BADE8-01B9-549E-9040-921B979E8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B2D31FA-4D73-BEA9-CCF9-C8EDB1EDB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26284F-10C0-EA42-DBDA-BE54BF4F8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892" y="227584"/>
            <a:ext cx="10872216" cy="890016"/>
          </a:xfrm>
        </p:spPr>
        <p:txBody>
          <a:bodyPr anchor="b">
            <a:normAutofit/>
          </a:bodyPr>
          <a:lstStyle/>
          <a:p>
            <a:r>
              <a:rPr lang="en-US" sz="3200" dirty="0"/>
              <a:t>How do we create threads in OpenMP??</a:t>
            </a:r>
            <a:br>
              <a:rPr lang="en-US" sz="2500" dirty="0"/>
            </a:br>
            <a:r>
              <a:rPr lang="en-US" sz="2500" dirty="0"/>
              <a:t> </a:t>
            </a:r>
            <a:r>
              <a:rPr lang="en-US" sz="2500" b="0" dirty="0"/>
              <a:t>Fork-Join model [based on </a:t>
            </a:r>
            <a:r>
              <a:rPr lang="en-US" sz="2500" b="0" dirty="0" err="1"/>
              <a:t>Pthreads</a:t>
            </a:r>
            <a:r>
              <a:rPr lang="en-US" sz="2500" b="0" dirty="0"/>
              <a:t> library]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AB280-03CE-39D1-B20D-742479105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033" y="1345184"/>
            <a:ext cx="10997722" cy="1914383"/>
          </a:xfrm>
        </p:spPr>
        <p:txBody>
          <a:bodyPr anchor="t"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n-US" sz="1800" dirty="0"/>
              <a:t>Program starts as a single thread; we’re going to call it “ </a:t>
            </a:r>
            <a:r>
              <a:rPr lang="en-US" sz="1800" dirty="0">
                <a:solidFill>
                  <a:srgbClr val="FF0000"/>
                </a:solidFill>
              </a:rPr>
              <a:t>master</a:t>
            </a:r>
            <a:r>
              <a:rPr lang="en-US" sz="1800" dirty="0"/>
              <a:t> ” thread.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Master thread is working through the program then it comes to some point in the execution where additional threads could help out.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It’s going to fork a number of threads at that point [</a:t>
            </a:r>
            <a:r>
              <a:rPr lang="en-US" sz="1800" dirty="0">
                <a:solidFill>
                  <a:srgbClr val="FF0000"/>
                </a:solidFill>
              </a:rPr>
              <a:t>#pragma </a:t>
            </a:r>
            <a:r>
              <a:rPr lang="en-US" sz="1800" dirty="0" err="1">
                <a:solidFill>
                  <a:srgbClr val="FF0000"/>
                </a:solidFill>
              </a:rPr>
              <a:t>omp</a:t>
            </a:r>
            <a:r>
              <a:rPr lang="en-US" sz="1800" dirty="0">
                <a:solidFill>
                  <a:srgbClr val="FF0000"/>
                </a:solidFill>
              </a:rPr>
              <a:t> parallel </a:t>
            </a:r>
            <a:r>
              <a:rPr lang="en-US" sz="1800" dirty="0"/>
              <a:t>] converting from a serial part of program to a parallel part of program=</a:t>
            </a:r>
            <a:r>
              <a:rPr lang="en-US" sz="1800" dirty="0">
                <a:solidFill>
                  <a:srgbClr val="FF0000"/>
                </a:solidFill>
              </a:rPr>
              <a:t>Creating block of threads= Team of threads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They execute in parallel, when they finish, whatever it was in the program, they </a:t>
            </a:r>
            <a:r>
              <a:rPr lang="en-US" sz="1800" dirty="0">
                <a:solidFill>
                  <a:srgbClr val="FF0000"/>
                </a:solidFill>
              </a:rPr>
              <a:t>join back together </a:t>
            </a:r>
            <a:r>
              <a:rPr lang="en-US" sz="1800" dirty="0"/>
              <a:t>again, and you’re left with one thread again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18C127-55D9-3B0F-1429-0721CB2E7D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82" t="17940" b="20247"/>
          <a:stretch>
            <a:fillRect/>
          </a:stretch>
        </p:blipFill>
        <p:spPr>
          <a:xfrm>
            <a:off x="1635161" y="3598434"/>
            <a:ext cx="7975015" cy="3031982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280C4F6-68FA-FA33-1B42-A9CEACC11D7C}"/>
              </a:ext>
            </a:extLst>
          </p:cNvPr>
          <p:cNvCxnSpPr>
            <a:cxnSpLocks/>
          </p:cNvCxnSpPr>
          <p:nvPr/>
        </p:nvCxnSpPr>
        <p:spPr>
          <a:xfrm>
            <a:off x="1151068" y="4163209"/>
            <a:ext cx="1635163" cy="69924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2FEFEF6-DB75-30EA-4880-E2C0A44FD880}"/>
              </a:ext>
            </a:extLst>
          </p:cNvPr>
          <p:cNvSpPr txBox="1"/>
          <p:nvPr/>
        </p:nvSpPr>
        <p:spPr>
          <a:xfrm>
            <a:off x="408790" y="3982115"/>
            <a:ext cx="817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Fork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E395DA2-070A-E5A4-201F-7F2C568467FD}"/>
              </a:ext>
            </a:extLst>
          </p:cNvPr>
          <p:cNvCxnSpPr>
            <a:cxnSpLocks/>
          </p:cNvCxnSpPr>
          <p:nvPr/>
        </p:nvCxnSpPr>
        <p:spPr>
          <a:xfrm flipH="1">
            <a:off x="5335793" y="3487151"/>
            <a:ext cx="860613" cy="137530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414739B-D88C-3379-A3A9-6B2BFC1F7C7A}"/>
              </a:ext>
            </a:extLst>
          </p:cNvPr>
          <p:cNvSpPr txBox="1"/>
          <p:nvPr/>
        </p:nvSpPr>
        <p:spPr>
          <a:xfrm>
            <a:off x="5896894" y="3186183"/>
            <a:ext cx="817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Join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7F713E-AFC6-B8EC-33B1-EB466FC791FC}"/>
              </a:ext>
            </a:extLst>
          </p:cNvPr>
          <p:cNvSpPr txBox="1"/>
          <p:nvPr/>
        </p:nvSpPr>
        <p:spPr>
          <a:xfrm>
            <a:off x="1764241" y="5011277"/>
            <a:ext cx="1021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Master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6DB98A-01F0-0AD2-AA7B-EE8D26A27FD4}"/>
              </a:ext>
            </a:extLst>
          </p:cNvPr>
          <p:cNvSpPr txBox="1"/>
          <p:nvPr/>
        </p:nvSpPr>
        <p:spPr>
          <a:xfrm>
            <a:off x="5283696" y="5027182"/>
            <a:ext cx="1021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Master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DCC885-5CE6-EE2A-E1EE-A474CCE10D5C}"/>
              </a:ext>
            </a:extLst>
          </p:cNvPr>
          <p:cNvSpPr txBox="1"/>
          <p:nvPr/>
        </p:nvSpPr>
        <p:spPr>
          <a:xfrm>
            <a:off x="3412848" y="4066397"/>
            <a:ext cx="1328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Threads</a:t>
            </a:r>
          </a:p>
        </p:txBody>
      </p:sp>
    </p:spTree>
    <p:extLst>
      <p:ext uri="{BB962C8B-B14F-4D97-AF65-F5344CB8AC3E}">
        <p14:creationId xmlns:p14="http://schemas.microsoft.com/office/powerpoint/2010/main" val="2110329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FD20D-08BC-80F8-66D8-16DFD6B85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804CC45-1C21-B77B-B40B-895010625F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E56E28-64A0-E3C1-932B-82BD3438F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892" y="227584"/>
            <a:ext cx="10872216" cy="890016"/>
          </a:xfrm>
        </p:spPr>
        <p:txBody>
          <a:bodyPr anchor="b">
            <a:normAutofit/>
          </a:bodyPr>
          <a:lstStyle/>
          <a:p>
            <a:r>
              <a:rPr lang="en-US" sz="3200" dirty="0"/>
              <a:t>How do we create threads in OpenMP??</a:t>
            </a:r>
            <a:br>
              <a:rPr lang="en-US" sz="2500" dirty="0"/>
            </a:br>
            <a:r>
              <a:rPr lang="en-US" sz="2500" dirty="0"/>
              <a:t> </a:t>
            </a:r>
            <a:r>
              <a:rPr lang="en-US" sz="2500" b="0" dirty="0"/>
              <a:t>Fork-Join model [based on </a:t>
            </a:r>
            <a:r>
              <a:rPr lang="en-US" sz="2500" b="0" dirty="0" err="1"/>
              <a:t>Pthreads</a:t>
            </a:r>
            <a:r>
              <a:rPr lang="en-US" sz="2500" b="0" dirty="0"/>
              <a:t> library]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324D0-B7CD-745A-98BF-E6422A081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033" y="1345184"/>
            <a:ext cx="10997722" cy="1914383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800" dirty="0"/>
              <a:t>Master thread continuous right along until it sees another portion of the problem where multiple threads make sense.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We can even nest threads, so inside a parallel region, a thread in the team could fork off its own team of threads.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571363-4824-424F-0C40-A17F057E09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82" t="17940" b="20247"/>
          <a:stretch>
            <a:fillRect/>
          </a:stretch>
        </p:blipFill>
        <p:spPr>
          <a:xfrm>
            <a:off x="1635161" y="3598434"/>
            <a:ext cx="7975015" cy="3031982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14675D2-AA88-8F94-6D9A-11C7DCF2BEAC}"/>
              </a:ext>
            </a:extLst>
          </p:cNvPr>
          <p:cNvCxnSpPr>
            <a:cxnSpLocks/>
          </p:cNvCxnSpPr>
          <p:nvPr/>
        </p:nvCxnSpPr>
        <p:spPr>
          <a:xfrm>
            <a:off x="1151068" y="4163209"/>
            <a:ext cx="1635163" cy="69924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99F40AE-3C92-4E3E-E426-85EA25486C0C}"/>
              </a:ext>
            </a:extLst>
          </p:cNvPr>
          <p:cNvSpPr txBox="1"/>
          <p:nvPr/>
        </p:nvSpPr>
        <p:spPr>
          <a:xfrm>
            <a:off x="408790" y="3982115"/>
            <a:ext cx="817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Fork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DA6D2E1-BDD1-8D46-87B6-70222A579A13}"/>
              </a:ext>
            </a:extLst>
          </p:cNvPr>
          <p:cNvCxnSpPr>
            <a:cxnSpLocks/>
          </p:cNvCxnSpPr>
          <p:nvPr/>
        </p:nvCxnSpPr>
        <p:spPr>
          <a:xfrm flipH="1">
            <a:off x="5335793" y="3487151"/>
            <a:ext cx="860613" cy="137530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E7F2141-4014-2CA1-EECD-66C0C1DE27CC}"/>
              </a:ext>
            </a:extLst>
          </p:cNvPr>
          <p:cNvSpPr txBox="1"/>
          <p:nvPr/>
        </p:nvSpPr>
        <p:spPr>
          <a:xfrm>
            <a:off x="5896894" y="3186183"/>
            <a:ext cx="817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Join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F7BDB0-08A8-F5B2-2E68-5CA529CA701A}"/>
              </a:ext>
            </a:extLst>
          </p:cNvPr>
          <p:cNvSpPr txBox="1"/>
          <p:nvPr/>
        </p:nvSpPr>
        <p:spPr>
          <a:xfrm>
            <a:off x="1764241" y="5011277"/>
            <a:ext cx="1021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Master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446FE3-7B3D-5866-4F2B-0371F6DA4ACF}"/>
              </a:ext>
            </a:extLst>
          </p:cNvPr>
          <p:cNvSpPr txBox="1"/>
          <p:nvPr/>
        </p:nvSpPr>
        <p:spPr>
          <a:xfrm>
            <a:off x="5283696" y="5027182"/>
            <a:ext cx="1021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Master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892CD5-AA24-2531-2D62-7420B207FBB6}"/>
              </a:ext>
            </a:extLst>
          </p:cNvPr>
          <p:cNvSpPr txBox="1"/>
          <p:nvPr/>
        </p:nvSpPr>
        <p:spPr>
          <a:xfrm>
            <a:off x="3412848" y="4066397"/>
            <a:ext cx="1328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Threads</a:t>
            </a:r>
          </a:p>
        </p:txBody>
      </p:sp>
    </p:spTree>
    <p:extLst>
      <p:ext uri="{BB962C8B-B14F-4D97-AF65-F5344CB8AC3E}">
        <p14:creationId xmlns:p14="http://schemas.microsoft.com/office/powerpoint/2010/main" val="1363625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57107-5B6C-9554-DB01-A8CC8044C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C75BE93-F79B-8D73-52CA-2680EADB8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7BF8B2-9D03-6BFC-4F7E-30DC780B1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401" y="80682"/>
            <a:ext cx="10872216" cy="890016"/>
          </a:xfrm>
        </p:spPr>
        <p:txBody>
          <a:bodyPr anchor="b">
            <a:normAutofit/>
          </a:bodyPr>
          <a:lstStyle/>
          <a:p>
            <a:r>
              <a:rPr lang="en-US" sz="3200" dirty="0"/>
              <a:t>How do we create threads in OpenMP??</a:t>
            </a:r>
            <a:br>
              <a:rPr lang="en-US" sz="2500" dirty="0"/>
            </a:br>
            <a:r>
              <a:rPr lang="en-US" sz="2500" dirty="0"/>
              <a:t> </a:t>
            </a:r>
            <a:r>
              <a:rPr lang="en-US" sz="2500" b="0" dirty="0"/>
              <a:t>Fork-Join model [based on </a:t>
            </a:r>
            <a:r>
              <a:rPr lang="en-US" sz="2500" b="0" dirty="0" err="1"/>
              <a:t>Pthreads</a:t>
            </a:r>
            <a:r>
              <a:rPr lang="en-US" sz="2500" b="0" dirty="0"/>
              <a:t> library]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79C8C-CBAF-45C3-762D-2C0BBC548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934" y="925277"/>
            <a:ext cx="10997722" cy="923963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800" dirty="0"/>
              <a:t>We create threads in OpenMP with the parallel constructs.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If there’s no OpenMP pragma somewhere in program, you’re not having multiple threads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CBB4AA2-5468-594B-67D8-20A3953D67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753" b="3490"/>
          <a:stretch>
            <a:fillRect/>
          </a:stretch>
        </p:blipFill>
        <p:spPr>
          <a:xfrm>
            <a:off x="268937" y="1892619"/>
            <a:ext cx="4690334" cy="4508171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23E0D11A-4190-D744-C432-8B1159C7BB4C}"/>
              </a:ext>
            </a:extLst>
          </p:cNvPr>
          <p:cNvSpPr/>
          <p:nvPr/>
        </p:nvSpPr>
        <p:spPr>
          <a:xfrm>
            <a:off x="914396" y="3613364"/>
            <a:ext cx="2603350" cy="3872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BC36C59E-3036-5632-4AE3-096DAA30674F}"/>
              </a:ext>
            </a:extLst>
          </p:cNvPr>
          <p:cNvCxnSpPr>
            <a:cxnSpLocks/>
          </p:cNvCxnSpPr>
          <p:nvPr/>
        </p:nvCxnSpPr>
        <p:spPr>
          <a:xfrm flipV="1">
            <a:off x="3480983" y="2617053"/>
            <a:ext cx="3720336" cy="1198735"/>
          </a:xfrm>
          <a:prstGeom prst="curved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F779A4F9-5118-E32B-58D2-C5DDEFE15158}"/>
              </a:ext>
            </a:extLst>
          </p:cNvPr>
          <p:cNvSpPr/>
          <p:nvPr/>
        </p:nvSpPr>
        <p:spPr>
          <a:xfrm>
            <a:off x="7207619" y="1679394"/>
            <a:ext cx="4190119" cy="1504876"/>
          </a:xfrm>
          <a:custGeom>
            <a:avLst/>
            <a:gdLst>
              <a:gd name="csX0" fmla="*/ 0 w 4190119"/>
              <a:gd name="csY0" fmla="*/ 752438 h 1504876"/>
              <a:gd name="csX1" fmla="*/ 2095060 w 4190119"/>
              <a:gd name="csY1" fmla="*/ 0 h 1504876"/>
              <a:gd name="csX2" fmla="*/ 4190120 w 4190119"/>
              <a:gd name="csY2" fmla="*/ 752438 h 1504876"/>
              <a:gd name="csX3" fmla="*/ 2095060 w 4190119"/>
              <a:gd name="csY3" fmla="*/ 1504876 h 1504876"/>
              <a:gd name="csX4" fmla="*/ 0 w 4190119"/>
              <a:gd name="csY4" fmla="*/ 752438 h 15048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190119" h="1504876" extrusionOk="0">
                <a:moveTo>
                  <a:pt x="0" y="752438"/>
                </a:moveTo>
                <a:cubicBezTo>
                  <a:pt x="-27358" y="502440"/>
                  <a:pt x="942219" y="187263"/>
                  <a:pt x="2095060" y="0"/>
                </a:cubicBezTo>
                <a:cubicBezTo>
                  <a:pt x="3346085" y="-49766"/>
                  <a:pt x="4292023" y="287066"/>
                  <a:pt x="4190120" y="752438"/>
                </a:cubicBezTo>
                <a:cubicBezTo>
                  <a:pt x="4370159" y="1127468"/>
                  <a:pt x="3246586" y="1631057"/>
                  <a:pt x="2095060" y="1504876"/>
                </a:cubicBezTo>
                <a:cubicBezTo>
                  <a:pt x="966881" y="1550644"/>
                  <a:pt x="-25953" y="1141198"/>
                  <a:pt x="0" y="752438"/>
                </a:cubicBezTo>
                <a:close/>
              </a:path>
            </a:pathLst>
          </a:custGeom>
          <a:noFill/>
          <a:ln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634779923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916EFC-5EC4-C2C7-5766-B4B593D198DF}"/>
              </a:ext>
            </a:extLst>
          </p:cNvPr>
          <p:cNvSpPr txBox="1"/>
          <p:nvPr/>
        </p:nvSpPr>
        <p:spPr>
          <a:xfrm>
            <a:off x="8092675" y="2278705"/>
            <a:ext cx="3085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Ask for specific number of threads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96CC658-D9CC-C1FF-5877-2822C80E83CC}"/>
              </a:ext>
            </a:extLst>
          </p:cNvPr>
          <p:cNvSpPr/>
          <p:nvPr/>
        </p:nvSpPr>
        <p:spPr>
          <a:xfrm>
            <a:off x="446305" y="4052797"/>
            <a:ext cx="2603350" cy="3872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C1F41656-496E-8FED-D678-2D731E9A189E}"/>
              </a:ext>
            </a:extLst>
          </p:cNvPr>
          <p:cNvCxnSpPr>
            <a:cxnSpLocks/>
          </p:cNvCxnSpPr>
          <p:nvPr/>
        </p:nvCxnSpPr>
        <p:spPr>
          <a:xfrm flipV="1">
            <a:off x="3049655" y="3867946"/>
            <a:ext cx="3636764" cy="422791"/>
          </a:xfrm>
          <a:prstGeom prst="curved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6E969B0D-A430-BBEA-9A49-74036A6F3CE1}"/>
              </a:ext>
            </a:extLst>
          </p:cNvPr>
          <p:cNvSpPr/>
          <p:nvPr/>
        </p:nvSpPr>
        <p:spPr>
          <a:xfrm>
            <a:off x="6769991" y="3252510"/>
            <a:ext cx="3901591" cy="1187561"/>
          </a:xfrm>
          <a:custGeom>
            <a:avLst/>
            <a:gdLst>
              <a:gd name="csX0" fmla="*/ 0 w 3901591"/>
              <a:gd name="csY0" fmla="*/ 593781 h 1187561"/>
              <a:gd name="csX1" fmla="*/ 1950796 w 3901591"/>
              <a:gd name="csY1" fmla="*/ 0 h 1187561"/>
              <a:gd name="csX2" fmla="*/ 3901592 w 3901591"/>
              <a:gd name="csY2" fmla="*/ 593781 h 1187561"/>
              <a:gd name="csX3" fmla="*/ 1950796 w 3901591"/>
              <a:gd name="csY3" fmla="*/ 1187562 h 1187561"/>
              <a:gd name="csX4" fmla="*/ 0 w 3901591"/>
              <a:gd name="csY4" fmla="*/ 593781 h 11875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901591" h="1187561" extrusionOk="0">
                <a:moveTo>
                  <a:pt x="0" y="593781"/>
                </a:moveTo>
                <a:cubicBezTo>
                  <a:pt x="-27574" y="432715"/>
                  <a:pt x="876990" y="158904"/>
                  <a:pt x="1950796" y="0"/>
                </a:cubicBezTo>
                <a:cubicBezTo>
                  <a:pt x="3096777" y="-36328"/>
                  <a:pt x="3948993" y="242675"/>
                  <a:pt x="3901592" y="593781"/>
                </a:cubicBezTo>
                <a:cubicBezTo>
                  <a:pt x="4003547" y="898765"/>
                  <a:pt x="3027188" y="1210381"/>
                  <a:pt x="1950796" y="1187562"/>
                </a:cubicBezTo>
                <a:cubicBezTo>
                  <a:pt x="920297" y="1261854"/>
                  <a:pt x="-39996" y="880416"/>
                  <a:pt x="0" y="593781"/>
                </a:cubicBezTo>
                <a:close/>
              </a:path>
            </a:pathLst>
          </a:custGeom>
          <a:noFill/>
          <a:ln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634779923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2A70FC9-AAE0-BAE6-9979-2BDCF6E77F60}"/>
              </a:ext>
            </a:extLst>
          </p:cNvPr>
          <p:cNvSpPr txBox="1"/>
          <p:nvPr/>
        </p:nvSpPr>
        <p:spPr>
          <a:xfrm>
            <a:off x="7455246" y="3511745"/>
            <a:ext cx="3085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Fork a number of threads </a:t>
            </a:r>
          </a:p>
          <a:p>
            <a:pPr algn="ctr"/>
            <a:r>
              <a:rPr lang="en-US" dirty="0"/>
              <a:t>I asked for</a:t>
            </a:r>
          </a:p>
        </p:txBody>
      </p:sp>
      <p:sp>
        <p:nvSpPr>
          <p:cNvPr id="43" name="Right Brace 42">
            <a:extLst>
              <a:ext uri="{FF2B5EF4-FFF2-40B4-BE49-F238E27FC236}">
                <a16:creationId xmlns:a16="http://schemas.microsoft.com/office/drawing/2014/main" id="{E619E5EA-9EFB-26A3-EDFA-25A9D378645A}"/>
              </a:ext>
            </a:extLst>
          </p:cNvPr>
          <p:cNvSpPr/>
          <p:nvPr/>
        </p:nvSpPr>
        <p:spPr>
          <a:xfrm>
            <a:off x="4509153" y="4533103"/>
            <a:ext cx="1258645" cy="1312912"/>
          </a:xfrm>
          <a:prstGeom prst="rightBrace">
            <a:avLst>
              <a:gd name="adj1" fmla="val 8333"/>
              <a:gd name="adj2" fmla="val 53252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443F110-6359-C4A1-FCB8-9659CBFDCB06}"/>
              </a:ext>
            </a:extLst>
          </p:cNvPr>
          <p:cNvSpPr/>
          <p:nvPr/>
        </p:nvSpPr>
        <p:spPr>
          <a:xfrm>
            <a:off x="5561699" y="4492229"/>
            <a:ext cx="6501205" cy="2216827"/>
          </a:xfrm>
          <a:custGeom>
            <a:avLst/>
            <a:gdLst>
              <a:gd name="csX0" fmla="*/ 0 w 6501205"/>
              <a:gd name="csY0" fmla="*/ 1108414 h 2216827"/>
              <a:gd name="csX1" fmla="*/ 3250603 w 6501205"/>
              <a:gd name="csY1" fmla="*/ 0 h 2216827"/>
              <a:gd name="csX2" fmla="*/ 6501206 w 6501205"/>
              <a:gd name="csY2" fmla="*/ 1108414 h 2216827"/>
              <a:gd name="csX3" fmla="*/ 3250603 w 6501205"/>
              <a:gd name="csY3" fmla="*/ 2216828 h 2216827"/>
              <a:gd name="csX4" fmla="*/ 0 w 6501205"/>
              <a:gd name="csY4" fmla="*/ 1108414 h 22168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501205" h="2216827" extrusionOk="0">
                <a:moveTo>
                  <a:pt x="0" y="1108414"/>
                </a:moveTo>
                <a:cubicBezTo>
                  <a:pt x="-20696" y="621499"/>
                  <a:pt x="1461590" y="276487"/>
                  <a:pt x="3250603" y="0"/>
                </a:cubicBezTo>
                <a:cubicBezTo>
                  <a:pt x="5062349" y="-8733"/>
                  <a:pt x="6564036" y="465541"/>
                  <a:pt x="6501206" y="1108414"/>
                </a:cubicBezTo>
                <a:cubicBezTo>
                  <a:pt x="6925741" y="1625003"/>
                  <a:pt x="5033240" y="2504062"/>
                  <a:pt x="3250603" y="2216828"/>
                </a:cubicBezTo>
                <a:cubicBezTo>
                  <a:pt x="1514300" y="2310223"/>
                  <a:pt x="-54639" y="1664152"/>
                  <a:pt x="0" y="1108414"/>
                </a:cubicBezTo>
                <a:close/>
              </a:path>
            </a:pathLst>
          </a:custGeom>
          <a:noFill/>
          <a:ln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634779923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646BEF5-BB71-F1E9-ABB3-F5DBFC891D2E}"/>
              </a:ext>
            </a:extLst>
          </p:cNvPr>
          <p:cNvSpPr txBox="1"/>
          <p:nvPr/>
        </p:nvSpPr>
        <p:spPr>
          <a:xfrm>
            <a:off x="6686419" y="4694653"/>
            <a:ext cx="43186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Each thread will run the code in that structure block.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Each thread will allocate an integer id.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Each thread will call </a:t>
            </a:r>
            <a:r>
              <a:rPr lang="en-US" dirty="0" err="1"/>
              <a:t>omp_get_thread_num</a:t>
            </a:r>
            <a:r>
              <a:rPr lang="en-US" dirty="0"/>
              <a:t>() and </a:t>
            </a:r>
            <a:r>
              <a:rPr lang="en-US" dirty="0" err="1"/>
              <a:t>perforn</a:t>
            </a:r>
            <a:r>
              <a:rPr lang="en-US" dirty="0"/>
              <a:t> </a:t>
            </a:r>
            <a:r>
              <a:rPr lang="en-US" dirty="0" err="1"/>
              <a:t>func</a:t>
            </a:r>
            <a:r>
              <a:rPr lang="en-US" dirty="0"/>
              <a:t>() </a:t>
            </a:r>
          </a:p>
        </p:txBody>
      </p:sp>
    </p:spTree>
    <p:extLst>
      <p:ext uri="{BB962C8B-B14F-4D97-AF65-F5344CB8AC3E}">
        <p14:creationId xmlns:p14="http://schemas.microsoft.com/office/powerpoint/2010/main" val="2839246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E8244-A3E2-38FC-C4C8-80B12058E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2B39F4F-7F41-5224-21D6-1CC74A39E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D6DE11-F1C5-1636-08EC-05098CB78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892" y="227584"/>
            <a:ext cx="10872216" cy="890016"/>
          </a:xfrm>
        </p:spPr>
        <p:txBody>
          <a:bodyPr anchor="b">
            <a:normAutofit/>
          </a:bodyPr>
          <a:lstStyle/>
          <a:p>
            <a:r>
              <a:rPr lang="en-US" sz="3200" dirty="0"/>
              <a:t>Compiler view</a:t>
            </a:r>
            <a:br>
              <a:rPr lang="en-US" sz="2500" dirty="0"/>
            </a:br>
            <a:r>
              <a:rPr lang="en-US" sz="2500" dirty="0"/>
              <a:t> </a:t>
            </a:r>
            <a:r>
              <a:rPr lang="en-US" sz="2500" b="0" dirty="0" err="1"/>
              <a:t>Pthread</a:t>
            </a:r>
            <a:r>
              <a:rPr lang="en-US" sz="2500" b="0" dirty="0"/>
              <a:t>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9C1E1-1113-4352-9C27-76151E0EF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001" y="1298694"/>
            <a:ext cx="10997722" cy="1914383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800" dirty="0"/>
              <a:t>OpenMP some how is based on </a:t>
            </a:r>
            <a:r>
              <a:rPr lang="en-US" sz="1800" dirty="0" err="1"/>
              <a:t>Pthread</a:t>
            </a:r>
            <a:r>
              <a:rPr lang="en-US" sz="1800" dirty="0"/>
              <a:t> </a:t>
            </a:r>
            <a:r>
              <a:rPr lang="en-US" sz="1800" dirty="0" err="1"/>
              <a:t>api</a:t>
            </a:r>
            <a:r>
              <a:rPr lang="en-US" sz="1800" dirty="0"/>
              <a:t>.</a:t>
            </a:r>
          </a:p>
          <a:p>
            <a:pPr>
              <a:lnSpc>
                <a:spcPct val="110000"/>
              </a:lnSpc>
            </a:pPr>
            <a:r>
              <a:rPr lang="en-US" sz="1800" dirty="0" err="1"/>
              <a:t>Pthread</a:t>
            </a:r>
            <a:r>
              <a:rPr lang="en-US" sz="1800" dirty="0"/>
              <a:t> is an API very low level.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Program lets the system deals with low-level details.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43172F-2E13-101F-0763-090824FBD6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1484"/>
          <a:stretch>
            <a:fillRect/>
          </a:stretch>
        </p:blipFill>
        <p:spPr>
          <a:xfrm>
            <a:off x="207520" y="3281860"/>
            <a:ext cx="3460837" cy="14118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C73AE0-2552-7454-3228-EDF369FE6DFE}"/>
              </a:ext>
            </a:extLst>
          </p:cNvPr>
          <p:cNvSpPr txBox="1"/>
          <p:nvPr/>
        </p:nvSpPr>
        <p:spPr>
          <a:xfrm>
            <a:off x="871369" y="2883049"/>
            <a:ext cx="1947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OpenMP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E1A0FC-9A9C-DC8C-140D-4B4C01F46B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30" t="2616" r="13901" b="30700"/>
          <a:stretch>
            <a:fillRect/>
          </a:stretch>
        </p:blipFill>
        <p:spPr>
          <a:xfrm>
            <a:off x="8494954" y="2704486"/>
            <a:ext cx="3277408" cy="36145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70E0255-6600-0C16-C78F-D1550AC0DB67}"/>
              </a:ext>
            </a:extLst>
          </p:cNvPr>
          <p:cNvSpPr txBox="1"/>
          <p:nvPr/>
        </p:nvSpPr>
        <p:spPr>
          <a:xfrm>
            <a:off x="8889310" y="2231628"/>
            <a:ext cx="1947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Compiler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A036CBC-A5DA-E281-9B78-3C36E38FDE53}"/>
              </a:ext>
            </a:extLst>
          </p:cNvPr>
          <p:cNvSpPr txBox="1">
            <a:spLocks/>
          </p:cNvSpPr>
          <p:nvPr/>
        </p:nvSpPr>
        <p:spPr>
          <a:xfrm>
            <a:off x="3697047" y="3067714"/>
            <a:ext cx="4797907" cy="33548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1800" dirty="0"/>
              <a:t>First thing happen is that the compiler takes the body of the block and put it </a:t>
            </a:r>
            <a:r>
              <a:rPr lang="en-US" sz="1800" dirty="0" err="1"/>
              <a:t>ain</a:t>
            </a:r>
            <a:r>
              <a:rPr lang="en-US" sz="1800" dirty="0"/>
              <a:t> </a:t>
            </a:r>
            <a:r>
              <a:rPr lang="en-US" sz="1800" dirty="0" err="1"/>
              <a:t>thunk</a:t>
            </a:r>
            <a:r>
              <a:rPr lang="en-US" sz="1800" dirty="0"/>
              <a:t>() function .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After that, it prepares </a:t>
            </a:r>
            <a:r>
              <a:rPr lang="en-US" sz="1800" dirty="0" err="1"/>
              <a:t>Pthread</a:t>
            </a:r>
            <a:r>
              <a:rPr lang="en-US" sz="1800" dirty="0"/>
              <a:t> environment and run these threads with a copy of </a:t>
            </a:r>
            <a:r>
              <a:rPr lang="en-US" sz="1800" dirty="0" err="1"/>
              <a:t>thunk</a:t>
            </a:r>
            <a:r>
              <a:rPr lang="en-US" sz="1800" dirty="0"/>
              <a:t>() function.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In this moment master thread take id =0 and fork threads, each one with an id starting from 0 to the number of threads reserved-1, and join them again.</a:t>
            </a:r>
          </a:p>
        </p:txBody>
      </p:sp>
    </p:spTree>
    <p:extLst>
      <p:ext uri="{BB962C8B-B14F-4D97-AF65-F5344CB8AC3E}">
        <p14:creationId xmlns:p14="http://schemas.microsoft.com/office/powerpoint/2010/main" val="3206795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23C52-DC6A-99B4-685A-B635D46DE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BB75F-0F35-36F8-E61B-ACF498BDD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that takes your id as an input.</a:t>
            </a:r>
          </a:p>
          <a:p>
            <a:r>
              <a:rPr lang="en-US" dirty="0"/>
              <a:t>Create 5 threads that prints your id and thread id</a:t>
            </a:r>
          </a:p>
          <a:p>
            <a:r>
              <a:rPr lang="en-US" dirty="0"/>
              <a:t>Output example[id not name]: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309D05-ED73-DBBC-68CD-E9BC2A928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317" y="3222505"/>
            <a:ext cx="7297168" cy="300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804342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711</TotalTime>
  <Words>568</Words>
  <Application>Microsoft Office PowerPoint</Application>
  <PresentationFormat>Widescreen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Neue Haas Grotesk Text Pro</vt:lpstr>
      <vt:lpstr>VanillaVTI</vt:lpstr>
      <vt:lpstr>Parallel computing</vt:lpstr>
      <vt:lpstr>OpenMP constructs  most of the constructs in OpenMP are compiler directives.</vt:lpstr>
      <vt:lpstr>OpenMP constructs  most of the constructs in OpenMP are compiler directives.</vt:lpstr>
      <vt:lpstr>How do we create threads in OpenMP??  Fork-Join model [based on Pthreads library]</vt:lpstr>
      <vt:lpstr>How do we create threads in OpenMP??  Fork-Join model [based on Pthreads library]</vt:lpstr>
      <vt:lpstr>How do we create threads in OpenMP??  Fork-Join model [based on Pthreads library]</vt:lpstr>
      <vt:lpstr>Compiler view  Pthread work</vt:lpstr>
      <vt:lpstr>Exercise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Mariam Malak</dc:creator>
  <cp:lastModifiedBy>Mariam Malak</cp:lastModifiedBy>
  <cp:revision>6</cp:revision>
  <dcterms:created xsi:type="dcterms:W3CDTF">2026-02-12T13:52:08Z</dcterms:created>
  <dcterms:modified xsi:type="dcterms:W3CDTF">2026-02-19T20:58:47Z</dcterms:modified>
</cp:coreProperties>
</file>