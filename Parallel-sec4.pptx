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0"/>
  </p:notesMasterIdLst>
  <p:sldIdLst>
    <p:sldId id="256" r:id="rId2"/>
    <p:sldId id="277" r:id="rId3"/>
    <p:sldId id="282" r:id="rId4"/>
    <p:sldId id="278" r:id="rId5"/>
    <p:sldId id="280" r:id="rId6"/>
    <p:sldId id="281" r:id="rId7"/>
    <p:sldId id="279" r:id="rId8"/>
    <p:sldId id="28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B4DD"/>
    <a:srgbClr val="0171C2"/>
    <a:srgbClr val="2772B7"/>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22"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22530-92FE-4C3F-9B3B-BCC6CE1117E9}" type="datetimeFigureOut">
              <a:rPr lang="en-US" smtClean="0"/>
              <a:t>2/20/2026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8E562-24ED-41D7-AEB8-880B26994F1F}" type="slidenum">
              <a:rPr lang="en-US" smtClean="0"/>
              <a:t>‹#›</a:t>
            </a:fld>
            <a:endParaRPr lang="en-US"/>
          </a:p>
        </p:txBody>
      </p:sp>
    </p:spTree>
    <p:extLst>
      <p:ext uri="{BB962C8B-B14F-4D97-AF65-F5344CB8AC3E}">
        <p14:creationId xmlns:p14="http://schemas.microsoft.com/office/powerpoint/2010/main" val="218817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2/20/2026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008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422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2/20/2026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109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206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2/20/2026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09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2/20/2026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145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2/20/2026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029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2/20/2026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0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2/20/2026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85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2/20/2026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903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2/20/2026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192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2/20/2026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90734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83447EF-0A89-8D11-D654-A72B4E49FCBC}"/>
              </a:ext>
            </a:extLst>
          </p:cNvPr>
          <p:cNvPicPr>
            <a:picLocks noChangeAspect="1"/>
          </p:cNvPicPr>
          <p:nvPr/>
        </p:nvPicPr>
        <p:blipFill>
          <a:blip r:embed="rId2">
            <a:extLst>
              <a:ext uri="{28A0092B-C50C-407E-A947-70E740481C1C}">
                <a14:useLocalDpi xmlns:a14="http://schemas.microsoft.com/office/drawing/2010/main" val="0"/>
              </a:ext>
            </a:extLst>
          </a:blip>
          <a:srcRect t="12500" b="1250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929D53-5DEF-676E-7A33-156FB769F7F9}"/>
              </a:ext>
            </a:extLst>
          </p:cNvPr>
          <p:cNvSpPr>
            <a:spLocks noGrp="1"/>
          </p:cNvSpPr>
          <p:nvPr>
            <p:ph type="ctrTitle"/>
          </p:nvPr>
        </p:nvSpPr>
        <p:spPr>
          <a:xfrm>
            <a:off x="7473219" y="898373"/>
            <a:ext cx="4470544" cy="3474720"/>
          </a:xfrm>
        </p:spPr>
        <p:txBody>
          <a:bodyPr anchor="b">
            <a:normAutofit/>
          </a:bodyPr>
          <a:lstStyle/>
          <a:p>
            <a:pPr algn="l"/>
            <a:r>
              <a:rPr lang="en-US" sz="5800"/>
              <a:t>Parallel</a:t>
            </a:r>
            <a:br>
              <a:rPr lang="en-US" sz="5800"/>
            </a:br>
            <a:r>
              <a:rPr lang="en-US" sz="5800"/>
              <a:t>computing</a:t>
            </a:r>
            <a:endParaRPr lang="en-US" sz="5800" dirty="0"/>
          </a:p>
        </p:txBody>
      </p:sp>
      <p:sp>
        <p:nvSpPr>
          <p:cNvPr id="3" name="Subtitle 2">
            <a:extLst>
              <a:ext uri="{FF2B5EF4-FFF2-40B4-BE49-F238E27FC236}">
                <a16:creationId xmlns:a16="http://schemas.microsoft.com/office/drawing/2014/main" id="{30B473AC-FAE5-08F1-B10B-0BB328814639}"/>
              </a:ext>
            </a:extLst>
          </p:cNvPr>
          <p:cNvSpPr>
            <a:spLocks noGrp="1"/>
          </p:cNvSpPr>
          <p:nvPr>
            <p:ph type="subTitle" idx="1"/>
          </p:nvPr>
        </p:nvSpPr>
        <p:spPr>
          <a:xfrm>
            <a:off x="7482646" y="4495013"/>
            <a:ext cx="4116410" cy="1386840"/>
          </a:xfrm>
        </p:spPr>
        <p:txBody>
          <a:bodyPr anchor="t">
            <a:normAutofit/>
          </a:bodyPr>
          <a:lstStyle/>
          <a:p>
            <a:pPr algn="l"/>
            <a:r>
              <a:rPr lang="en-US" sz="2200"/>
              <a:t>Sec.4</a:t>
            </a:r>
            <a:endParaRPr lang="en-US" sz="2200" dirty="0"/>
          </a:p>
          <a:p>
            <a:pPr algn="l"/>
            <a:r>
              <a:rPr lang="en-US" sz="2200" dirty="0"/>
              <a:t>Eng/ Mariam Malak</a:t>
            </a:r>
          </a:p>
        </p:txBody>
      </p:sp>
    </p:spTree>
    <p:extLst>
      <p:ext uri="{BB962C8B-B14F-4D97-AF65-F5344CB8AC3E}">
        <p14:creationId xmlns:p14="http://schemas.microsoft.com/office/powerpoint/2010/main" val="17773038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23C52-DC6A-99B4-685A-B635D46DE6CB}"/>
              </a:ext>
            </a:extLst>
          </p:cNvPr>
          <p:cNvSpPr>
            <a:spLocks noGrp="1"/>
          </p:cNvSpPr>
          <p:nvPr>
            <p:ph type="title"/>
          </p:nvPr>
        </p:nvSpPr>
        <p:spPr/>
        <p:txBody>
          <a:bodyPr/>
          <a:lstStyle/>
          <a:p>
            <a:r>
              <a:rPr lang="en-US" dirty="0"/>
              <a:t>Exercise 2</a:t>
            </a:r>
          </a:p>
        </p:txBody>
      </p:sp>
      <p:sp>
        <p:nvSpPr>
          <p:cNvPr id="3" name="Content Placeholder 2">
            <a:extLst>
              <a:ext uri="{FF2B5EF4-FFF2-40B4-BE49-F238E27FC236}">
                <a16:creationId xmlns:a16="http://schemas.microsoft.com/office/drawing/2014/main" id="{EC1BB75F-0F35-36F8-E61B-ACF498BDD7A1}"/>
              </a:ext>
            </a:extLst>
          </p:cNvPr>
          <p:cNvSpPr>
            <a:spLocks noGrp="1"/>
          </p:cNvSpPr>
          <p:nvPr>
            <p:ph idx="1"/>
          </p:nvPr>
        </p:nvSpPr>
        <p:spPr/>
        <p:txBody>
          <a:bodyPr/>
          <a:lstStyle/>
          <a:p>
            <a:r>
              <a:rPr lang="en-US" dirty="0"/>
              <a:t>Create a parallel version of the PI program using a parallel construct.</a:t>
            </a:r>
            <a:r>
              <a:rPr lang="en-US" dirty="0">
                <a:solidFill>
                  <a:srgbClr val="FF0000"/>
                </a:solidFill>
              </a:rPr>
              <a:t>[pay close attention to shared versus private variables ]</a:t>
            </a:r>
          </a:p>
          <a:p>
            <a:r>
              <a:rPr lang="en-US" dirty="0"/>
              <a:t>Creating a parallel version of a program for calculating the integral of a function.</a:t>
            </a:r>
          </a:p>
        </p:txBody>
      </p:sp>
    </p:spTree>
    <p:extLst>
      <p:ext uri="{BB962C8B-B14F-4D97-AF65-F5344CB8AC3E}">
        <p14:creationId xmlns:p14="http://schemas.microsoft.com/office/powerpoint/2010/main" val="3048804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53B49-2DB0-D747-10B8-440D318B4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294D62-8022-1C6B-EA3B-6983043590F8}"/>
              </a:ext>
            </a:extLst>
          </p:cNvPr>
          <p:cNvSpPr>
            <a:spLocks noGrp="1"/>
          </p:cNvSpPr>
          <p:nvPr>
            <p:ph type="title"/>
          </p:nvPr>
        </p:nvSpPr>
        <p:spPr/>
        <p:txBody>
          <a:bodyPr/>
          <a:lstStyle/>
          <a:p>
            <a:r>
              <a:rPr lang="en-US" dirty="0"/>
              <a:t>Variable scope</a:t>
            </a:r>
          </a:p>
        </p:txBody>
      </p:sp>
      <p:sp>
        <p:nvSpPr>
          <p:cNvPr id="3" name="Content Placeholder 2">
            <a:extLst>
              <a:ext uri="{FF2B5EF4-FFF2-40B4-BE49-F238E27FC236}">
                <a16:creationId xmlns:a16="http://schemas.microsoft.com/office/drawing/2014/main" id="{7A781756-A8B7-85E8-EA59-52083CF11D2E}"/>
              </a:ext>
            </a:extLst>
          </p:cNvPr>
          <p:cNvSpPr>
            <a:spLocks noGrp="1"/>
          </p:cNvSpPr>
          <p:nvPr>
            <p:ph idx="1"/>
          </p:nvPr>
        </p:nvSpPr>
        <p:spPr/>
        <p:txBody>
          <a:bodyPr>
            <a:normAutofit lnSpcReduction="10000"/>
          </a:bodyPr>
          <a:lstStyle/>
          <a:p>
            <a:r>
              <a:rPr lang="en-US" dirty="0"/>
              <a:t>When a parallel region is executing, each of the threads in the team execute a copy of the designated block of statements. The question is: what kind of access do threads have to the variables declared outside the block? How about the variables that are declared inside the block? Are these variables shared or not? And if they are shared how can we coordinate access to them? </a:t>
            </a:r>
          </a:p>
          <a:p>
            <a:r>
              <a:rPr lang="en-US" dirty="0"/>
              <a:t>Outside the parallel regions, normal scope rules apply. OpenMP specifies the following types of variables:</a:t>
            </a:r>
          </a:p>
          <a:p>
            <a:pPr marL="457200" indent="-457200">
              <a:buFont typeface="+mj-lt"/>
              <a:buAutoNum type="arabicPeriod"/>
            </a:pPr>
            <a:r>
              <a:rPr lang="en-US" b="1" dirty="0">
                <a:solidFill>
                  <a:srgbClr val="FF0000"/>
                </a:solidFill>
              </a:rPr>
              <a:t>Shared</a:t>
            </a:r>
            <a:r>
              <a:rPr lang="en-US" dirty="0"/>
              <a:t>: All variables declared outside a parallel region are by default shared</a:t>
            </a:r>
          </a:p>
          <a:p>
            <a:pPr marL="457200" indent="-457200">
              <a:buFont typeface="+mj-lt"/>
              <a:buAutoNum type="arabicPeriod"/>
            </a:pPr>
            <a:r>
              <a:rPr lang="en-US" b="1" dirty="0">
                <a:solidFill>
                  <a:srgbClr val="FF0000"/>
                </a:solidFill>
              </a:rPr>
              <a:t>Private</a:t>
            </a:r>
            <a:r>
              <a:rPr lang="en-US" dirty="0"/>
              <a:t>: All variables declared inside a parallel region are allocated in the runtime stack of each thread. So we have as many copies of these variables as the size of the thread team. Private variables are destroyed upon termination of a parallel region.</a:t>
            </a:r>
          </a:p>
        </p:txBody>
      </p:sp>
    </p:spTree>
    <p:extLst>
      <p:ext uri="{BB962C8B-B14F-4D97-AF65-F5344CB8AC3E}">
        <p14:creationId xmlns:p14="http://schemas.microsoft.com/office/powerpoint/2010/main" val="2038285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6B690-083F-D43C-9FFB-B1AC103E704C}"/>
              </a:ext>
            </a:extLst>
          </p:cNvPr>
          <p:cNvSpPr>
            <a:spLocks noGrp="1"/>
          </p:cNvSpPr>
          <p:nvPr>
            <p:ph type="title"/>
          </p:nvPr>
        </p:nvSpPr>
        <p:spPr>
          <a:xfrm>
            <a:off x="612648" y="548640"/>
            <a:ext cx="10653578" cy="623944"/>
          </a:xfrm>
        </p:spPr>
        <p:txBody>
          <a:bodyPr/>
          <a:lstStyle/>
          <a:p>
            <a:r>
              <a:rPr lang="en-US" dirty="0"/>
              <a:t>PI problem</a:t>
            </a:r>
          </a:p>
        </p:txBody>
      </p:sp>
      <p:sp>
        <p:nvSpPr>
          <p:cNvPr id="3" name="Content Placeholder 2">
            <a:extLst>
              <a:ext uri="{FF2B5EF4-FFF2-40B4-BE49-F238E27FC236}">
                <a16:creationId xmlns:a16="http://schemas.microsoft.com/office/drawing/2014/main" id="{C64E18AA-87BD-B4AC-CF0A-23F6E25D2668}"/>
              </a:ext>
            </a:extLst>
          </p:cNvPr>
          <p:cNvSpPr>
            <a:spLocks noGrp="1"/>
          </p:cNvSpPr>
          <p:nvPr>
            <p:ph idx="1"/>
          </p:nvPr>
        </p:nvSpPr>
        <p:spPr/>
        <p:txBody>
          <a:bodyPr/>
          <a:lstStyle/>
          <a:p>
            <a:r>
              <a:rPr lang="en-US" dirty="0"/>
              <a:t>Problem :</a:t>
            </a:r>
          </a:p>
          <a:p>
            <a:endParaRPr lang="en-US" dirty="0"/>
          </a:p>
          <a:p>
            <a:endParaRPr lang="en-US" dirty="0"/>
          </a:p>
          <a:p>
            <a:endParaRPr lang="en-US" dirty="0"/>
          </a:p>
          <a:p>
            <a:endParaRPr lang="en-US" dirty="0"/>
          </a:p>
          <a:p>
            <a:r>
              <a:rPr lang="en-US" dirty="0"/>
              <a:t>Sequential solution :</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274F1249-4CBB-F50F-A856-5E686D5ABA60}"/>
              </a:ext>
            </a:extLst>
          </p:cNvPr>
          <p:cNvPicPr>
            <a:picLocks noChangeAspect="1"/>
          </p:cNvPicPr>
          <p:nvPr/>
        </p:nvPicPr>
        <p:blipFill>
          <a:blip r:embed="rId2">
            <a:extLst>
              <a:ext uri="{28A0092B-C50C-407E-A947-70E740481C1C}">
                <a14:useLocalDpi xmlns:a14="http://schemas.microsoft.com/office/drawing/2010/main" val="0"/>
              </a:ext>
            </a:extLst>
          </a:blip>
          <a:srcRect t="14496" b="19785"/>
          <a:stretch>
            <a:fillRect/>
          </a:stretch>
        </p:blipFill>
        <p:spPr>
          <a:xfrm>
            <a:off x="3405263" y="1441525"/>
            <a:ext cx="3724795" cy="1527586"/>
          </a:xfrm>
          <a:prstGeom prst="rect">
            <a:avLst/>
          </a:prstGeom>
        </p:spPr>
      </p:pic>
      <p:pic>
        <p:nvPicPr>
          <p:cNvPr id="7" name="Picture 6">
            <a:extLst>
              <a:ext uri="{FF2B5EF4-FFF2-40B4-BE49-F238E27FC236}">
                <a16:creationId xmlns:a16="http://schemas.microsoft.com/office/drawing/2014/main" id="{E49A787B-328B-02AA-115E-EF092FB2D7BC}"/>
              </a:ext>
            </a:extLst>
          </p:cNvPr>
          <p:cNvPicPr>
            <a:picLocks noChangeAspect="1"/>
          </p:cNvPicPr>
          <p:nvPr/>
        </p:nvPicPr>
        <p:blipFill>
          <a:blip r:embed="rId3">
            <a:extLst>
              <a:ext uri="{28A0092B-C50C-407E-A947-70E740481C1C}">
                <a14:useLocalDpi xmlns:a14="http://schemas.microsoft.com/office/drawing/2010/main" val="0"/>
              </a:ext>
            </a:extLst>
          </a:blip>
          <a:srcRect l="-191" t="6486" r="191" b="9009"/>
          <a:stretch>
            <a:fillRect/>
          </a:stretch>
        </p:blipFill>
        <p:spPr>
          <a:xfrm>
            <a:off x="3405263" y="3151991"/>
            <a:ext cx="5630061" cy="3582297"/>
          </a:xfrm>
          <a:prstGeom prst="rect">
            <a:avLst/>
          </a:prstGeom>
        </p:spPr>
      </p:pic>
    </p:spTree>
    <p:extLst>
      <p:ext uri="{BB962C8B-B14F-4D97-AF65-F5344CB8AC3E}">
        <p14:creationId xmlns:p14="http://schemas.microsoft.com/office/powerpoint/2010/main" val="4140282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E9C86-2AA2-2EEA-1EC5-FCF6D9ECE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361B5-EDB1-BF07-D7B3-E982984FCBB5}"/>
              </a:ext>
            </a:extLst>
          </p:cNvPr>
          <p:cNvSpPr>
            <a:spLocks noGrp="1"/>
          </p:cNvSpPr>
          <p:nvPr>
            <p:ph type="title"/>
          </p:nvPr>
        </p:nvSpPr>
        <p:spPr>
          <a:xfrm>
            <a:off x="612648" y="548640"/>
            <a:ext cx="10653578" cy="903642"/>
          </a:xfrm>
        </p:spPr>
        <p:txBody>
          <a:bodyPr>
            <a:normAutofit/>
          </a:bodyPr>
          <a:lstStyle/>
          <a:p>
            <a:r>
              <a:rPr lang="en-US" dirty="0"/>
              <a:t>PI problem</a:t>
            </a:r>
            <a:br>
              <a:rPr lang="en-US" dirty="0"/>
            </a:br>
            <a:r>
              <a:rPr lang="en-US" sz="1800" b="0" dirty="0"/>
              <a:t>SPMD model</a:t>
            </a:r>
            <a:endParaRPr lang="en-US" b="0" dirty="0"/>
          </a:p>
        </p:txBody>
      </p:sp>
      <p:sp>
        <p:nvSpPr>
          <p:cNvPr id="3" name="Content Placeholder 2">
            <a:extLst>
              <a:ext uri="{FF2B5EF4-FFF2-40B4-BE49-F238E27FC236}">
                <a16:creationId xmlns:a16="http://schemas.microsoft.com/office/drawing/2014/main" id="{BCD3AF27-F75A-8C13-8977-7C838DCCD795}"/>
              </a:ext>
            </a:extLst>
          </p:cNvPr>
          <p:cNvSpPr>
            <a:spLocks noGrp="1"/>
          </p:cNvSpPr>
          <p:nvPr>
            <p:ph idx="1"/>
          </p:nvPr>
        </p:nvSpPr>
        <p:spPr/>
        <p:txBody>
          <a:bodyPr/>
          <a:lstStyle/>
          <a:p>
            <a:r>
              <a:rPr lang="en-US" dirty="0"/>
              <a:t>In here we’ll use SPMD model strategy where in It, a single program is executed simultaneously on multiple data elements. Here, each processing element (PEs) runs the same program but with different data elements, allowing for parallel processing and increased efficiency.</a:t>
            </a:r>
          </a:p>
          <a:p>
            <a:r>
              <a:rPr lang="en-US" dirty="0"/>
              <a:t>The idea is, I have a single program and I run multiple copies of that program , so, each thread has its own copy but it’s going to use its ID and knowledge of how many threads there are to adjust and change what it does.</a:t>
            </a:r>
          </a:p>
          <a:p>
            <a:pPr marL="0" indent="0" algn="ctr">
              <a:buNone/>
            </a:pPr>
            <a:r>
              <a:rPr lang="en-US" dirty="0">
                <a:solidFill>
                  <a:srgbClr val="FF0000"/>
                </a:solidFill>
              </a:rPr>
              <a:t>[let’s code it]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532598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FAC69-170B-C71E-5C6E-313E61FC7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0E103-629B-029B-AB9F-F2ECD16CDC0F}"/>
              </a:ext>
            </a:extLst>
          </p:cNvPr>
          <p:cNvSpPr>
            <a:spLocks noGrp="1"/>
          </p:cNvSpPr>
          <p:nvPr>
            <p:ph type="title"/>
          </p:nvPr>
        </p:nvSpPr>
        <p:spPr>
          <a:xfrm>
            <a:off x="612648" y="548640"/>
            <a:ext cx="10653578" cy="903642"/>
          </a:xfrm>
        </p:spPr>
        <p:txBody>
          <a:bodyPr>
            <a:normAutofit/>
          </a:bodyPr>
          <a:lstStyle/>
          <a:p>
            <a:r>
              <a:rPr lang="en-US" dirty="0"/>
              <a:t>PI problem</a:t>
            </a:r>
            <a:br>
              <a:rPr lang="en-US" dirty="0"/>
            </a:br>
            <a:r>
              <a:rPr lang="en-US" sz="1800" b="0" dirty="0"/>
              <a:t>cyclic distribution of the loop iterations &amp; round robin</a:t>
            </a:r>
            <a:endParaRPr lang="en-US" b="0" dirty="0"/>
          </a:p>
        </p:txBody>
      </p:sp>
      <p:sp>
        <p:nvSpPr>
          <p:cNvPr id="3" name="Content Placeholder 2">
            <a:extLst>
              <a:ext uri="{FF2B5EF4-FFF2-40B4-BE49-F238E27FC236}">
                <a16:creationId xmlns:a16="http://schemas.microsoft.com/office/drawing/2014/main" id="{60FB7E26-FDE3-CAEC-BCE7-9EB21E6F7705}"/>
              </a:ext>
            </a:extLst>
          </p:cNvPr>
          <p:cNvSpPr>
            <a:spLocks noGrp="1"/>
          </p:cNvSpPr>
          <p:nvPr>
            <p:ph idx="1"/>
          </p:nvPr>
        </p:nvSpPr>
        <p:spPr/>
        <p:txBody>
          <a:bodyPr/>
          <a:lstStyle/>
          <a:p>
            <a:r>
              <a:rPr lang="en-US" dirty="0"/>
              <a:t>Each thread will run a specific number of iterations according to its ID value </a:t>
            </a:r>
          </a:p>
          <a:p>
            <a:r>
              <a:rPr lang="en-US" dirty="0"/>
              <a:t>Cyclic distribution = Rounf robin distribution</a:t>
            </a:r>
          </a:p>
          <a:p>
            <a:r>
              <a:rPr lang="en-US" dirty="0"/>
              <a:t>The basic idea is simple: instead of running jobs to completion, RR runs a job for </a:t>
            </a:r>
            <a:r>
              <a:rPr lang="en-US" b="1" dirty="0"/>
              <a:t>a time slice </a:t>
            </a:r>
            <a:r>
              <a:rPr lang="en-US" dirty="0"/>
              <a:t>(sometimes called a scheduling quantum) and then </a:t>
            </a:r>
            <a:r>
              <a:rPr lang="en-US" b="1" dirty="0"/>
              <a:t>switches to the next job in the run queue</a:t>
            </a:r>
            <a:r>
              <a:rPr lang="en-US" dirty="0"/>
              <a:t>. It repeatedly does so until the jobs are finished. For this reason, RR is sometimes called time-slicing.</a:t>
            </a:r>
          </a:p>
          <a:p>
            <a:r>
              <a:rPr lang="en-US" dirty="0"/>
              <a:t>Outside the parallel region, we’ve lost these variables inside the thread stack.</a:t>
            </a:r>
          </a:p>
          <a:p>
            <a:r>
              <a:rPr lang="en-US" dirty="0"/>
              <a:t>At the end of the parallel region the threads go away except for the master thread.</a:t>
            </a:r>
          </a:p>
          <a:p>
            <a:pPr marL="0" indent="0">
              <a:buNone/>
            </a:pPr>
            <a:endParaRPr lang="en-US" dirty="0"/>
          </a:p>
        </p:txBody>
      </p:sp>
    </p:spTree>
    <p:extLst>
      <p:ext uri="{BB962C8B-B14F-4D97-AF65-F5344CB8AC3E}">
        <p14:creationId xmlns:p14="http://schemas.microsoft.com/office/powerpoint/2010/main" val="169325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BE0A3-3B62-381B-B847-DE483F237BCD}"/>
              </a:ext>
            </a:extLst>
          </p:cNvPr>
          <p:cNvSpPr>
            <a:spLocks noGrp="1"/>
          </p:cNvSpPr>
          <p:nvPr>
            <p:ph type="title"/>
          </p:nvPr>
        </p:nvSpPr>
        <p:spPr>
          <a:xfrm>
            <a:off x="612647" y="290455"/>
            <a:ext cx="10653578" cy="516367"/>
          </a:xfrm>
        </p:spPr>
        <p:txBody>
          <a:bodyPr>
            <a:normAutofit fontScale="90000"/>
          </a:bodyPr>
          <a:lstStyle/>
          <a:p>
            <a:r>
              <a:rPr lang="en-US" dirty="0"/>
              <a:t>Integration problem</a:t>
            </a:r>
          </a:p>
        </p:txBody>
      </p:sp>
      <p:sp>
        <p:nvSpPr>
          <p:cNvPr id="3" name="Content Placeholder 2">
            <a:extLst>
              <a:ext uri="{FF2B5EF4-FFF2-40B4-BE49-F238E27FC236}">
                <a16:creationId xmlns:a16="http://schemas.microsoft.com/office/drawing/2014/main" id="{F39F8B49-8169-89F2-F31B-1D5D73D12EBD}"/>
              </a:ext>
            </a:extLst>
          </p:cNvPr>
          <p:cNvSpPr>
            <a:spLocks noGrp="1"/>
          </p:cNvSpPr>
          <p:nvPr>
            <p:ph idx="1"/>
          </p:nvPr>
        </p:nvSpPr>
        <p:spPr>
          <a:xfrm>
            <a:off x="612646" y="951739"/>
            <a:ext cx="10653579" cy="516367"/>
          </a:xfrm>
        </p:spPr>
        <p:txBody>
          <a:bodyPr/>
          <a:lstStyle/>
          <a:p>
            <a:r>
              <a:rPr lang="en-US" dirty="0"/>
              <a:t>Sequential solution :</a:t>
            </a:r>
          </a:p>
          <a:p>
            <a:pPr marL="0" indent="0">
              <a:buNone/>
            </a:pPr>
            <a:endParaRPr lang="en-US" dirty="0"/>
          </a:p>
        </p:txBody>
      </p:sp>
      <p:pic>
        <p:nvPicPr>
          <p:cNvPr id="5" name="Picture 4">
            <a:extLst>
              <a:ext uri="{FF2B5EF4-FFF2-40B4-BE49-F238E27FC236}">
                <a16:creationId xmlns:a16="http://schemas.microsoft.com/office/drawing/2014/main" id="{76EADBD4-DCDF-18C7-2D9E-ED402FAA5F66}"/>
              </a:ext>
            </a:extLst>
          </p:cNvPr>
          <p:cNvPicPr>
            <a:picLocks noChangeAspect="1"/>
          </p:cNvPicPr>
          <p:nvPr/>
        </p:nvPicPr>
        <p:blipFill>
          <a:blip r:embed="rId2">
            <a:extLst>
              <a:ext uri="{28A0092B-C50C-407E-A947-70E740481C1C}">
                <a14:useLocalDpi xmlns:a14="http://schemas.microsoft.com/office/drawing/2010/main" val="0"/>
              </a:ext>
            </a:extLst>
          </a:blip>
          <a:srcRect r="7444"/>
          <a:stretch>
            <a:fillRect/>
          </a:stretch>
        </p:blipFill>
        <p:spPr>
          <a:xfrm>
            <a:off x="6366549" y="2309656"/>
            <a:ext cx="5625361" cy="2238687"/>
          </a:xfrm>
          <a:prstGeom prst="rect">
            <a:avLst/>
          </a:prstGeom>
        </p:spPr>
      </p:pic>
      <p:pic>
        <p:nvPicPr>
          <p:cNvPr id="7" name="Picture 6">
            <a:extLst>
              <a:ext uri="{FF2B5EF4-FFF2-40B4-BE49-F238E27FC236}">
                <a16:creationId xmlns:a16="http://schemas.microsoft.com/office/drawing/2014/main" id="{D02C1CC0-1DBE-626D-67A9-B79E835F7C03}"/>
              </a:ext>
            </a:extLst>
          </p:cNvPr>
          <p:cNvPicPr>
            <a:picLocks noChangeAspect="1"/>
          </p:cNvPicPr>
          <p:nvPr/>
        </p:nvPicPr>
        <p:blipFill>
          <a:blip r:embed="rId3">
            <a:extLst>
              <a:ext uri="{28A0092B-C50C-407E-A947-70E740481C1C}">
                <a14:useLocalDpi xmlns:a14="http://schemas.microsoft.com/office/drawing/2010/main" val="0"/>
              </a:ext>
            </a:extLst>
          </a:blip>
          <a:srcRect t="2039"/>
          <a:stretch>
            <a:fillRect/>
          </a:stretch>
        </p:blipFill>
        <p:spPr>
          <a:xfrm>
            <a:off x="452437" y="1506072"/>
            <a:ext cx="5753903" cy="5061473"/>
          </a:xfrm>
          <a:prstGeom prst="rect">
            <a:avLst/>
          </a:prstGeom>
        </p:spPr>
      </p:pic>
      <p:sp>
        <p:nvSpPr>
          <p:cNvPr id="8" name="Content Placeholder 2">
            <a:extLst>
              <a:ext uri="{FF2B5EF4-FFF2-40B4-BE49-F238E27FC236}">
                <a16:creationId xmlns:a16="http://schemas.microsoft.com/office/drawing/2014/main" id="{6410C389-F158-9530-85AE-16C173932594}"/>
              </a:ext>
            </a:extLst>
          </p:cNvPr>
          <p:cNvSpPr txBox="1">
            <a:spLocks/>
          </p:cNvSpPr>
          <p:nvPr/>
        </p:nvSpPr>
        <p:spPr>
          <a:xfrm>
            <a:off x="6665121" y="5131709"/>
            <a:ext cx="3805874" cy="51636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rgbClr val="FF0000"/>
                </a:solidFill>
              </a:rPr>
              <a:t>Let’s code parallel version</a:t>
            </a:r>
          </a:p>
        </p:txBody>
      </p:sp>
    </p:spTree>
    <p:extLst>
      <p:ext uri="{BB962C8B-B14F-4D97-AF65-F5344CB8AC3E}">
        <p14:creationId xmlns:p14="http://schemas.microsoft.com/office/powerpoint/2010/main" val="20199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37D3-D2A1-832C-99B1-8F6BBF1D2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98705-38F5-A053-F4F0-9F50B449E567}"/>
              </a:ext>
            </a:extLst>
          </p:cNvPr>
          <p:cNvSpPr>
            <a:spLocks noGrp="1"/>
          </p:cNvSpPr>
          <p:nvPr>
            <p:ph type="title"/>
          </p:nvPr>
        </p:nvSpPr>
        <p:spPr/>
        <p:txBody>
          <a:bodyPr/>
          <a:lstStyle/>
          <a:p>
            <a:r>
              <a:rPr lang="en-US" dirty="0"/>
              <a:t>Exercise 2</a:t>
            </a:r>
          </a:p>
        </p:txBody>
      </p:sp>
      <p:sp>
        <p:nvSpPr>
          <p:cNvPr id="3" name="Content Placeholder 2">
            <a:extLst>
              <a:ext uri="{FF2B5EF4-FFF2-40B4-BE49-F238E27FC236}">
                <a16:creationId xmlns:a16="http://schemas.microsoft.com/office/drawing/2014/main" id="{27C485A7-308F-5BF2-13E0-FD7ACDED94F4}"/>
              </a:ext>
            </a:extLst>
          </p:cNvPr>
          <p:cNvSpPr>
            <a:spLocks noGrp="1"/>
          </p:cNvSpPr>
          <p:nvPr>
            <p:ph idx="1"/>
          </p:nvPr>
        </p:nvSpPr>
        <p:spPr/>
        <p:txBody>
          <a:bodyPr/>
          <a:lstStyle/>
          <a:p>
            <a:r>
              <a:rPr lang="en-US" dirty="0"/>
              <a:t>These ways we solve problems will lead to 2 problems which are:</a:t>
            </a:r>
          </a:p>
          <a:p>
            <a:pPr marL="457200" indent="-457200">
              <a:buFont typeface="+mj-lt"/>
              <a:buAutoNum type="arabicPeriod"/>
            </a:pPr>
            <a:r>
              <a:rPr lang="en-US" dirty="0">
                <a:solidFill>
                  <a:srgbClr val="FF0000"/>
                </a:solidFill>
              </a:rPr>
              <a:t>Race condition</a:t>
            </a:r>
          </a:p>
          <a:p>
            <a:pPr marL="457200" indent="-457200">
              <a:buFont typeface="+mj-lt"/>
              <a:buAutoNum type="arabicPeriod"/>
            </a:pPr>
            <a:r>
              <a:rPr lang="en-US" dirty="0">
                <a:solidFill>
                  <a:srgbClr val="FF0000"/>
                </a:solidFill>
              </a:rPr>
              <a:t>False sharing</a:t>
            </a:r>
          </a:p>
        </p:txBody>
      </p:sp>
    </p:spTree>
    <p:extLst>
      <p:ext uri="{BB962C8B-B14F-4D97-AF65-F5344CB8AC3E}">
        <p14:creationId xmlns:p14="http://schemas.microsoft.com/office/powerpoint/2010/main" val="2921443900"/>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1000</TotalTime>
  <Words>468</Words>
  <Application>Microsoft Office PowerPoint</Application>
  <PresentationFormat>Widescreen</PresentationFormat>
  <Paragraphs>35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Neue Haas Grotesk Text Pro</vt:lpstr>
      <vt:lpstr>VanillaVTI</vt:lpstr>
      <vt:lpstr>Parallel computing</vt:lpstr>
      <vt:lpstr>Exercise 2</vt:lpstr>
      <vt:lpstr>Variable scope</vt:lpstr>
      <vt:lpstr>PI problem</vt:lpstr>
      <vt:lpstr>PI problem SPMD model</vt:lpstr>
      <vt:lpstr>PI problem cyclic distribution of the loop iterations &amp; round robin</vt:lpstr>
      <vt:lpstr>Integration problem</vt:lpstr>
      <vt:lpstr>Exercise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Malak</dc:creator>
  <cp:lastModifiedBy>Mariam Malak</cp:lastModifiedBy>
  <cp:revision>9</cp:revision>
  <dcterms:created xsi:type="dcterms:W3CDTF">2026-02-12T13:52:08Z</dcterms:created>
  <dcterms:modified xsi:type="dcterms:W3CDTF">2026-02-20T16:40:55Z</dcterms:modified>
</cp:coreProperties>
</file>