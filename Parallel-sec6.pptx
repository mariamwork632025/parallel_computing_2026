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8"/>
  </p:notesMasterIdLst>
  <p:sldIdLst>
    <p:sldId id="256" r:id="rId2"/>
    <p:sldId id="295" r:id="rId3"/>
    <p:sldId id="282" r:id="rId4"/>
    <p:sldId id="284" r:id="rId5"/>
    <p:sldId id="285" r:id="rId6"/>
    <p:sldId id="286" r:id="rId7"/>
    <p:sldId id="288" r:id="rId8"/>
    <p:sldId id="287" r:id="rId9"/>
    <p:sldId id="289" r:id="rId10"/>
    <p:sldId id="290" r:id="rId11"/>
    <p:sldId id="291" r:id="rId12"/>
    <p:sldId id="292" r:id="rId13"/>
    <p:sldId id="293" r:id="rId14"/>
    <p:sldId id="296" r:id="rId15"/>
    <p:sldId id="297" r:id="rId16"/>
    <p:sldId id="29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B4DD"/>
    <a:srgbClr val="0171C2"/>
    <a:srgbClr val="2772B7"/>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22" autoAdjust="0"/>
  </p:normalViewPr>
  <p:slideViewPr>
    <p:cSldViewPr snapToGrid="0">
      <p:cViewPr varScale="1">
        <p:scale>
          <a:sx n="71" d="100"/>
          <a:sy n="71" d="100"/>
        </p:scale>
        <p:origin x="11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22530-92FE-4C3F-9B3B-BCC6CE1117E9}"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8E562-24ED-41D7-AEB8-880B26994F1F}" type="slidenum">
              <a:rPr lang="en-US" smtClean="0"/>
              <a:t>‹#›</a:t>
            </a:fld>
            <a:endParaRPr lang="en-US"/>
          </a:p>
        </p:txBody>
      </p:sp>
    </p:spTree>
    <p:extLst>
      <p:ext uri="{BB962C8B-B14F-4D97-AF65-F5344CB8AC3E}">
        <p14:creationId xmlns:p14="http://schemas.microsoft.com/office/powerpoint/2010/main" val="218817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2/27/2026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008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2/27/2026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8422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2/27/2026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109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2/27/2026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206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2/27/2026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09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2/27/2026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145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2/27/2026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029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2/27/2026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601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2/27/2026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185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2/27/2026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903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2/27/2026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192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82B4DD">
            <a:alpha val="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2/27/2026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590734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583447EF-0A89-8D11-D654-A72B4E49FCBC}"/>
              </a:ext>
            </a:extLst>
          </p:cNvPr>
          <p:cNvPicPr>
            <a:picLocks noChangeAspect="1"/>
          </p:cNvPicPr>
          <p:nvPr/>
        </p:nvPicPr>
        <p:blipFill>
          <a:blip r:embed="rId2">
            <a:extLst>
              <a:ext uri="{28A0092B-C50C-407E-A947-70E740481C1C}">
                <a14:useLocalDpi xmlns:a14="http://schemas.microsoft.com/office/drawing/2010/main" val="0"/>
              </a:ext>
            </a:extLst>
          </a:blip>
          <a:srcRect t="12500" b="1250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9929D53-5DEF-676E-7A33-156FB769F7F9}"/>
              </a:ext>
            </a:extLst>
          </p:cNvPr>
          <p:cNvSpPr>
            <a:spLocks noGrp="1"/>
          </p:cNvSpPr>
          <p:nvPr>
            <p:ph type="ctrTitle"/>
          </p:nvPr>
        </p:nvSpPr>
        <p:spPr>
          <a:xfrm>
            <a:off x="7473219" y="898373"/>
            <a:ext cx="4470544" cy="3474720"/>
          </a:xfrm>
        </p:spPr>
        <p:txBody>
          <a:bodyPr anchor="b">
            <a:normAutofit/>
          </a:bodyPr>
          <a:lstStyle/>
          <a:p>
            <a:pPr algn="l"/>
            <a:r>
              <a:rPr lang="en-US" sz="5800"/>
              <a:t>Parallel</a:t>
            </a:r>
            <a:br>
              <a:rPr lang="en-US" sz="5800"/>
            </a:br>
            <a:r>
              <a:rPr lang="en-US" sz="5800"/>
              <a:t>computing</a:t>
            </a:r>
            <a:endParaRPr lang="en-US" sz="5800" dirty="0"/>
          </a:p>
        </p:txBody>
      </p:sp>
      <p:sp>
        <p:nvSpPr>
          <p:cNvPr id="3" name="Subtitle 2">
            <a:extLst>
              <a:ext uri="{FF2B5EF4-FFF2-40B4-BE49-F238E27FC236}">
                <a16:creationId xmlns:a16="http://schemas.microsoft.com/office/drawing/2014/main" id="{30B473AC-FAE5-08F1-B10B-0BB328814639}"/>
              </a:ext>
            </a:extLst>
          </p:cNvPr>
          <p:cNvSpPr>
            <a:spLocks noGrp="1"/>
          </p:cNvSpPr>
          <p:nvPr>
            <p:ph type="subTitle" idx="1"/>
          </p:nvPr>
        </p:nvSpPr>
        <p:spPr>
          <a:xfrm>
            <a:off x="7482646" y="4495013"/>
            <a:ext cx="4116410" cy="1386840"/>
          </a:xfrm>
        </p:spPr>
        <p:txBody>
          <a:bodyPr anchor="t">
            <a:normAutofit/>
          </a:bodyPr>
          <a:lstStyle/>
          <a:p>
            <a:pPr algn="l"/>
            <a:r>
              <a:rPr lang="en-US" sz="2200"/>
              <a:t>Sec.6</a:t>
            </a:r>
            <a:endParaRPr lang="en-US" sz="2200" dirty="0"/>
          </a:p>
          <a:p>
            <a:pPr algn="l"/>
            <a:r>
              <a:rPr lang="en-US" sz="2200" dirty="0"/>
              <a:t>Eng/ Mariam Malak</a:t>
            </a:r>
          </a:p>
        </p:txBody>
      </p:sp>
    </p:spTree>
    <p:extLst>
      <p:ext uri="{BB962C8B-B14F-4D97-AF65-F5344CB8AC3E}">
        <p14:creationId xmlns:p14="http://schemas.microsoft.com/office/powerpoint/2010/main" val="17773038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41B3D-9D5E-2678-19FB-E94E73C1565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781D679-4E28-2854-AB2E-7474BB2BD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BDB12A-441B-DDF7-15C3-F8028CB46250}"/>
              </a:ext>
            </a:extLst>
          </p:cNvPr>
          <p:cNvSpPr>
            <a:spLocks noGrp="1"/>
          </p:cNvSpPr>
          <p:nvPr>
            <p:ph type="title"/>
          </p:nvPr>
        </p:nvSpPr>
        <p:spPr>
          <a:xfrm>
            <a:off x="233604" y="261779"/>
            <a:ext cx="6777316" cy="708166"/>
          </a:xfrm>
        </p:spPr>
        <p:txBody>
          <a:bodyPr anchor="b">
            <a:normAutofit/>
          </a:bodyPr>
          <a:lstStyle/>
          <a:p>
            <a:r>
              <a:rPr lang="en-US" sz="3300" dirty="0"/>
              <a:t>Integration problem solution</a:t>
            </a:r>
            <a:endParaRPr lang="en-US" sz="3300" b="0" dirty="0"/>
          </a:p>
        </p:txBody>
      </p:sp>
      <p:pic>
        <p:nvPicPr>
          <p:cNvPr id="9" name="Picture 8">
            <a:extLst>
              <a:ext uri="{FF2B5EF4-FFF2-40B4-BE49-F238E27FC236}">
                <a16:creationId xmlns:a16="http://schemas.microsoft.com/office/drawing/2014/main" id="{2EE9EFDC-F3B6-32E3-9EA7-FE435F4FE765}"/>
              </a:ext>
            </a:extLst>
          </p:cNvPr>
          <p:cNvPicPr>
            <a:picLocks noChangeAspect="1"/>
          </p:cNvPicPr>
          <p:nvPr/>
        </p:nvPicPr>
        <p:blipFill>
          <a:blip r:embed="rId2"/>
          <a:srcRect l="9976" t="-1787" r="9637" b="1"/>
          <a:stretch>
            <a:fillRect/>
          </a:stretch>
        </p:blipFill>
        <p:spPr>
          <a:xfrm>
            <a:off x="2388198" y="1326713"/>
            <a:ext cx="6777317" cy="5174519"/>
          </a:xfrm>
          <a:prstGeom prst="rect">
            <a:avLst/>
          </a:prstGeom>
        </p:spPr>
      </p:pic>
    </p:spTree>
    <p:extLst>
      <p:ext uri="{BB962C8B-B14F-4D97-AF65-F5344CB8AC3E}">
        <p14:creationId xmlns:p14="http://schemas.microsoft.com/office/powerpoint/2010/main" val="658775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53B49-2DB0-D747-10B8-440D318B4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294D62-8022-1C6B-EA3B-6983043590F8}"/>
              </a:ext>
            </a:extLst>
          </p:cNvPr>
          <p:cNvSpPr>
            <a:spLocks noGrp="1"/>
          </p:cNvSpPr>
          <p:nvPr>
            <p:ph type="title"/>
          </p:nvPr>
        </p:nvSpPr>
        <p:spPr>
          <a:xfrm>
            <a:off x="612648" y="548640"/>
            <a:ext cx="10653578" cy="742278"/>
          </a:xfrm>
        </p:spPr>
        <p:txBody>
          <a:bodyPr>
            <a:normAutofit/>
          </a:bodyPr>
          <a:lstStyle/>
          <a:p>
            <a:r>
              <a:rPr lang="en-US" dirty="0"/>
              <a:t>Work sharing</a:t>
            </a:r>
          </a:p>
        </p:txBody>
      </p:sp>
      <p:sp>
        <p:nvSpPr>
          <p:cNvPr id="3" name="Content Placeholder 2">
            <a:extLst>
              <a:ext uri="{FF2B5EF4-FFF2-40B4-BE49-F238E27FC236}">
                <a16:creationId xmlns:a16="http://schemas.microsoft.com/office/drawing/2014/main" id="{7A781756-A8B7-85E8-EA59-52083CF11D2E}"/>
              </a:ext>
            </a:extLst>
          </p:cNvPr>
          <p:cNvSpPr>
            <a:spLocks noGrp="1"/>
          </p:cNvSpPr>
          <p:nvPr>
            <p:ph idx="1"/>
          </p:nvPr>
        </p:nvSpPr>
        <p:spPr/>
        <p:txBody>
          <a:bodyPr>
            <a:normAutofit/>
          </a:bodyPr>
          <a:lstStyle/>
          <a:p>
            <a:r>
              <a:rPr lang="en-US" dirty="0"/>
              <a:t>The basic pattern we work with is called SPMD </a:t>
            </a:r>
            <a:r>
              <a:rPr lang="en-US" dirty="0">
                <a:sym typeface="Wingdings" panose="05000000000000000000" pitchFamily="2" charset="2"/>
              </a:rPr>
              <a:t> Single Program Multiple Threads.</a:t>
            </a:r>
          </a:p>
          <a:p>
            <a:r>
              <a:rPr lang="en-US" dirty="0">
                <a:sym typeface="Wingdings" panose="05000000000000000000" pitchFamily="2" charset="2"/>
              </a:rPr>
              <a:t>The SPMD pattern every thread is redundantly running the same code.</a:t>
            </a:r>
          </a:p>
          <a:p>
            <a:r>
              <a:rPr lang="en-US" dirty="0">
                <a:sym typeface="Wingdings" panose="05000000000000000000" pitchFamily="2" charset="2"/>
              </a:rPr>
              <a:t>Now, I have one big code and I want to divide it across threads = All threads aren’t doing the same block.</a:t>
            </a:r>
          </a:p>
          <a:p>
            <a:r>
              <a:rPr lang="en-US" dirty="0">
                <a:sym typeface="Wingdings" panose="05000000000000000000" pitchFamily="2" charset="2"/>
              </a:rPr>
              <a:t>This leads to think about work sharing concept which is about take single construct and share it out across the threads </a:t>
            </a:r>
            <a:r>
              <a:rPr lang="en-US" dirty="0">
                <a:solidFill>
                  <a:srgbClr val="FF0000"/>
                </a:solidFill>
                <a:sym typeface="Wingdings" panose="05000000000000000000" pitchFamily="2" charset="2"/>
              </a:rPr>
              <a:t>[extreme important feature of OpenMP] </a:t>
            </a:r>
            <a:endParaRPr lang="en-US" dirty="0">
              <a:sym typeface="Wingdings" panose="05000000000000000000" pitchFamily="2" charset="2"/>
            </a:endParaRPr>
          </a:p>
          <a:p>
            <a:r>
              <a:rPr lang="en-US" dirty="0">
                <a:sym typeface="Wingdings" panose="05000000000000000000" pitchFamily="2" charset="2"/>
              </a:rPr>
              <a:t>In </a:t>
            </a:r>
            <a:r>
              <a:rPr lang="en-US" dirty="0" err="1">
                <a:sym typeface="Wingdings" panose="05000000000000000000" pitchFamily="2" charset="2"/>
              </a:rPr>
              <a:t>OpenMp</a:t>
            </a:r>
            <a:r>
              <a:rPr lang="en-US" dirty="0">
                <a:sym typeface="Wingdings" panose="05000000000000000000" pitchFamily="2" charset="2"/>
              </a:rPr>
              <a:t>, we have a collection of work sharing constructs:</a:t>
            </a:r>
          </a:p>
          <a:p>
            <a:pPr marL="457200" indent="-457200">
              <a:buFont typeface="+mj-lt"/>
              <a:buAutoNum type="arabicPeriod"/>
            </a:pPr>
            <a:r>
              <a:rPr lang="en-US" dirty="0">
                <a:sym typeface="Wingdings" panose="05000000000000000000" pitchFamily="2" charset="2"/>
              </a:rPr>
              <a:t>Loop construct </a:t>
            </a:r>
          </a:p>
          <a:p>
            <a:pPr marL="457200" indent="-457200">
              <a:buFont typeface="+mj-lt"/>
              <a:buAutoNum type="arabicPeriod"/>
            </a:pPr>
            <a:r>
              <a:rPr lang="en-US" dirty="0">
                <a:sym typeface="Wingdings" panose="05000000000000000000" pitchFamily="2" charset="2"/>
              </a:rPr>
              <a:t>Section/sections construct</a:t>
            </a:r>
            <a:endParaRPr lang="en-US" dirty="0"/>
          </a:p>
        </p:txBody>
      </p:sp>
      <p:sp>
        <p:nvSpPr>
          <p:cNvPr id="4" name="TextBox 3">
            <a:extLst>
              <a:ext uri="{FF2B5EF4-FFF2-40B4-BE49-F238E27FC236}">
                <a16:creationId xmlns:a16="http://schemas.microsoft.com/office/drawing/2014/main" id="{56C7260B-D2CB-7BC0-8F10-F88FA56DD437}"/>
              </a:ext>
            </a:extLst>
          </p:cNvPr>
          <p:cNvSpPr txBox="1"/>
          <p:nvPr/>
        </p:nvSpPr>
        <p:spPr>
          <a:xfrm>
            <a:off x="5217460" y="4835562"/>
            <a:ext cx="3485477" cy="961930"/>
          </a:xfrm>
          <a:prstGeom prst="rect">
            <a:avLst/>
          </a:prstGeom>
          <a:noFill/>
        </p:spPr>
        <p:txBody>
          <a:bodyPr wrap="square" rtlCol="0">
            <a:spAutoFit/>
          </a:bodyPr>
          <a:lstStyle/>
          <a:p>
            <a:pPr>
              <a:lnSpc>
                <a:spcPct val="150000"/>
              </a:lnSpc>
            </a:pPr>
            <a:r>
              <a:rPr lang="en-US" sz="2000" dirty="0"/>
              <a:t>3.   Single construct</a:t>
            </a:r>
          </a:p>
          <a:p>
            <a:pPr>
              <a:lnSpc>
                <a:spcPct val="150000"/>
              </a:lnSpc>
            </a:pPr>
            <a:r>
              <a:rPr lang="en-US" sz="2000" dirty="0"/>
              <a:t>4.   Task construct</a:t>
            </a:r>
          </a:p>
        </p:txBody>
      </p:sp>
    </p:spTree>
    <p:extLst>
      <p:ext uri="{BB962C8B-B14F-4D97-AF65-F5344CB8AC3E}">
        <p14:creationId xmlns:p14="http://schemas.microsoft.com/office/powerpoint/2010/main" val="2038285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8AF47-E9BC-3EA2-5833-CDC2DF00BB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276AE-2FE3-0A5C-E62B-5610EAEF3B63}"/>
              </a:ext>
            </a:extLst>
          </p:cNvPr>
          <p:cNvSpPr>
            <a:spLocks noGrp="1"/>
          </p:cNvSpPr>
          <p:nvPr>
            <p:ph type="title"/>
          </p:nvPr>
        </p:nvSpPr>
        <p:spPr>
          <a:xfrm>
            <a:off x="483556" y="318230"/>
            <a:ext cx="10653578" cy="742278"/>
          </a:xfrm>
        </p:spPr>
        <p:txBody>
          <a:bodyPr>
            <a:normAutofit fontScale="90000"/>
          </a:bodyPr>
          <a:lstStyle/>
          <a:p>
            <a:r>
              <a:rPr lang="en-US" dirty="0"/>
              <a:t>Work sharing</a:t>
            </a:r>
            <a:br>
              <a:rPr lang="en-US" dirty="0"/>
            </a:br>
            <a:r>
              <a:rPr lang="en-US" sz="2000" b="0" dirty="0"/>
              <a:t>loop-work sharing construct</a:t>
            </a:r>
          </a:p>
        </p:txBody>
      </p:sp>
      <p:sp>
        <p:nvSpPr>
          <p:cNvPr id="3" name="Content Placeholder 2">
            <a:extLst>
              <a:ext uri="{FF2B5EF4-FFF2-40B4-BE49-F238E27FC236}">
                <a16:creationId xmlns:a16="http://schemas.microsoft.com/office/drawing/2014/main" id="{C1194DF6-D39F-28E8-447C-B6D973AA15B2}"/>
              </a:ext>
            </a:extLst>
          </p:cNvPr>
          <p:cNvSpPr>
            <a:spLocks noGrp="1"/>
          </p:cNvSpPr>
          <p:nvPr>
            <p:ph idx="1"/>
          </p:nvPr>
        </p:nvSpPr>
        <p:spPr/>
        <p:txBody>
          <a:bodyPr>
            <a:normAutofit/>
          </a:bodyPr>
          <a:lstStyle/>
          <a:p>
            <a:r>
              <a:rPr lang="en-US" dirty="0"/>
              <a:t>In normal conditions, we’re trying to convert sequential code to paralyzed version, so, we get the code, look at it and trying to convert it.</a:t>
            </a:r>
          </a:p>
          <a:p>
            <a:r>
              <a:rPr lang="en-US" dirty="0"/>
              <a:t> </a:t>
            </a:r>
            <a:r>
              <a:rPr lang="en-US" b="1" dirty="0"/>
              <a:t>But can we use the same approach on any for loop? </a:t>
            </a:r>
          </a:p>
          <a:p>
            <a:r>
              <a:rPr lang="en-US" dirty="0"/>
              <a:t>The answer is, unfortunately, no.</a:t>
            </a:r>
          </a:p>
          <a:p>
            <a:r>
              <a:rPr lang="en-US" dirty="0"/>
              <a:t> The for loop has to satisfy certain conditions, which in OpenMP jargon are called the </a:t>
            </a:r>
            <a:r>
              <a:rPr lang="en-US" b="1" dirty="0"/>
              <a:t>canonical form</a:t>
            </a:r>
            <a:r>
              <a:rPr lang="en-US" dirty="0"/>
              <a:t>.</a:t>
            </a:r>
          </a:p>
        </p:txBody>
      </p:sp>
    </p:spTree>
    <p:extLst>
      <p:ext uri="{BB962C8B-B14F-4D97-AF65-F5344CB8AC3E}">
        <p14:creationId xmlns:p14="http://schemas.microsoft.com/office/powerpoint/2010/main" val="1312160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7A321-9B4A-415B-B92B-0410EDB07BB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998DAC-91F4-4ABA-F88C-B22D9A31F82F}"/>
              </a:ext>
            </a:extLst>
          </p:cNvPr>
          <p:cNvSpPr>
            <a:spLocks noGrp="1"/>
          </p:cNvSpPr>
          <p:nvPr>
            <p:ph type="title"/>
          </p:nvPr>
        </p:nvSpPr>
        <p:spPr>
          <a:xfrm>
            <a:off x="233604" y="385009"/>
            <a:ext cx="5862396" cy="1103857"/>
          </a:xfrm>
        </p:spPr>
        <p:txBody>
          <a:bodyPr anchor="b">
            <a:normAutofit/>
          </a:bodyPr>
          <a:lstStyle/>
          <a:p>
            <a:r>
              <a:rPr lang="en-US" sz="3300" dirty="0"/>
              <a:t>Work sharing</a:t>
            </a:r>
            <a:br>
              <a:rPr lang="en-US" sz="3300" dirty="0"/>
            </a:br>
            <a:r>
              <a:rPr lang="en-US" sz="3300" b="0" dirty="0"/>
              <a:t>loop-work sharing construct</a:t>
            </a:r>
          </a:p>
        </p:txBody>
      </p:sp>
      <p:sp>
        <p:nvSpPr>
          <p:cNvPr id="3" name="Content Placeholder 2">
            <a:extLst>
              <a:ext uri="{FF2B5EF4-FFF2-40B4-BE49-F238E27FC236}">
                <a16:creationId xmlns:a16="http://schemas.microsoft.com/office/drawing/2014/main" id="{179AB40D-D607-FB6C-94C1-5F9A26DB02C3}"/>
              </a:ext>
            </a:extLst>
          </p:cNvPr>
          <p:cNvSpPr>
            <a:spLocks noGrp="1"/>
          </p:cNvSpPr>
          <p:nvPr>
            <p:ph idx="1"/>
          </p:nvPr>
        </p:nvSpPr>
        <p:spPr>
          <a:xfrm>
            <a:off x="233603" y="1700463"/>
            <a:ext cx="7129723" cy="4608897"/>
          </a:xfrm>
        </p:spPr>
        <p:txBody>
          <a:bodyPr>
            <a:normAutofit lnSpcReduction="10000"/>
          </a:bodyPr>
          <a:lstStyle/>
          <a:p>
            <a:pPr>
              <a:lnSpc>
                <a:spcPct val="110000"/>
              </a:lnSpc>
            </a:pPr>
            <a:r>
              <a:rPr lang="en-US" sz="1400" dirty="0"/>
              <a:t>Canonical form has restrictions :-</a:t>
            </a:r>
          </a:p>
          <a:p>
            <a:pPr marL="457200" indent="-457200">
              <a:lnSpc>
                <a:spcPct val="110000"/>
              </a:lnSpc>
              <a:buFont typeface="+mj-lt"/>
              <a:buAutoNum type="arabicPeriod"/>
            </a:pPr>
            <a:r>
              <a:rPr lang="en-US" sz="1400" dirty="0"/>
              <a:t>The loop control variable has to be an integer type (signed or unsigned), a pointer type (e.g., base address of an array), or a random access iterator (for C++). The loop control variable is made private by default, even if it is declared outside the loop.</a:t>
            </a:r>
          </a:p>
          <a:p>
            <a:pPr marL="457200" indent="-457200">
              <a:lnSpc>
                <a:spcPct val="110000"/>
              </a:lnSpc>
              <a:buFont typeface="+mj-lt"/>
              <a:buAutoNum type="arabicPeriod"/>
            </a:pPr>
            <a:r>
              <a:rPr lang="en-US" sz="1400" dirty="0"/>
              <a:t>The loop control variable must not be modified in the body of the loop.</a:t>
            </a:r>
          </a:p>
          <a:p>
            <a:pPr marL="457200" indent="-457200">
              <a:lnSpc>
                <a:spcPct val="110000"/>
              </a:lnSpc>
              <a:buFont typeface="+mj-lt"/>
              <a:buAutoNum type="arabicPeriod"/>
            </a:pPr>
            <a:r>
              <a:rPr lang="en-US" sz="1400" dirty="0"/>
              <a:t>The limit against which the loop control variable is compared against to determine the truth of the termination condition must be loop-invariant, i.e., they cannot change during the loop’s execution.</a:t>
            </a:r>
          </a:p>
          <a:p>
            <a:pPr marL="457200" indent="-457200">
              <a:lnSpc>
                <a:spcPct val="110000"/>
              </a:lnSpc>
              <a:buFont typeface="+mj-lt"/>
              <a:buAutoNum type="arabicPeriod"/>
            </a:pPr>
            <a:r>
              <a:rPr lang="en-US" sz="1400" dirty="0"/>
              <a:t>The increment/decrement step of the loop control variable must be loop-invariant.</a:t>
            </a:r>
          </a:p>
          <a:p>
            <a:pPr marL="457200" indent="-457200">
              <a:lnSpc>
                <a:spcPct val="110000"/>
              </a:lnSpc>
              <a:buFont typeface="+mj-lt"/>
              <a:buAutoNum type="arabicPeriod"/>
            </a:pPr>
            <a:r>
              <a:rPr lang="en-US" sz="1400" dirty="0"/>
              <a:t>The logical and arithmetic operators allowed in the for statement are limited.</a:t>
            </a:r>
          </a:p>
          <a:p>
            <a:pPr marL="457200" indent="-457200">
              <a:lnSpc>
                <a:spcPct val="110000"/>
              </a:lnSpc>
              <a:buFont typeface="+mj-lt"/>
              <a:buAutoNum type="arabicPeriod"/>
            </a:pPr>
            <a:r>
              <a:rPr lang="en-US" sz="1400" dirty="0"/>
              <a:t>No program logic that transfers control outside the loop body is allowed. This includes break, </a:t>
            </a:r>
            <a:r>
              <a:rPr lang="en-US" sz="1400" b="1" dirty="0" err="1"/>
              <a:t>goto</a:t>
            </a:r>
            <a:r>
              <a:rPr lang="en-US" sz="1400" dirty="0"/>
              <a:t>, and </a:t>
            </a:r>
            <a:r>
              <a:rPr lang="en-US" sz="1400" b="1" dirty="0"/>
              <a:t>throw</a:t>
            </a:r>
            <a:r>
              <a:rPr lang="en-US" sz="1400" dirty="0"/>
              <a:t> statements. One can use</a:t>
            </a:r>
            <a:r>
              <a:rPr lang="en-US" sz="1400" b="1" dirty="0"/>
              <a:t> </a:t>
            </a:r>
            <a:r>
              <a:rPr lang="en-US" sz="1400" b="1" dirty="0" err="1"/>
              <a:t>goto</a:t>
            </a:r>
            <a:r>
              <a:rPr lang="en-US" sz="1400" b="1" dirty="0"/>
              <a:t> </a:t>
            </a:r>
            <a:r>
              <a:rPr lang="en-US" sz="1400" dirty="0"/>
              <a:t>and </a:t>
            </a:r>
            <a:r>
              <a:rPr lang="en-US" sz="1400" b="1" dirty="0"/>
              <a:t>throw</a:t>
            </a:r>
            <a:r>
              <a:rPr lang="en-US" sz="1400" dirty="0"/>
              <a:t> only if the destination address and the exception handling, respectively, take place within the loop body.</a:t>
            </a:r>
          </a:p>
          <a:p>
            <a:pPr marL="457200" indent="-457200">
              <a:lnSpc>
                <a:spcPct val="110000"/>
              </a:lnSpc>
              <a:buFont typeface="+mj-lt"/>
              <a:buAutoNum type="arabicPeriod"/>
            </a:pPr>
            <a:r>
              <a:rPr lang="en-US" sz="1400" dirty="0"/>
              <a:t>The program is allowed to terminate from within the loop body via an exit call.</a:t>
            </a:r>
          </a:p>
          <a:p>
            <a:pPr marL="0" indent="0">
              <a:lnSpc>
                <a:spcPct val="110000"/>
              </a:lnSpc>
              <a:buNone/>
            </a:pPr>
            <a:endParaRPr lang="en-US" sz="1400" dirty="0"/>
          </a:p>
        </p:txBody>
      </p:sp>
      <p:pic>
        <p:nvPicPr>
          <p:cNvPr id="5" name="Picture 4">
            <a:extLst>
              <a:ext uri="{FF2B5EF4-FFF2-40B4-BE49-F238E27FC236}">
                <a16:creationId xmlns:a16="http://schemas.microsoft.com/office/drawing/2014/main" id="{46032828-C9E5-0F13-CB2B-5DFC1C3B4219}"/>
              </a:ext>
            </a:extLst>
          </p:cNvPr>
          <p:cNvPicPr>
            <a:picLocks noChangeAspect="1"/>
          </p:cNvPicPr>
          <p:nvPr/>
        </p:nvPicPr>
        <p:blipFill>
          <a:blip r:embed="rId2"/>
          <a:stretch>
            <a:fillRect/>
          </a:stretch>
        </p:blipFill>
        <p:spPr>
          <a:xfrm>
            <a:off x="7363326" y="1224551"/>
            <a:ext cx="4681506" cy="2036454"/>
          </a:xfrm>
          <a:prstGeom prst="rect">
            <a:avLst/>
          </a:prstGeom>
        </p:spPr>
      </p:pic>
      <p:cxnSp>
        <p:nvCxnSpPr>
          <p:cNvPr id="7" name="Connector: Curved 6">
            <a:extLst>
              <a:ext uri="{FF2B5EF4-FFF2-40B4-BE49-F238E27FC236}">
                <a16:creationId xmlns:a16="http://schemas.microsoft.com/office/drawing/2014/main" id="{8ABEC879-4712-E6F9-C009-362397A6E42D}"/>
              </a:ext>
            </a:extLst>
          </p:cNvPr>
          <p:cNvCxnSpPr>
            <a:cxnSpLocks/>
          </p:cNvCxnSpPr>
          <p:nvPr/>
        </p:nvCxnSpPr>
        <p:spPr>
          <a:xfrm rot="10800000">
            <a:off x="9946104" y="596606"/>
            <a:ext cx="1235242" cy="1103857"/>
          </a:xfrm>
          <a:prstGeom prst="curvedConnector3">
            <a:avLst>
              <a:gd name="adj1" fmla="val -65584"/>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B1A867E-8E6D-9355-D239-AA2B7B8BDB58}"/>
              </a:ext>
            </a:extLst>
          </p:cNvPr>
          <p:cNvSpPr/>
          <p:nvPr/>
        </p:nvSpPr>
        <p:spPr>
          <a:xfrm>
            <a:off x="5887453" y="128137"/>
            <a:ext cx="3816626" cy="936937"/>
          </a:xfrm>
          <a:custGeom>
            <a:avLst/>
            <a:gdLst>
              <a:gd name="csX0" fmla="*/ 0 w 3816626"/>
              <a:gd name="csY0" fmla="*/ 468469 h 936937"/>
              <a:gd name="csX1" fmla="*/ 1908313 w 3816626"/>
              <a:gd name="csY1" fmla="*/ 0 h 936937"/>
              <a:gd name="csX2" fmla="*/ 3816626 w 3816626"/>
              <a:gd name="csY2" fmla="*/ 468469 h 936937"/>
              <a:gd name="csX3" fmla="*/ 1908313 w 3816626"/>
              <a:gd name="csY3" fmla="*/ 936938 h 936937"/>
              <a:gd name="csX4" fmla="*/ 0 w 3816626"/>
              <a:gd name="csY4" fmla="*/ 468469 h 936937"/>
            </a:gdLst>
            <a:ahLst/>
            <a:cxnLst>
              <a:cxn ang="0">
                <a:pos x="csX0" y="csY0"/>
              </a:cxn>
              <a:cxn ang="0">
                <a:pos x="csX1" y="csY1"/>
              </a:cxn>
              <a:cxn ang="0">
                <a:pos x="csX2" y="csY2"/>
              </a:cxn>
              <a:cxn ang="0">
                <a:pos x="csX3" y="csY3"/>
              </a:cxn>
              <a:cxn ang="0">
                <a:pos x="csX4" y="csY4"/>
              </a:cxn>
            </a:cxnLst>
            <a:rect l="l" t="t" r="r" b="b"/>
            <a:pathLst>
              <a:path w="3816626" h="936937" extrusionOk="0">
                <a:moveTo>
                  <a:pt x="0" y="468469"/>
                </a:moveTo>
                <a:cubicBezTo>
                  <a:pt x="-101618" y="147060"/>
                  <a:pt x="829566" y="9313"/>
                  <a:pt x="1908313" y="0"/>
                </a:cubicBezTo>
                <a:cubicBezTo>
                  <a:pt x="3001376" y="8238"/>
                  <a:pt x="3778421" y="210956"/>
                  <a:pt x="3816626" y="468469"/>
                </a:cubicBezTo>
                <a:cubicBezTo>
                  <a:pt x="3722225" y="819384"/>
                  <a:pt x="2937103" y="1075904"/>
                  <a:pt x="1908313" y="936938"/>
                </a:cubicBezTo>
                <a:cubicBezTo>
                  <a:pt x="805161" y="910008"/>
                  <a:pt x="26926" y="740063"/>
                  <a:pt x="0" y="468469"/>
                </a:cubicBezTo>
                <a:close/>
              </a:path>
            </a:pathLst>
          </a:custGeom>
          <a:noFill/>
          <a:ln w="38100">
            <a:solidFill>
              <a:srgbClr val="FF0000"/>
            </a:solidFill>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541D634-2C89-951D-D610-F79B8D3EF242}"/>
              </a:ext>
            </a:extLst>
          </p:cNvPr>
          <p:cNvSpPr txBox="1"/>
          <p:nvPr/>
        </p:nvSpPr>
        <p:spPr>
          <a:xfrm>
            <a:off x="6641431" y="411368"/>
            <a:ext cx="2759242" cy="369332"/>
          </a:xfrm>
          <a:prstGeom prst="rect">
            <a:avLst/>
          </a:prstGeom>
          <a:noFill/>
        </p:spPr>
        <p:txBody>
          <a:bodyPr wrap="square" rtlCol="0">
            <a:spAutoFit/>
          </a:bodyPr>
          <a:lstStyle/>
          <a:p>
            <a:r>
              <a:rPr lang="en-US" dirty="0"/>
              <a:t>Violating 2 and 3</a:t>
            </a:r>
          </a:p>
        </p:txBody>
      </p:sp>
      <p:pic>
        <p:nvPicPr>
          <p:cNvPr id="17" name="Picture 16">
            <a:extLst>
              <a:ext uri="{FF2B5EF4-FFF2-40B4-BE49-F238E27FC236}">
                <a16:creationId xmlns:a16="http://schemas.microsoft.com/office/drawing/2014/main" id="{BF06FDB5-2E31-609B-274A-3F16C4F2EEBA}"/>
              </a:ext>
            </a:extLst>
          </p:cNvPr>
          <p:cNvPicPr>
            <a:picLocks noChangeAspect="1"/>
          </p:cNvPicPr>
          <p:nvPr/>
        </p:nvPicPr>
        <p:blipFill>
          <a:blip r:embed="rId3">
            <a:extLst>
              <a:ext uri="{28A0092B-C50C-407E-A947-70E740481C1C}">
                <a14:useLocalDpi xmlns:a14="http://schemas.microsoft.com/office/drawing/2010/main" val="0"/>
              </a:ext>
            </a:extLst>
          </a:blip>
          <a:srcRect l="11833" t="4785" r="7292" b="2988"/>
          <a:stretch>
            <a:fillRect/>
          </a:stretch>
        </p:blipFill>
        <p:spPr>
          <a:xfrm>
            <a:off x="7360220" y="3710172"/>
            <a:ext cx="4732737" cy="2502592"/>
          </a:xfrm>
          <a:prstGeom prst="rect">
            <a:avLst/>
          </a:prstGeom>
        </p:spPr>
      </p:pic>
    </p:spTree>
    <p:extLst>
      <p:ext uri="{BB962C8B-B14F-4D97-AF65-F5344CB8AC3E}">
        <p14:creationId xmlns:p14="http://schemas.microsoft.com/office/powerpoint/2010/main" val="2019575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398A6-F607-EEC7-6D38-3BB217821D7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3CFE74-C6E1-CE10-FE51-D872184C0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651C06-F3F8-911F-A455-BA24BAD5F98B}"/>
              </a:ext>
            </a:extLst>
          </p:cNvPr>
          <p:cNvSpPr>
            <a:spLocks noGrp="1"/>
          </p:cNvSpPr>
          <p:nvPr>
            <p:ph type="title"/>
          </p:nvPr>
        </p:nvSpPr>
        <p:spPr>
          <a:xfrm>
            <a:off x="233604" y="120694"/>
            <a:ext cx="5862396" cy="1103857"/>
          </a:xfrm>
        </p:spPr>
        <p:txBody>
          <a:bodyPr anchor="b">
            <a:normAutofit/>
          </a:bodyPr>
          <a:lstStyle/>
          <a:p>
            <a:r>
              <a:rPr lang="en-US" sz="3300" dirty="0"/>
              <a:t>Work sharing</a:t>
            </a:r>
            <a:br>
              <a:rPr lang="en-US" sz="3300" dirty="0"/>
            </a:br>
            <a:r>
              <a:rPr lang="en-US" sz="3300" b="0" dirty="0"/>
              <a:t>loop-work sharing construct</a:t>
            </a:r>
          </a:p>
        </p:txBody>
      </p:sp>
      <p:sp>
        <p:nvSpPr>
          <p:cNvPr id="3" name="Content Placeholder 2">
            <a:extLst>
              <a:ext uri="{FF2B5EF4-FFF2-40B4-BE49-F238E27FC236}">
                <a16:creationId xmlns:a16="http://schemas.microsoft.com/office/drawing/2014/main" id="{F335A8FD-F009-1A78-8799-C8A92EE8EA75}"/>
              </a:ext>
            </a:extLst>
          </p:cNvPr>
          <p:cNvSpPr>
            <a:spLocks noGrp="1"/>
          </p:cNvSpPr>
          <p:nvPr>
            <p:ph idx="1"/>
          </p:nvPr>
        </p:nvSpPr>
        <p:spPr>
          <a:xfrm>
            <a:off x="233603" y="1452283"/>
            <a:ext cx="11513748" cy="4857078"/>
          </a:xfrm>
        </p:spPr>
        <p:txBody>
          <a:bodyPr>
            <a:normAutofit/>
          </a:bodyPr>
          <a:lstStyle/>
          <a:p>
            <a:pPr>
              <a:lnSpc>
                <a:spcPct val="110000"/>
              </a:lnSpc>
            </a:pPr>
            <a:r>
              <a:rPr lang="en-US" dirty="0"/>
              <a:t>We do it in code as follows:</a:t>
            </a:r>
          </a:p>
          <a:p>
            <a:pPr marL="0" indent="0">
              <a:lnSpc>
                <a:spcPct val="110000"/>
              </a:lnSpc>
              <a:buNone/>
            </a:pPr>
            <a:endParaRPr lang="en-US" dirty="0"/>
          </a:p>
          <a:p>
            <a:pPr>
              <a:lnSpc>
                <a:spcPct val="110000"/>
              </a:lnSpc>
            </a:pPr>
            <a:r>
              <a:rPr lang="en-US" dirty="0"/>
              <a:t>I want to split up iterations of that for loop to different threads </a:t>
            </a:r>
          </a:p>
          <a:p>
            <a:pPr marL="0" indent="0" algn="ctr">
              <a:lnSpc>
                <a:spcPct val="110000"/>
              </a:lnSpc>
              <a:buNone/>
            </a:pPr>
            <a:r>
              <a:rPr lang="en-US" dirty="0">
                <a:solidFill>
                  <a:srgbClr val="FF0000"/>
                </a:solidFill>
              </a:rPr>
              <a:t>[Not by hand = cyclic distribution]</a:t>
            </a:r>
          </a:p>
          <a:p>
            <a:pPr>
              <a:lnSpc>
                <a:spcPct val="110000"/>
              </a:lnSpc>
            </a:pPr>
            <a:r>
              <a:rPr lang="en-US" dirty="0"/>
              <a:t>For example:</a:t>
            </a:r>
          </a:p>
          <a:p>
            <a:pPr marL="0" indent="0">
              <a:lnSpc>
                <a:spcPct val="110000"/>
              </a:lnSpc>
              <a:buNone/>
            </a:pPr>
            <a:endParaRPr lang="en-US" dirty="0"/>
          </a:p>
          <a:p>
            <a:pPr marL="0" indent="0">
              <a:lnSpc>
                <a:spcPct val="110000"/>
              </a:lnSpc>
              <a:buNone/>
            </a:pPr>
            <a:endParaRPr lang="en-US" sz="1400" dirty="0"/>
          </a:p>
          <a:p>
            <a:pPr marL="0" indent="0">
              <a:lnSpc>
                <a:spcPct val="110000"/>
              </a:lnSpc>
              <a:buNone/>
            </a:pPr>
            <a:endParaRPr lang="en-US" sz="1400" dirty="0"/>
          </a:p>
        </p:txBody>
      </p:sp>
      <p:pic>
        <p:nvPicPr>
          <p:cNvPr id="6" name="Picture 5">
            <a:extLst>
              <a:ext uri="{FF2B5EF4-FFF2-40B4-BE49-F238E27FC236}">
                <a16:creationId xmlns:a16="http://schemas.microsoft.com/office/drawing/2014/main" id="{CF697FC5-A661-2155-C75A-38CCB4D892A8}"/>
              </a:ext>
            </a:extLst>
          </p:cNvPr>
          <p:cNvPicPr>
            <a:picLocks noChangeAspect="1"/>
          </p:cNvPicPr>
          <p:nvPr/>
        </p:nvPicPr>
        <p:blipFill>
          <a:blip r:embed="rId2"/>
          <a:stretch>
            <a:fillRect/>
          </a:stretch>
        </p:blipFill>
        <p:spPr>
          <a:xfrm>
            <a:off x="4195497" y="1224551"/>
            <a:ext cx="3801005" cy="1133633"/>
          </a:xfrm>
          <a:prstGeom prst="rect">
            <a:avLst/>
          </a:prstGeom>
        </p:spPr>
      </p:pic>
      <p:pic>
        <p:nvPicPr>
          <p:cNvPr id="8" name="Picture 7">
            <a:extLst>
              <a:ext uri="{FF2B5EF4-FFF2-40B4-BE49-F238E27FC236}">
                <a16:creationId xmlns:a16="http://schemas.microsoft.com/office/drawing/2014/main" id="{2C3F5DD4-7810-1137-4768-B9588BA53FE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5760" y="3880822"/>
            <a:ext cx="3031408" cy="1831489"/>
          </a:xfrm>
          <a:prstGeom prst="rect">
            <a:avLst/>
          </a:prstGeom>
        </p:spPr>
      </p:pic>
      <p:sp>
        <p:nvSpPr>
          <p:cNvPr id="9" name="Arrow: Right 8">
            <a:extLst>
              <a:ext uri="{FF2B5EF4-FFF2-40B4-BE49-F238E27FC236}">
                <a16:creationId xmlns:a16="http://schemas.microsoft.com/office/drawing/2014/main" id="{D11726C7-A6BF-75AB-F105-314F6F28B2F1}"/>
              </a:ext>
            </a:extLst>
          </p:cNvPr>
          <p:cNvSpPr/>
          <p:nvPr/>
        </p:nvSpPr>
        <p:spPr>
          <a:xfrm>
            <a:off x="3646842" y="4313816"/>
            <a:ext cx="1021977" cy="753036"/>
          </a:xfrm>
          <a:prstGeom prst="rightArrow">
            <a:avLst/>
          </a:prstGeom>
          <a:solidFill>
            <a:schemeClr val="bg2">
              <a:lumMod val="9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624A83AC-E023-2F75-E281-6EE4EA9313E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902422" y="3501175"/>
            <a:ext cx="4128688" cy="2378318"/>
          </a:xfrm>
          <a:prstGeom prst="rect">
            <a:avLst/>
          </a:prstGeom>
        </p:spPr>
      </p:pic>
      <p:sp>
        <p:nvSpPr>
          <p:cNvPr id="12" name="Arrow: Right 11">
            <a:extLst>
              <a:ext uri="{FF2B5EF4-FFF2-40B4-BE49-F238E27FC236}">
                <a16:creationId xmlns:a16="http://schemas.microsoft.com/office/drawing/2014/main" id="{9A44E77F-D920-73EA-4E60-38B40C8FA655}"/>
              </a:ext>
            </a:extLst>
          </p:cNvPr>
          <p:cNvSpPr/>
          <p:nvPr/>
        </p:nvSpPr>
        <p:spPr>
          <a:xfrm rot="19163868">
            <a:off x="9386731" y="3937298"/>
            <a:ext cx="1021977" cy="753036"/>
          </a:xfrm>
          <a:prstGeom prst="rightArrow">
            <a:avLst/>
          </a:prstGeom>
          <a:solidFill>
            <a:schemeClr val="bg2">
              <a:lumMod val="9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CAC69687-DA3A-3781-CD84-A18274FE4EF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335963" y="1171075"/>
            <a:ext cx="3672758" cy="1900232"/>
          </a:xfrm>
          <a:prstGeom prst="rect">
            <a:avLst/>
          </a:prstGeom>
        </p:spPr>
      </p:pic>
      <p:sp>
        <p:nvSpPr>
          <p:cNvPr id="16" name="TextBox 15">
            <a:extLst>
              <a:ext uri="{FF2B5EF4-FFF2-40B4-BE49-F238E27FC236}">
                <a16:creationId xmlns:a16="http://schemas.microsoft.com/office/drawing/2014/main" id="{53AC9173-D30D-F1C4-2AB5-691D6B1AC001}"/>
              </a:ext>
            </a:extLst>
          </p:cNvPr>
          <p:cNvSpPr txBox="1"/>
          <p:nvPr/>
        </p:nvSpPr>
        <p:spPr>
          <a:xfrm>
            <a:off x="584499" y="6131415"/>
            <a:ext cx="11607501" cy="369332"/>
          </a:xfrm>
          <a:prstGeom prst="rect">
            <a:avLst/>
          </a:prstGeom>
          <a:noFill/>
        </p:spPr>
        <p:txBody>
          <a:bodyPr wrap="square" rtlCol="0">
            <a:spAutoFit/>
          </a:bodyPr>
          <a:lstStyle/>
          <a:p>
            <a:r>
              <a:rPr lang="en-US" dirty="0">
                <a:solidFill>
                  <a:srgbClr val="FF0000"/>
                </a:solidFill>
              </a:rPr>
              <a:t>even split can yield poor performance if the execution cost of each iteration is not more or less the same</a:t>
            </a:r>
          </a:p>
        </p:txBody>
      </p:sp>
    </p:spTree>
    <p:extLst>
      <p:ext uri="{BB962C8B-B14F-4D97-AF65-F5344CB8AC3E}">
        <p14:creationId xmlns:p14="http://schemas.microsoft.com/office/powerpoint/2010/main" val="424105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fill="hold"/>
                                        <p:tgtEl>
                                          <p:spTgt spid="16"/>
                                        </p:tgtEl>
                                        <p:attrNameLst>
                                          <p:attrName>ppt_x</p:attrName>
                                        </p:attrNameLst>
                                      </p:cBhvr>
                                      <p:tavLst>
                                        <p:tav tm="0">
                                          <p:val>
                                            <p:strVal val="#ppt_x"/>
                                          </p:val>
                                        </p:tav>
                                        <p:tav tm="100000">
                                          <p:val>
                                            <p:strVal val="#ppt_x"/>
                                          </p:val>
                                        </p:tav>
                                      </p:tavLst>
                                    </p:anim>
                                    <p:anim calcmode="lin" valueType="num">
                                      <p:cBhvr additive="base">
                                        <p:cTn id="33"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18C6B-13B6-EB75-0706-C658F7CDA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EA4FC-AF56-E628-5E98-383E74DC0970}"/>
              </a:ext>
            </a:extLst>
          </p:cNvPr>
          <p:cNvSpPr>
            <a:spLocks noGrp="1"/>
          </p:cNvSpPr>
          <p:nvPr>
            <p:ph type="title"/>
          </p:nvPr>
        </p:nvSpPr>
        <p:spPr>
          <a:xfrm>
            <a:off x="430306" y="339746"/>
            <a:ext cx="10653578" cy="742278"/>
          </a:xfrm>
        </p:spPr>
        <p:txBody>
          <a:bodyPr>
            <a:normAutofit fontScale="90000"/>
          </a:bodyPr>
          <a:lstStyle/>
          <a:p>
            <a:r>
              <a:rPr lang="en-US" dirty="0"/>
              <a:t>Scheduling</a:t>
            </a:r>
            <a:br>
              <a:rPr lang="en-US" dirty="0"/>
            </a:br>
            <a:r>
              <a:rPr lang="en-US" sz="2000" b="0" dirty="0"/>
              <a:t>How are the loops mapped onto threads??</a:t>
            </a:r>
          </a:p>
        </p:txBody>
      </p:sp>
      <p:sp>
        <p:nvSpPr>
          <p:cNvPr id="3" name="Content Placeholder 2">
            <a:extLst>
              <a:ext uri="{FF2B5EF4-FFF2-40B4-BE49-F238E27FC236}">
                <a16:creationId xmlns:a16="http://schemas.microsoft.com/office/drawing/2014/main" id="{AB355076-227E-C934-EDF4-FBE76C2A8E0C}"/>
              </a:ext>
            </a:extLst>
          </p:cNvPr>
          <p:cNvSpPr>
            <a:spLocks noGrp="1"/>
          </p:cNvSpPr>
          <p:nvPr>
            <p:ph idx="1"/>
          </p:nvPr>
        </p:nvSpPr>
        <p:spPr>
          <a:xfrm>
            <a:off x="612647" y="1715532"/>
            <a:ext cx="10653579" cy="4802722"/>
          </a:xfrm>
        </p:spPr>
        <p:txBody>
          <a:bodyPr>
            <a:normAutofit/>
          </a:bodyPr>
          <a:lstStyle/>
          <a:p>
            <a:r>
              <a:rPr lang="en-US" dirty="0"/>
              <a:t>Compiler are dumb, you have to till the compiler hoe to split the loops up between threads.</a:t>
            </a:r>
          </a:p>
          <a:p>
            <a:r>
              <a:rPr lang="en-US" b="1" dirty="0"/>
              <a:t>Scheduling</a:t>
            </a:r>
            <a:r>
              <a:rPr lang="en-US" dirty="0"/>
              <a:t> </a:t>
            </a:r>
            <a:r>
              <a:rPr lang="en-US" dirty="0">
                <a:sym typeface="Wingdings" panose="05000000000000000000" pitchFamily="2" charset="2"/>
              </a:rPr>
              <a:t> giving information to the compiler which says how I want to break up those iterations of the loop, package them up and split then between threads.</a:t>
            </a:r>
          </a:p>
          <a:p>
            <a:r>
              <a:rPr lang="en-US" dirty="0">
                <a:sym typeface="Wingdings" panose="05000000000000000000" pitchFamily="2" charset="2"/>
              </a:rPr>
              <a:t>To do this we add </a:t>
            </a:r>
            <a:r>
              <a:rPr lang="en-US" b="1" dirty="0">
                <a:sym typeface="Wingdings" panose="05000000000000000000" pitchFamily="2" charset="2"/>
              </a:rPr>
              <a:t>schedule(type[</a:t>
            </a:r>
            <a:r>
              <a:rPr lang="en-US" b="1" dirty="0" err="1">
                <a:sym typeface="Wingdings" panose="05000000000000000000" pitchFamily="2" charset="2"/>
              </a:rPr>
              <a:t>chunck_size</a:t>
            </a:r>
            <a:r>
              <a:rPr lang="en-US" b="1" dirty="0">
                <a:sym typeface="Wingdings" panose="05000000000000000000" pitchFamily="2" charset="2"/>
              </a:rPr>
              <a:t>)]) </a:t>
            </a:r>
            <a:r>
              <a:rPr lang="en-US" dirty="0">
                <a:sym typeface="Wingdings" panose="05000000000000000000" pitchFamily="2" charset="2"/>
              </a:rPr>
              <a:t>clause to the for construct.</a:t>
            </a:r>
          </a:p>
          <a:p>
            <a:r>
              <a:rPr lang="en-US" dirty="0"/>
              <a:t>All schemes can have a parameter called </a:t>
            </a:r>
            <a:r>
              <a:rPr lang="en-US" dirty="0" err="1"/>
              <a:t>chunk_size</a:t>
            </a:r>
            <a:r>
              <a:rPr lang="en-US" dirty="0"/>
              <a:t> that determines how the partitioning is done</a:t>
            </a:r>
            <a:endParaRPr lang="en-US" dirty="0">
              <a:sym typeface="Wingdings" panose="05000000000000000000" pitchFamily="2" charset="2"/>
            </a:endParaRPr>
          </a:p>
          <a:p>
            <a:r>
              <a:rPr lang="en-US" dirty="0" err="1">
                <a:sym typeface="Wingdings" panose="05000000000000000000" pitchFamily="2" charset="2"/>
              </a:rPr>
              <a:t>Chunck_size</a:t>
            </a:r>
            <a:r>
              <a:rPr lang="en-US" dirty="0">
                <a:sym typeface="Wingdings" panose="05000000000000000000" pitchFamily="2" charset="2"/>
              </a:rPr>
              <a:t>  optional</a:t>
            </a:r>
          </a:p>
          <a:p>
            <a:endParaRPr lang="en-US" dirty="0"/>
          </a:p>
        </p:txBody>
      </p:sp>
      <p:pic>
        <p:nvPicPr>
          <p:cNvPr id="5" name="Picture 4">
            <a:extLst>
              <a:ext uri="{FF2B5EF4-FFF2-40B4-BE49-F238E27FC236}">
                <a16:creationId xmlns:a16="http://schemas.microsoft.com/office/drawing/2014/main" id="{9FE1D59A-A3B6-E9F4-C07C-F32E0FED4BFB}"/>
              </a:ext>
            </a:extLst>
          </p:cNvPr>
          <p:cNvPicPr>
            <a:picLocks noChangeAspect="1"/>
          </p:cNvPicPr>
          <p:nvPr/>
        </p:nvPicPr>
        <p:blipFill>
          <a:blip r:embed="rId2"/>
          <a:stretch>
            <a:fillRect/>
          </a:stretch>
        </p:blipFill>
        <p:spPr>
          <a:xfrm>
            <a:off x="1176454" y="5256132"/>
            <a:ext cx="9525964" cy="1262122"/>
          </a:xfrm>
          <a:prstGeom prst="rect">
            <a:avLst/>
          </a:prstGeom>
        </p:spPr>
      </p:pic>
    </p:spTree>
    <p:extLst>
      <p:ext uri="{BB962C8B-B14F-4D97-AF65-F5344CB8AC3E}">
        <p14:creationId xmlns:p14="http://schemas.microsoft.com/office/powerpoint/2010/main" val="345928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73658-A8A5-B114-B817-C278C1A6E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C11544-42FE-97C4-2C46-64A5A167BBA4}"/>
              </a:ext>
            </a:extLst>
          </p:cNvPr>
          <p:cNvSpPr>
            <a:spLocks noGrp="1"/>
          </p:cNvSpPr>
          <p:nvPr>
            <p:ph type="title"/>
          </p:nvPr>
        </p:nvSpPr>
        <p:spPr>
          <a:xfrm>
            <a:off x="430306" y="339746"/>
            <a:ext cx="10653578" cy="742278"/>
          </a:xfrm>
        </p:spPr>
        <p:txBody>
          <a:bodyPr>
            <a:normAutofit fontScale="90000"/>
          </a:bodyPr>
          <a:lstStyle/>
          <a:p>
            <a:r>
              <a:rPr lang="en-US" dirty="0"/>
              <a:t>Scheduling schemes</a:t>
            </a:r>
            <a:br>
              <a:rPr lang="en-US" dirty="0"/>
            </a:br>
            <a:r>
              <a:rPr lang="en-US" sz="2000" b="0" dirty="0"/>
              <a:t>How are the loops mapped onto threads??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B65FDE-EC9B-948C-73E5-618B00306732}"/>
                  </a:ext>
                </a:extLst>
              </p:cNvPr>
              <p:cNvSpPr>
                <a:spLocks noGrp="1"/>
              </p:cNvSpPr>
              <p:nvPr>
                <p:ph idx="1"/>
              </p:nvPr>
            </p:nvSpPr>
            <p:spPr>
              <a:xfrm>
                <a:off x="548479" y="1264411"/>
                <a:ext cx="10653579" cy="4593828"/>
              </a:xfrm>
            </p:spPr>
            <p:txBody>
              <a:bodyPr>
                <a:normAutofit/>
              </a:bodyPr>
              <a:lstStyle/>
              <a:p>
                <a:r>
                  <a:rPr lang="en-US" dirty="0"/>
                  <a:t>We will assume that the team is made up of p threads and that the total number of P iterations, collapsed or otherwise, to be assigned is N.</a:t>
                </a:r>
              </a:p>
              <a:p>
                <a:pPr marL="457200" indent="-457200">
                  <a:buFont typeface="+mj-lt"/>
                  <a:buAutoNum type="arabicPeriod"/>
                </a:pPr>
                <a:r>
                  <a:rPr lang="en-US" b="1" dirty="0"/>
                  <a:t>Static</a:t>
                </a:r>
                <a:r>
                  <a:rPr lang="en-US" dirty="0"/>
                  <a:t> : </a:t>
                </a:r>
              </a:p>
              <a:p>
                <a:r>
                  <a:rPr lang="en-US" dirty="0"/>
                  <a:t>In this scheme, the loop is broken into groups of </a:t>
                </a:r>
                <a:r>
                  <a:rPr lang="en-US" dirty="0" err="1"/>
                  <a:t>chunk_size</a:t>
                </a:r>
                <a:r>
                  <a:rPr lang="en-US" dirty="0"/>
                  <a:t> iterations. </a:t>
                </a:r>
              </a:p>
              <a:p>
                <a:r>
                  <a:rPr lang="en-US" dirty="0"/>
                  <a:t>If </a:t>
                </a:r>
                <a:r>
                  <a:rPr lang="en-US" b="1" dirty="0" err="1"/>
                  <a:t>chunk_size</a:t>
                </a:r>
                <a:r>
                  <a:rPr lang="en-US" b="1" dirty="0"/>
                  <a:t> </a:t>
                </a:r>
                <a:r>
                  <a:rPr lang="en-US" dirty="0"/>
                  <a:t>is unspecified, it defaults to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 </m:t>
                        </m:r>
                        <m:r>
                          <a:rPr lang="en-US" b="0" i="1" smtClean="0">
                            <a:latin typeface="Cambria Math" panose="02040503050406030204" pitchFamily="18" charset="0"/>
                          </a:rPr>
                          <m:t>𝑃</m:t>
                        </m:r>
                      </m:den>
                    </m:f>
                  </m:oMath>
                </a14:m>
                <a:r>
                  <a:rPr lang="en-US" dirty="0"/>
                  <a:t> , with the last group possibly being a bit smaller if N is not a multiple of p. The groups are assigned to the threads in a round-robin fashion, in the order of the thread number.</a:t>
                </a:r>
              </a:p>
            </p:txBody>
          </p:sp>
        </mc:Choice>
        <mc:Fallback xmlns="">
          <p:sp>
            <p:nvSpPr>
              <p:cNvPr id="3" name="Content Placeholder 2">
                <a:extLst>
                  <a:ext uri="{FF2B5EF4-FFF2-40B4-BE49-F238E27FC236}">
                    <a16:creationId xmlns:a16="http://schemas.microsoft.com/office/drawing/2014/main" id="{76B65FDE-EC9B-948C-73E5-618B00306732}"/>
                  </a:ext>
                </a:extLst>
              </p:cNvPr>
              <p:cNvSpPr>
                <a:spLocks noGrp="1" noRot="1" noChangeAspect="1" noMove="1" noResize="1" noEditPoints="1" noAdjustHandles="1" noChangeArrowheads="1" noChangeShapeType="1" noTextEdit="1"/>
              </p:cNvSpPr>
              <p:nvPr>
                <p:ph idx="1"/>
              </p:nvPr>
            </p:nvSpPr>
            <p:spPr>
              <a:xfrm>
                <a:off x="548479" y="1264411"/>
                <a:ext cx="10653579" cy="4593828"/>
              </a:xfrm>
              <a:blipFill>
                <a:blip r:embed="rId2"/>
                <a:stretch>
                  <a:fillRect l="-686"/>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13C60F6F-3046-C202-F7AD-E138F084E271}"/>
              </a:ext>
            </a:extLst>
          </p:cNvPr>
          <p:cNvPicPr>
            <a:picLocks noChangeAspect="1"/>
          </p:cNvPicPr>
          <p:nvPr/>
        </p:nvPicPr>
        <p:blipFill>
          <a:blip r:embed="rId3"/>
          <a:srcRect b="63566"/>
          <a:stretch>
            <a:fillRect/>
          </a:stretch>
        </p:blipFill>
        <p:spPr>
          <a:xfrm>
            <a:off x="1492394" y="4508960"/>
            <a:ext cx="7506748" cy="2169258"/>
          </a:xfrm>
          <a:prstGeom prst="rect">
            <a:avLst/>
          </a:prstGeom>
        </p:spPr>
      </p:pic>
    </p:spTree>
    <p:extLst>
      <p:ext uri="{BB962C8B-B14F-4D97-AF65-F5344CB8AC3E}">
        <p14:creationId xmlns:p14="http://schemas.microsoft.com/office/powerpoint/2010/main" val="170084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2C2AB-E587-7491-CD56-AD6580142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D6ED2-1F73-D6F3-CE08-C3162B95CC3A}"/>
              </a:ext>
            </a:extLst>
          </p:cNvPr>
          <p:cNvSpPr>
            <a:spLocks noGrp="1"/>
          </p:cNvSpPr>
          <p:nvPr>
            <p:ph type="title"/>
          </p:nvPr>
        </p:nvSpPr>
        <p:spPr>
          <a:xfrm>
            <a:off x="382178" y="120892"/>
            <a:ext cx="10653578" cy="742278"/>
          </a:xfrm>
        </p:spPr>
        <p:txBody>
          <a:bodyPr>
            <a:normAutofit fontScale="90000"/>
          </a:bodyPr>
          <a:lstStyle/>
          <a:p>
            <a:r>
              <a:rPr lang="en-US" dirty="0"/>
              <a:t>Scheduling schemes</a:t>
            </a:r>
            <a:br>
              <a:rPr lang="en-US" dirty="0"/>
            </a:br>
            <a:r>
              <a:rPr lang="en-US" sz="2000" b="0" dirty="0"/>
              <a:t>How are the loops mapped onto threads??</a:t>
            </a:r>
          </a:p>
        </p:txBody>
      </p:sp>
      <p:sp>
        <p:nvSpPr>
          <p:cNvPr id="3" name="Content Placeholder 2">
            <a:extLst>
              <a:ext uri="{FF2B5EF4-FFF2-40B4-BE49-F238E27FC236}">
                <a16:creationId xmlns:a16="http://schemas.microsoft.com/office/drawing/2014/main" id="{E827A423-1AC4-447E-E70A-0A4E5FCF3EA6}"/>
              </a:ext>
            </a:extLst>
          </p:cNvPr>
          <p:cNvSpPr>
            <a:spLocks noGrp="1"/>
          </p:cNvSpPr>
          <p:nvPr>
            <p:ph idx="1"/>
          </p:nvPr>
        </p:nvSpPr>
        <p:spPr>
          <a:xfrm>
            <a:off x="382178" y="809382"/>
            <a:ext cx="10653579" cy="4593828"/>
          </a:xfrm>
        </p:spPr>
        <p:txBody>
          <a:bodyPr>
            <a:normAutofit fontScale="92500"/>
          </a:bodyPr>
          <a:lstStyle/>
          <a:p>
            <a:r>
              <a:rPr lang="en-US" dirty="0"/>
              <a:t>We will assume that the team is made up of p threads and that the total number of P iterations, collapsed or otherwise, to be assigned is N.</a:t>
            </a:r>
          </a:p>
          <a:p>
            <a:pPr marL="457200" indent="-457200">
              <a:buFont typeface="+mj-lt"/>
              <a:buAutoNum type="arabicPeriod" startAt="2"/>
            </a:pPr>
            <a:r>
              <a:rPr lang="en-US" b="1" dirty="0"/>
              <a:t>Dynamic</a:t>
            </a:r>
            <a:r>
              <a:rPr lang="en-US" dirty="0"/>
              <a:t> : </a:t>
            </a:r>
          </a:p>
          <a:p>
            <a:r>
              <a:rPr lang="en-US" dirty="0"/>
              <a:t>This scheme mimics the operation of a dynamic load balancer, where groups of size </a:t>
            </a:r>
            <a:r>
              <a:rPr lang="en-US" dirty="0" err="1"/>
              <a:t>chunk_size</a:t>
            </a:r>
            <a:r>
              <a:rPr lang="en-US" dirty="0"/>
              <a:t> are assigned to the threads on a </a:t>
            </a:r>
            <a:r>
              <a:rPr lang="en-US" b="1" dirty="0"/>
              <a:t>first-come, first-served basis</a:t>
            </a:r>
            <a:r>
              <a:rPr lang="en-US" dirty="0"/>
              <a:t>. A thread executes a group, then requests another, etc. If </a:t>
            </a:r>
            <a:r>
              <a:rPr lang="en-US" dirty="0" err="1"/>
              <a:t>chunk_size</a:t>
            </a:r>
            <a:r>
              <a:rPr lang="en-US" dirty="0"/>
              <a:t> is unspecified, it defaults to 1. </a:t>
            </a:r>
          </a:p>
          <a:p>
            <a:r>
              <a:rPr lang="en-US" dirty="0"/>
              <a:t>Take the loop iterations and put them into a logical task </a:t>
            </a:r>
            <a:r>
              <a:rPr lang="en-US" b="1" dirty="0"/>
              <a:t>queue</a:t>
            </a:r>
            <a:r>
              <a:rPr lang="en-US" dirty="0"/>
              <a:t> and then go off and grab on iteration block, the thread finishes the work on that iteration and then it goes back and grabs the next block.</a:t>
            </a:r>
          </a:p>
          <a:p>
            <a:r>
              <a:rPr lang="en-US" dirty="0"/>
              <a:t>What it’s doing is </a:t>
            </a:r>
            <a:r>
              <a:rPr lang="en-US" dirty="0">
                <a:sym typeface="Wingdings" panose="05000000000000000000" pitchFamily="2" charset="2"/>
              </a:rPr>
              <a:t> it’s deciding at run time not compile time how it’s going to break up work between the threads </a:t>
            </a:r>
            <a:endParaRPr lang="en-US" dirty="0"/>
          </a:p>
        </p:txBody>
      </p:sp>
      <p:pic>
        <p:nvPicPr>
          <p:cNvPr id="7" name="Picture 6">
            <a:extLst>
              <a:ext uri="{FF2B5EF4-FFF2-40B4-BE49-F238E27FC236}">
                <a16:creationId xmlns:a16="http://schemas.microsoft.com/office/drawing/2014/main" id="{5C13FEAE-B3D7-B7E6-5121-72C61154EDA1}"/>
              </a:ext>
            </a:extLst>
          </p:cNvPr>
          <p:cNvPicPr>
            <a:picLocks noChangeAspect="1"/>
          </p:cNvPicPr>
          <p:nvPr/>
        </p:nvPicPr>
        <p:blipFill>
          <a:blip r:embed="rId2"/>
          <a:srcRect t="35815" b="36433"/>
          <a:stretch>
            <a:fillRect/>
          </a:stretch>
        </p:blipFill>
        <p:spPr>
          <a:xfrm>
            <a:off x="1955593" y="5205664"/>
            <a:ext cx="7506748" cy="1652336"/>
          </a:xfrm>
          <a:prstGeom prst="rect">
            <a:avLst/>
          </a:prstGeom>
        </p:spPr>
      </p:pic>
    </p:spTree>
    <p:extLst>
      <p:ext uri="{BB962C8B-B14F-4D97-AF65-F5344CB8AC3E}">
        <p14:creationId xmlns:p14="http://schemas.microsoft.com/office/powerpoint/2010/main" val="4146672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CC40C-BF9C-273A-2AE5-596BBC1F3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A35D8-82C9-9744-8E60-E6CA62215D92}"/>
              </a:ext>
            </a:extLst>
          </p:cNvPr>
          <p:cNvSpPr>
            <a:spLocks noGrp="1"/>
          </p:cNvSpPr>
          <p:nvPr>
            <p:ph type="title"/>
          </p:nvPr>
        </p:nvSpPr>
        <p:spPr>
          <a:xfrm>
            <a:off x="382178" y="-48126"/>
            <a:ext cx="10653578" cy="742278"/>
          </a:xfrm>
        </p:spPr>
        <p:txBody>
          <a:bodyPr>
            <a:normAutofit fontScale="90000"/>
          </a:bodyPr>
          <a:lstStyle/>
          <a:p>
            <a:r>
              <a:rPr lang="en-US" dirty="0"/>
              <a:t>Scheduling schemes</a:t>
            </a:r>
            <a:br>
              <a:rPr lang="en-US" dirty="0"/>
            </a:br>
            <a:r>
              <a:rPr lang="en-US" sz="2000" b="0" dirty="0"/>
              <a:t>How are the loops mapped onto threads??</a:t>
            </a:r>
          </a:p>
        </p:txBody>
      </p:sp>
      <p:sp>
        <p:nvSpPr>
          <p:cNvPr id="3" name="Content Placeholder 2">
            <a:extLst>
              <a:ext uri="{FF2B5EF4-FFF2-40B4-BE49-F238E27FC236}">
                <a16:creationId xmlns:a16="http://schemas.microsoft.com/office/drawing/2014/main" id="{3458F4D2-2D92-4EE0-52D7-209B98843960}"/>
              </a:ext>
            </a:extLst>
          </p:cNvPr>
          <p:cNvSpPr>
            <a:spLocks noGrp="1"/>
          </p:cNvSpPr>
          <p:nvPr>
            <p:ph idx="1"/>
          </p:nvPr>
        </p:nvSpPr>
        <p:spPr>
          <a:xfrm>
            <a:off x="382178" y="694152"/>
            <a:ext cx="10653579" cy="4593828"/>
          </a:xfrm>
        </p:spPr>
        <p:txBody>
          <a:bodyPr>
            <a:normAutofit lnSpcReduction="10000"/>
          </a:bodyPr>
          <a:lstStyle/>
          <a:p>
            <a:r>
              <a:rPr lang="en-US" dirty="0"/>
              <a:t>We will assume that the team is made up of p threads and that the total number of P iterations, collapsed or otherwise, to be assigned is N.</a:t>
            </a:r>
          </a:p>
          <a:p>
            <a:pPr marL="457200" indent="-457200">
              <a:buFont typeface="+mj-lt"/>
              <a:buAutoNum type="arabicPeriod" startAt="3"/>
            </a:pPr>
            <a:r>
              <a:rPr lang="en-US" b="1" dirty="0"/>
              <a:t>Guided</a:t>
            </a:r>
            <a:r>
              <a:rPr lang="en-US" dirty="0"/>
              <a:t> : </a:t>
            </a:r>
          </a:p>
          <a:p>
            <a:r>
              <a:rPr lang="en-US" dirty="0"/>
              <a:t>The dynamic scheme offers flexibility, but the coordination overhead associated with requesting a new group can deteriorate performance.</a:t>
            </a:r>
          </a:p>
          <a:p>
            <a:r>
              <a:rPr lang="en-US" dirty="0"/>
              <a:t> The guided scheme tries to offset this overhead by using </a:t>
            </a:r>
            <a:r>
              <a:rPr lang="en-US" b="1" dirty="0"/>
              <a:t>variable-sized groups </a:t>
            </a:r>
            <a:r>
              <a:rPr lang="en-US" dirty="0"/>
              <a:t>that </a:t>
            </a:r>
            <a:r>
              <a:rPr lang="en-US" b="1" dirty="0"/>
              <a:t>shrink over time </a:t>
            </a:r>
            <a:r>
              <a:rPr lang="en-US" dirty="0"/>
              <a:t>to allow for load balancing.</a:t>
            </a:r>
          </a:p>
          <a:p>
            <a:r>
              <a:rPr lang="en-US" dirty="0"/>
              <a:t> The group size given out at each new request is equal </a:t>
            </a:r>
            <a:r>
              <a:rPr lang="en-US" b="1" dirty="0"/>
              <a:t>to the number of unassigned iterations divided by p.</a:t>
            </a:r>
          </a:p>
          <a:p>
            <a:r>
              <a:rPr lang="en-US" dirty="0" err="1"/>
              <a:t>Thechunk_size</a:t>
            </a:r>
            <a:r>
              <a:rPr lang="en-US" dirty="0"/>
              <a:t> specifies </a:t>
            </a:r>
            <a:r>
              <a:rPr lang="en-US" b="1" dirty="0"/>
              <a:t>a lower bound for the size of a group </a:t>
            </a:r>
            <a:r>
              <a:rPr lang="en-US" dirty="0"/>
              <a:t>(the very last being an exception obviously). </a:t>
            </a:r>
            <a:r>
              <a:rPr lang="en-US" b="1" dirty="0"/>
              <a:t>If </a:t>
            </a:r>
            <a:r>
              <a:rPr lang="en-US" b="1" dirty="0" err="1"/>
              <a:t>chunk_size</a:t>
            </a:r>
            <a:r>
              <a:rPr lang="en-US" b="1" dirty="0"/>
              <a:t> is unspecified, it defaults to 1</a:t>
            </a:r>
            <a:r>
              <a:rPr lang="en-US" dirty="0"/>
              <a:t>.</a:t>
            </a:r>
          </a:p>
        </p:txBody>
      </p:sp>
      <p:pic>
        <p:nvPicPr>
          <p:cNvPr id="7" name="Picture 6">
            <a:extLst>
              <a:ext uri="{FF2B5EF4-FFF2-40B4-BE49-F238E27FC236}">
                <a16:creationId xmlns:a16="http://schemas.microsoft.com/office/drawing/2014/main" id="{63085E4A-098F-6AFB-AB7A-0CD2D8B2FADB}"/>
              </a:ext>
            </a:extLst>
          </p:cNvPr>
          <p:cNvPicPr>
            <a:picLocks noChangeAspect="1"/>
          </p:cNvPicPr>
          <p:nvPr/>
        </p:nvPicPr>
        <p:blipFill>
          <a:blip r:embed="rId2"/>
          <a:srcRect t="63567" b="194"/>
          <a:stretch>
            <a:fillRect/>
          </a:stretch>
        </p:blipFill>
        <p:spPr>
          <a:xfrm>
            <a:off x="1682877" y="5069305"/>
            <a:ext cx="7506748" cy="1788695"/>
          </a:xfrm>
          <a:prstGeom prst="rect">
            <a:avLst/>
          </a:prstGeom>
        </p:spPr>
      </p:pic>
    </p:spTree>
    <p:extLst>
      <p:ext uri="{BB962C8B-B14F-4D97-AF65-F5344CB8AC3E}">
        <p14:creationId xmlns:p14="http://schemas.microsoft.com/office/powerpoint/2010/main" val="1503899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160B0-117A-9C17-7696-75683B6F8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7C7C5-1D27-A141-8A43-5AD4F7A5780A}"/>
              </a:ext>
            </a:extLst>
          </p:cNvPr>
          <p:cNvSpPr>
            <a:spLocks noGrp="1"/>
          </p:cNvSpPr>
          <p:nvPr>
            <p:ph type="title"/>
          </p:nvPr>
        </p:nvSpPr>
        <p:spPr>
          <a:xfrm>
            <a:off x="398220" y="559368"/>
            <a:ext cx="10653578" cy="742278"/>
          </a:xfrm>
        </p:spPr>
        <p:txBody>
          <a:bodyPr>
            <a:normAutofit fontScale="90000"/>
          </a:bodyPr>
          <a:lstStyle/>
          <a:p>
            <a:r>
              <a:rPr lang="en-US" dirty="0"/>
              <a:t>Scheduling schemes</a:t>
            </a:r>
            <a:br>
              <a:rPr lang="en-US" dirty="0"/>
            </a:br>
            <a:r>
              <a:rPr lang="en-US" sz="2000" b="0" dirty="0"/>
              <a:t>How are the loops mapped onto threads??</a:t>
            </a:r>
          </a:p>
        </p:txBody>
      </p:sp>
      <p:sp>
        <p:nvSpPr>
          <p:cNvPr id="3" name="Content Placeholder 2">
            <a:extLst>
              <a:ext uri="{FF2B5EF4-FFF2-40B4-BE49-F238E27FC236}">
                <a16:creationId xmlns:a16="http://schemas.microsoft.com/office/drawing/2014/main" id="{8DD677B7-8E96-A910-1A0C-6F2CB19B73EC}"/>
              </a:ext>
            </a:extLst>
          </p:cNvPr>
          <p:cNvSpPr>
            <a:spLocks noGrp="1"/>
          </p:cNvSpPr>
          <p:nvPr>
            <p:ph idx="1"/>
          </p:nvPr>
        </p:nvSpPr>
        <p:spPr>
          <a:xfrm>
            <a:off x="769210" y="1704804"/>
            <a:ext cx="10653579" cy="4593828"/>
          </a:xfrm>
        </p:spPr>
        <p:txBody>
          <a:bodyPr>
            <a:normAutofit lnSpcReduction="10000"/>
          </a:bodyPr>
          <a:lstStyle/>
          <a:p>
            <a:r>
              <a:rPr lang="en-US" dirty="0"/>
              <a:t>We will assume that the team is made up of p threads and that the total number of P iterations, collapsed or otherwise, to be assigned is N.</a:t>
            </a:r>
          </a:p>
          <a:p>
            <a:pPr marL="457200" indent="-457200">
              <a:buFont typeface="+mj-lt"/>
              <a:buAutoNum type="arabicPeriod" startAt="3"/>
            </a:pPr>
            <a:r>
              <a:rPr lang="en-US" b="1" dirty="0"/>
              <a:t>Runtime</a:t>
            </a:r>
            <a:r>
              <a:rPr lang="en-US" dirty="0"/>
              <a:t> : </a:t>
            </a:r>
          </a:p>
          <a:p>
            <a:r>
              <a:rPr lang="en-US" dirty="0"/>
              <a:t>Schedule and chunk size taken from the OMP_SCHEDULE environment variable.</a:t>
            </a:r>
          </a:p>
          <a:p>
            <a:r>
              <a:rPr lang="en-US" dirty="0"/>
              <a:t>We use it when we’re not sure which schedule is best.</a:t>
            </a:r>
          </a:p>
          <a:p>
            <a:pPr marL="457200" indent="-457200">
              <a:buFont typeface="+mj-lt"/>
              <a:buAutoNum type="arabicPeriod" startAt="4"/>
            </a:pPr>
            <a:r>
              <a:rPr lang="en-US" b="1" dirty="0"/>
              <a:t>Auto : </a:t>
            </a:r>
          </a:p>
          <a:p>
            <a:r>
              <a:rPr lang="en-US" dirty="0"/>
              <a:t>The schedule is left up to the run time to choose [doesn’t have to be one of the above]</a:t>
            </a:r>
          </a:p>
          <a:p>
            <a:r>
              <a:rPr lang="en-US" dirty="0"/>
              <a:t>The compiler and/or the OpenMP runtime decide on the best partitioning scheme from the above</a:t>
            </a:r>
          </a:p>
          <a:p>
            <a:r>
              <a:rPr lang="en-US" dirty="0"/>
              <a:t>Give the compiler the permission to be really flexible and how it does the schedule.</a:t>
            </a:r>
          </a:p>
          <a:p>
            <a:endParaRPr lang="en-US" dirty="0"/>
          </a:p>
          <a:p>
            <a:pPr marL="0" indent="0">
              <a:buNone/>
            </a:pPr>
            <a:endParaRPr lang="en-US" dirty="0"/>
          </a:p>
        </p:txBody>
      </p:sp>
    </p:spTree>
    <p:extLst>
      <p:ext uri="{BB962C8B-B14F-4D97-AF65-F5344CB8AC3E}">
        <p14:creationId xmlns:p14="http://schemas.microsoft.com/office/powerpoint/2010/main" val="2887978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67D31-20F5-A476-A326-47D74F345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C78B7-E393-26FA-9C33-D1B8A88E9533}"/>
              </a:ext>
            </a:extLst>
          </p:cNvPr>
          <p:cNvSpPr>
            <a:spLocks noGrp="1"/>
          </p:cNvSpPr>
          <p:nvPr>
            <p:ph type="title"/>
          </p:nvPr>
        </p:nvSpPr>
        <p:spPr>
          <a:xfrm>
            <a:off x="398220" y="559368"/>
            <a:ext cx="10653578" cy="742278"/>
          </a:xfrm>
        </p:spPr>
        <p:txBody>
          <a:bodyPr>
            <a:normAutofit fontScale="90000"/>
          </a:bodyPr>
          <a:lstStyle/>
          <a:p>
            <a:r>
              <a:rPr lang="en-US" dirty="0"/>
              <a:t>Scheduling schemes</a:t>
            </a:r>
            <a:br>
              <a:rPr lang="en-US" dirty="0"/>
            </a:br>
            <a:r>
              <a:rPr lang="en-US" sz="2000" b="0" dirty="0"/>
              <a:t>when to use the schedule clause??</a:t>
            </a:r>
          </a:p>
        </p:txBody>
      </p:sp>
      <p:sp>
        <p:nvSpPr>
          <p:cNvPr id="3" name="Content Placeholder 2">
            <a:extLst>
              <a:ext uri="{FF2B5EF4-FFF2-40B4-BE49-F238E27FC236}">
                <a16:creationId xmlns:a16="http://schemas.microsoft.com/office/drawing/2014/main" id="{966B1D14-96B0-8075-F7E5-F7DE05944C97}"/>
              </a:ext>
            </a:extLst>
          </p:cNvPr>
          <p:cNvSpPr>
            <a:spLocks noGrp="1"/>
          </p:cNvSpPr>
          <p:nvPr>
            <p:ph idx="1"/>
          </p:nvPr>
        </p:nvSpPr>
        <p:spPr>
          <a:xfrm>
            <a:off x="474806" y="1618678"/>
            <a:ext cx="10653579" cy="4593828"/>
          </a:xfrm>
        </p:spPr>
        <p:txBody>
          <a:bodyPr>
            <a:normAutofit/>
          </a:bodyPr>
          <a:lstStyle/>
          <a:p>
            <a:pPr marL="457200" indent="-457200">
              <a:buFont typeface="+mj-lt"/>
              <a:buAutoNum type="arabicPeriod"/>
            </a:pPr>
            <a:r>
              <a:rPr lang="en-US" b="1" dirty="0"/>
              <a:t>Static</a:t>
            </a:r>
            <a:r>
              <a:rPr lang="en-US" dirty="0"/>
              <a:t> </a:t>
            </a:r>
            <a:r>
              <a:rPr lang="en-US" dirty="0">
                <a:sym typeface="Wingdings" panose="05000000000000000000" pitchFamily="2" charset="2"/>
              </a:rPr>
              <a:t> pre-determined and predictable by the programmer, least work at runtime and scheduling done at runtime.</a:t>
            </a:r>
          </a:p>
          <a:p>
            <a:pPr marL="457200" indent="-457200">
              <a:buFont typeface="+mj-lt"/>
              <a:buAutoNum type="arabicPeriod"/>
            </a:pPr>
            <a:r>
              <a:rPr lang="en-US" b="1" dirty="0">
                <a:sym typeface="Wingdings" panose="05000000000000000000" pitchFamily="2" charset="2"/>
              </a:rPr>
              <a:t>Dynamic</a:t>
            </a:r>
            <a:r>
              <a:rPr lang="en-US" dirty="0">
                <a:sym typeface="Wingdings" panose="05000000000000000000" pitchFamily="2" charset="2"/>
              </a:rPr>
              <a:t>  unpredictable, highly variable work per iteration, most work at runtime, complex scheduling logic used at runtime</a:t>
            </a:r>
            <a:endParaRPr lang="en-US" dirty="0"/>
          </a:p>
          <a:p>
            <a:r>
              <a:rPr lang="en-US" b="1" dirty="0"/>
              <a:t>Combined structure </a:t>
            </a:r>
            <a:r>
              <a:rPr lang="en-US" dirty="0"/>
              <a:t>:</a:t>
            </a:r>
          </a:p>
          <a:p>
            <a:pPr marL="0" indent="0">
              <a:buNone/>
            </a:pPr>
            <a:endParaRPr lang="en-US" dirty="0"/>
          </a:p>
          <a:p>
            <a:pPr marL="0" indent="0">
              <a:buNone/>
            </a:pPr>
            <a:endParaRPr lang="en-US" dirty="0"/>
          </a:p>
          <a:p>
            <a:pPr marL="0" indent="0">
              <a:buNone/>
            </a:pPr>
            <a:endParaRPr lang="en-US" dirty="0"/>
          </a:p>
          <a:p>
            <a:r>
              <a:rPr lang="en-US" b="1" dirty="0"/>
              <a:t>Setting schedule: </a:t>
            </a:r>
          </a:p>
        </p:txBody>
      </p:sp>
      <p:pic>
        <p:nvPicPr>
          <p:cNvPr id="7" name="Picture 6">
            <a:extLst>
              <a:ext uri="{FF2B5EF4-FFF2-40B4-BE49-F238E27FC236}">
                <a16:creationId xmlns:a16="http://schemas.microsoft.com/office/drawing/2014/main" id="{E5A250C7-A0E7-176E-D9C6-BF0C318B8F2D}"/>
              </a:ext>
            </a:extLst>
          </p:cNvPr>
          <p:cNvPicPr>
            <a:picLocks noChangeAspect="1"/>
          </p:cNvPicPr>
          <p:nvPr/>
        </p:nvPicPr>
        <p:blipFill>
          <a:blip r:embed="rId2">
            <a:extLst>
              <a:ext uri="{28A0092B-C50C-407E-A947-70E740481C1C}">
                <a14:useLocalDpi xmlns:a14="http://schemas.microsoft.com/office/drawing/2010/main" val="0"/>
              </a:ext>
            </a:extLst>
          </a:blip>
          <a:srcRect t="34882" b="30475"/>
          <a:stretch>
            <a:fillRect/>
          </a:stretch>
        </p:blipFill>
        <p:spPr>
          <a:xfrm>
            <a:off x="474806" y="3915592"/>
            <a:ext cx="4553585" cy="1245048"/>
          </a:xfrm>
          <a:prstGeom prst="rect">
            <a:avLst/>
          </a:prstGeom>
        </p:spPr>
      </p:pic>
      <p:sp>
        <p:nvSpPr>
          <p:cNvPr id="8" name="Arrow: Right 7">
            <a:extLst>
              <a:ext uri="{FF2B5EF4-FFF2-40B4-BE49-F238E27FC236}">
                <a16:creationId xmlns:a16="http://schemas.microsoft.com/office/drawing/2014/main" id="{AF30A391-D782-125C-D85C-A694A2C901DF}"/>
              </a:ext>
            </a:extLst>
          </p:cNvPr>
          <p:cNvSpPr/>
          <p:nvPr/>
        </p:nvSpPr>
        <p:spPr>
          <a:xfrm>
            <a:off x="5290606" y="4023642"/>
            <a:ext cx="1021977" cy="753036"/>
          </a:xfrm>
          <a:prstGeom prst="rightArrow">
            <a:avLst/>
          </a:prstGeom>
          <a:solidFill>
            <a:schemeClr val="bg2">
              <a:lumMod val="9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5519CBB-9A68-8E98-EB47-3117CE444D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4798" y="4019773"/>
            <a:ext cx="5415064" cy="655048"/>
          </a:xfrm>
          <a:prstGeom prst="rect">
            <a:avLst/>
          </a:prstGeom>
        </p:spPr>
      </p:pic>
      <p:pic>
        <p:nvPicPr>
          <p:cNvPr id="11" name="Picture 10">
            <a:extLst>
              <a:ext uri="{FF2B5EF4-FFF2-40B4-BE49-F238E27FC236}">
                <a16:creationId xmlns:a16="http://schemas.microsoft.com/office/drawing/2014/main" id="{45D85DA0-129C-2583-C2FF-30474430C00E}"/>
              </a:ext>
            </a:extLst>
          </p:cNvPr>
          <p:cNvPicPr>
            <a:picLocks noChangeAspect="1"/>
          </p:cNvPicPr>
          <p:nvPr/>
        </p:nvPicPr>
        <p:blipFill>
          <a:blip r:embed="rId4"/>
          <a:stretch>
            <a:fillRect/>
          </a:stretch>
        </p:blipFill>
        <p:spPr>
          <a:xfrm>
            <a:off x="904469" y="5902954"/>
            <a:ext cx="7850903" cy="556990"/>
          </a:xfrm>
          <a:prstGeom prst="rect">
            <a:avLst/>
          </a:prstGeom>
        </p:spPr>
      </p:pic>
    </p:spTree>
    <p:extLst>
      <p:ext uri="{BB962C8B-B14F-4D97-AF65-F5344CB8AC3E}">
        <p14:creationId xmlns:p14="http://schemas.microsoft.com/office/powerpoint/2010/main" val="408886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82B4DD">
            <a:alpha val="8000"/>
          </a:srgbClr>
        </a:solidFill>
        <a:effectLst/>
      </p:bgPr>
    </p:bg>
    <p:spTree>
      <p:nvGrpSpPr>
        <p:cNvPr id="1" name="">
          <a:extLst>
            <a:ext uri="{FF2B5EF4-FFF2-40B4-BE49-F238E27FC236}">
              <a16:creationId xmlns:a16="http://schemas.microsoft.com/office/drawing/2014/main" id="{FE4410EB-AFB9-BDF6-3204-60F7AE37EC85}"/>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EE8A00-97ED-4425-4376-D27F45F957AE}"/>
              </a:ext>
            </a:extLst>
          </p:cNvPr>
          <p:cNvSpPr>
            <a:spLocks noGrp="1"/>
          </p:cNvSpPr>
          <p:nvPr>
            <p:ph type="title"/>
          </p:nvPr>
        </p:nvSpPr>
        <p:spPr>
          <a:xfrm>
            <a:off x="365222" y="214884"/>
            <a:ext cx="5862396" cy="667512"/>
          </a:xfrm>
        </p:spPr>
        <p:txBody>
          <a:bodyPr anchor="b">
            <a:normAutofit/>
          </a:bodyPr>
          <a:lstStyle/>
          <a:p>
            <a:r>
              <a:rPr lang="en-US" dirty="0"/>
              <a:t>Nested loop</a:t>
            </a:r>
            <a:endParaRPr lang="en-US" b="0" dirty="0"/>
          </a:p>
        </p:txBody>
      </p:sp>
      <p:sp>
        <p:nvSpPr>
          <p:cNvPr id="11" name="Content Placeholder 2">
            <a:extLst>
              <a:ext uri="{FF2B5EF4-FFF2-40B4-BE49-F238E27FC236}">
                <a16:creationId xmlns:a16="http://schemas.microsoft.com/office/drawing/2014/main" id="{2C4BFD9E-706A-2362-6C5F-B8B9A74030F7}"/>
              </a:ext>
            </a:extLst>
          </p:cNvPr>
          <p:cNvSpPr>
            <a:spLocks noGrp="1"/>
          </p:cNvSpPr>
          <p:nvPr>
            <p:ph idx="1"/>
          </p:nvPr>
        </p:nvSpPr>
        <p:spPr>
          <a:xfrm>
            <a:off x="193638" y="1097280"/>
            <a:ext cx="6680498" cy="5212080"/>
          </a:xfrm>
        </p:spPr>
        <p:txBody>
          <a:bodyPr>
            <a:normAutofit fontScale="92500" lnSpcReduction="10000"/>
          </a:bodyPr>
          <a:lstStyle/>
          <a:p>
            <a:pPr>
              <a:lnSpc>
                <a:spcPct val="110000"/>
              </a:lnSpc>
            </a:pPr>
            <a:r>
              <a:rPr lang="en-US" sz="1600" dirty="0"/>
              <a:t>perfectly nested loops (i.e., with no statement between the successive for) can be parallelized in unison.</a:t>
            </a:r>
          </a:p>
          <a:p>
            <a:pPr>
              <a:lnSpc>
                <a:spcPct val="110000"/>
              </a:lnSpc>
            </a:pPr>
            <a:r>
              <a:rPr lang="en-US" sz="1600" dirty="0"/>
              <a:t> OpenMP can “collapse” multiple nested loops into a single one and then proceed to partition this derivative loop between the team of threads. </a:t>
            </a:r>
          </a:p>
          <a:p>
            <a:pPr>
              <a:lnSpc>
                <a:spcPct val="110000"/>
              </a:lnSpc>
            </a:pPr>
            <a:r>
              <a:rPr lang="en-US" sz="1600" dirty="0"/>
              <a:t>The collapse clause instructs OpenMP how many of the nested loops should be converted into a single one.</a:t>
            </a:r>
          </a:p>
          <a:p>
            <a:pPr>
              <a:lnSpc>
                <a:spcPct val="110000"/>
              </a:lnSpc>
            </a:pPr>
            <a:r>
              <a:rPr lang="en-US" sz="1600" dirty="0"/>
              <a:t>Why should we want to do the collapse in the first place??</a:t>
            </a:r>
          </a:p>
          <a:p>
            <a:pPr marL="457200" indent="-457200">
              <a:lnSpc>
                <a:spcPct val="110000"/>
              </a:lnSpc>
              <a:buFont typeface="+mj-lt"/>
              <a:buAutoNum type="arabicPeriod"/>
            </a:pPr>
            <a:r>
              <a:rPr lang="en-US" sz="1600" dirty="0"/>
              <a:t>The outer loop has too few iterations to balance the workload properly. Imagine that in our matrix multiplication code, we had K = 5, L = 1000, and M = 3000. Parallelizing the outer loop only would translate to having just five work items to give to our threads. How could we evenly distribute these to the eight threads that are the typical team size for quad-core hyperthreaded CPUs? The 15,000 work items that would be produced by the collapse are a different story though.</a:t>
            </a:r>
          </a:p>
          <a:p>
            <a:pPr marL="457200" indent="-457200">
              <a:lnSpc>
                <a:spcPct val="110000"/>
              </a:lnSpc>
              <a:buFont typeface="+mj-lt"/>
              <a:buAutoNum type="arabicPeriod"/>
            </a:pPr>
            <a:r>
              <a:rPr lang="en-US" sz="1600" dirty="0"/>
              <a:t>It is possible that the execution cost of each loop iteration is different. Collapsed loops are easier to balance in that regard</a:t>
            </a:r>
          </a:p>
        </p:txBody>
      </p:sp>
      <p:pic>
        <p:nvPicPr>
          <p:cNvPr id="13" name="Picture 12">
            <a:extLst>
              <a:ext uri="{FF2B5EF4-FFF2-40B4-BE49-F238E27FC236}">
                <a16:creationId xmlns:a16="http://schemas.microsoft.com/office/drawing/2014/main" id="{75644BA2-3EFE-A0C1-45D8-F0B80307045A}"/>
              </a:ext>
            </a:extLst>
          </p:cNvPr>
          <p:cNvPicPr>
            <a:picLocks noChangeAspect="1"/>
          </p:cNvPicPr>
          <p:nvPr/>
        </p:nvPicPr>
        <p:blipFill>
          <a:blip r:embed="rId2"/>
          <a:srcRect l="2479" r="44529"/>
          <a:stretch>
            <a:fillRect/>
          </a:stretch>
        </p:blipFill>
        <p:spPr>
          <a:xfrm>
            <a:off x="7091395" y="1886137"/>
            <a:ext cx="4681506" cy="3114112"/>
          </a:xfrm>
          <a:prstGeom prst="rect">
            <a:avLst/>
          </a:prstGeom>
        </p:spPr>
      </p:pic>
    </p:spTree>
    <p:extLst>
      <p:ext uri="{BB962C8B-B14F-4D97-AF65-F5344CB8AC3E}">
        <p14:creationId xmlns:p14="http://schemas.microsoft.com/office/powerpoint/2010/main" val="2258161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8AF47-E9BC-3EA2-5833-CDC2DF00BB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276AE-2FE3-0A5C-E62B-5610EAEF3B63}"/>
              </a:ext>
            </a:extLst>
          </p:cNvPr>
          <p:cNvSpPr>
            <a:spLocks noGrp="1"/>
          </p:cNvSpPr>
          <p:nvPr>
            <p:ph type="title"/>
          </p:nvPr>
        </p:nvSpPr>
        <p:spPr>
          <a:xfrm>
            <a:off x="526586" y="361261"/>
            <a:ext cx="10653578" cy="742278"/>
          </a:xfrm>
        </p:spPr>
        <p:txBody>
          <a:bodyPr>
            <a:normAutofit fontScale="90000"/>
          </a:bodyPr>
          <a:lstStyle/>
          <a:p>
            <a:r>
              <a:rPr lang="en-US" dirty="0"/>
              <a:t>Loop </a:t>
            </a:r>
            <a:br>
              <a:rPr lang="en-US" dirty="0"/>
            </a:br>
            <a:r>
              <a:rPr lang="en-US" sz="2000" b="0" dirty="0"/>
              <a:t>data dependency</a:t>
            </a:r>
          </a:p>
        </p:txBody>
      </p:sp>
      <p:sp>
        <p:nvSpPr>
          <p:cNvPr id="3" name="Content Placeholder 2">
            <a:extLst>
              <a:ext uri="{FF2B5EF4-FFF2-40B4-BE49-F238E27FC236}">
                <a16:creationId xmlns:a16="http://schemas.microsoft.com/office/drawing/2014/main" id="{C1194DF6-D39F-28E8-447C-B6D973AA15B2}"/>
              </a:ext>
            </a:extLst>
          </p:cNvPr>
          <p:cNvSpPr>
            <a:spLocks noGrp="1"/>
          </p:cNvSpPr>
          <p:nvPr>
            <p:ph idx="1"/>
          </p:nvPr>
        </p:nvSpPr>
        <p:spPr/>
        <p:txBody>
          <a:bodyPr>
            <a:normAutofit/>
          </a:bodyPr>
          <a:lstStyle/>
          <a:p>
            <a:r>
              <a:rPr lang="en-US" dirty="0"/>
              <a:t>The basic approach of working with loops is you look at your program, and you find the loops where you’re spending most of the time.</a:t>
            </a:r>
          </a:p>
          <a:p>
            <a:r>
              <a:rPr lang="en-US" dirty="0"/>
              <a:t>If loop carries dependency, it means that you can’t run the iterations of this loop independently </a:t>
            </a:r>
            <a:r>
              <a:rPr lang="en-US" dirty="0">
                <a:solidFill>
                  <a:srgbClr val="FF0000"/>
                </a:solidFill>
              </a:rPr>
              <a:t>[you can’t run the loop in parallel]</a:t>
            </a:r>
          </a:p>
          <a:p>
            <a:r>
              <a:rPr lang="en-US" dirty="0"/>
              <a:t>Dependency means each step requires another variable to be set.</a:t>
            </a:r>
          </a:p>
          <a:p>
            <a:r>
              <a:rPr lang="en-US" dirty="0"/>
              <a:t>Each step depend on the earlier step.</a:t>
            </a:r>
          </a:p>
          <a:p>
            <a:pPr marL="0" indent="0" algn="ctr">
              <a:buNone/>
            </a:pPr>
            <a:r>
              <a:rPr lang="en-US" dirty="0">
                <a:solidFill>
                  <a:srgbClr val="FF0000"/>
                </a:solidFill>
              </a:rPr>
              <a:t>[So how to paralyze loop in more details?? ]</a:t>
            </a:r>
          </a:p>
        </p:txBody>
      </p:sp>
    </p:spTree>
    <p:extLst>
      <p:ext uri="{BB962C8B-B14F-4D97-AF65-F5344CB8AC3E}">
        <p14:creationId xmlns:p14="http://schemas.microsoft.com/office/powerpoint/2010/main" val="3994603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BD717-3309-BD2F-02C2-F0C1BCC6CE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EA6544-CD08-8CD8-2A6C-FCF0D06A3BE3}"/>
              </a:ext>
            </a:extLst>
          </p:cNvPr>
          <p:cNvSpPr>
            <a:spLocks noGrp="1"/>
          </p:cNvSpPr>
          <p:nvPr>
            <p:ph idx="1"/>
          </p:nvPr>
        </p:nvSpPr>
        <p:spPr>
          <a:xfrm>
            <a:off x="383092" y="1355464"/>
            <a:ext cx="5474244" cy="4953896"/>
          </a:xfrm>
        </p:spPr>
        <p:txBody>
          <a:bodyPr>
            <a:normAutofit fontScale="92500"/>
          </a:bodyPr>
          <a:lstStyle/>
          <a:p>
            <a:pPr>
              <a:lnSpc>
                <a:spcPct val="110000"/>
              </a:lnSpc>
            </a:pPr>
            <a:r>
              <a:rPr lang="en-US" dirty="0"/>
              <a:t>To paralyze loop :</a:t>
            </a:r>
          </a:p>
          <a:p>
            <a:pPr>
              <a:lnSpc>
                <a:spcPct val="110000"/>
              </a:lnSpc>
            </a:pPr>
            <a:r>
              <a:rPr lang="en-US" b="1" dirty="0">
                <a:solidFill>
                  <a:srgbClr val="FF0000"/>
                </a:solidFill>
              </a:rPr>
              <a:t>First </a:t>
            </a:r>
            <a:r>
              <a:rPr lang="en-US" dirty="0">
                <a:sym typeface="Wingdings" panose="05000000000000000000" pitchFamily="2" charset="2"/>
              </a:rPr>
              <a:t> find the compute intensive loop</a:t>
            </a:r>
          </a:p>
          <a:p>
            <a:pPr>
              <a:lnSpc>
                <a:spcPct val="110000"/>
              </a:lnSpc>
            </a:pPr>
            <a:r>
              <a:rPr lang="en-US" b="1" dirty="0">
                <a:solidFill>
                  <a:srgbClr val="FF0000"/>
                </a:solidFill>
                <a:sym typeface="Wingdings" panose="05000000000000000000" pitchFamily="2" charset="2"/>
              </a:rPr>
              <a:t>Second </a:t>
            </a:r>
            <a:r>
              <a:rPr lang="en-US" dirty="0">
                <a:sym typeface="Wingdings" panose="05000000000000000000" pitchFamily="2" charset="2"/>
              </a:rPr>
              <a:t> make the loop iterations independent so they can safely execute in any order without loop-carried dependency.</a:t>
            </a:r>
          </a:p>
          <a:p>
            <a:pPr>
              <a:lnSpc>
                <a:spcPct val="110000"/>
              </a:lnSpc>
            </a:pPr>
            <a:r>
              <a:rPr lang="en-US" b="1" dirty="0">
                <a:solidFill>
                  <a:srgbClr val="FF0000"/>
                </a:solidFill>
                <a:sym typeface="Wingdings" panose="05000000000000000000" pitchFamily="2" charset="2"/>
              </a:rPr>
              <a:t>Third</a:t>
            </a:r>
            <a:r>
              <a:rPr lang="en-US" dirty="0">
                <a:sym typeface="Wingdings" panose="05000000000000000000" pitchFamily="2" charset="2"/>
              </a:rPr>
              <a:t>  place the appropriate OpenMP directive and test</a:t>
            </a:r>
          </a:p>
          <a:p>
            <a:pPr>
              <a:lnSpc>
                <a:spcPct val="110000"/>
              </a:lnSpc>
            </a:pPr>
            <a:r>
              <a:rPr lang="en-US" dirty="0" err="1">
                <a:sym typeface="Wingdings" panose="05000000000000000000" pitchFamily="2" charset="2"/>
              </a:rPr>
              <a:t>OpenMp</a:t>
            </a:r>
            <a:r>
              <a:rPr lang="en-US" dirty="0">
                <a:sym typeface="Wingdings" panose="05000000000000000000" pitchFamily="2" charset="2"/>
              </a:rPr>
              <a:t> makes the loop control index on parallel  loop private to thread each thread has its own indexing</a:t>
            </a:r>
          </a:p>
          <a:p>
            <a:pPr>
              <a:lnSpc>
                <a:spcPct val="110000"/>
              </a:lnSpc>
            </a:pPr>
            <a:r>
              <a:rPr lang="en-US" dirty="0">
                <a:sym typeface="Wingdings" panose="05000000000000000000" pitchFamily="2" charset="2"/>
              </a:rPr>
              <a:t>We solve independent by solving the problem using loop indexing not any other variable.</a:t>
            </a:r>
            <a:endParaRPr lang="en-US" dirty="0"/>
          </a:p>
        </p:txBody>
      </p:sp>
      <p:pic>
        <p:nvPicPr>
          <p:cNvPr id="5" name="Picture 4">
            <a:extLst>
              <a:ext uri="{FF2B5EF4-FFF2-40B4-BE49-F238E27FC236}">
                <a16:creationId xmlns:a16="http://schemas.microsoft.com/office/drawing/2014/main" id="{92DFA0C7-5C0C-EBB4-56A5-1B65377D8D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9259" y="3554356"/>
            <a:ext cx="4919650" cy="2755004"/>
          </a:xfrm>
          <a:prstGeom prst="rect">
            <a:avLst/>
          </a:prstGeom>
        </p:spPr>
      </p:pic>
      <p:pic>
        <p:nvPicPr>
          <p:cNvPr id="7" name="Picture 6">
            <a:extLst>
              <a:ext uri="{FF2B5EF4-FFF2-40B4-BE49-F238E27FC236}">
                <a16:creationId xmlns:a16="http://schemas.microsoft.com/office/drawing/2014/main" id="{0280AF47-1895-A095-BE10-075A37EB45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9259" y="407240"/>
            <a:ext cx="4748204" cy="2896404"/>
          </a:xfrm>
          <a:prstGeom prst="rect">
            <a:avLst/>
          </a:prstGeom>
        </p:spPr>
      </p:pic>
      <p:sp>
        <p:nvSpPr>
          <p:cNvPr id="8" name="Title 1">
            <a:extLst>
              <a:ext uri="{FF2B5EF4-FFF2-40B4-BE49-F238E27FC236}">
                <a16:creationId xmlns:a16="http://schemas.microsoft.com/office/drawing/2014/main" id="{B60905D7-2938-683F-CB98-A3FA9A6F96E2}"/>
              </a:ext>
            </a:extLst>
          </p:cNvPr>
          <p:cNvSpPr>
            <a:spLocks noGrp="1"/>
          </p:cNvSpPr>
          <p:nvPr>
            <p:ph type="title"/>
          </p:nvPr>
        </p:nvSpPr>
        <p:spPr>
          <a:xfrm>
            <a:off x="483556" y="318230"/>
            <a:ext cx="4400416" cy="742278"/>
          </a:xfrm>
        </p:spPr>
        <p:txBody>
          <a:bodyPr>
            <a:normAutofit fontScale="90000"/>
          </a:bodyPr>
          <a:lstStyle/>
          <a:p>
            <a:r>
              <a:rPr lang="en-US" dirty="0"/>
              <a:t>Loop </a:t>
            </a:r>
            <a:br>
              <a:rPr lang="en-US" dirty="0"/>
            </a:br>
            <a:r>
              <a:rPr lang="en-US" sz="2000" b="0" dirty="0"/>
              <a:t>data dependency</a:t>
            </a:r>
          </a:p>
        </p:txBody>
      </p:sp>
    </p:spTree>
    <p:extLst>
      <p:ext uri="{BB962C8B-B14F-4D97-AF65-F5344CB8AC3E}">
        <p14:creationId xmlns:p14="http://schemas.microsoft.com/office/powerpoint/2010/main" val="3067213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09AB3-F934-5912-A2C1-256D2DCCE90F}"/>
              </a:ext>
            </a:extLst>
          </p:cNvPr>
          <p:cNvSpPr>
            <a:spLocks noGrp="1"/>
          </p:cNvSpPr>
          <p:nvPr>
            <p:ph type="title"/>
          </p:nvPr>
        </p:nvSpPr>
        <p:spPr/>
        <p:txBody>
          <a:bodyPr/>
          <a:lstStyle/>
          <a:p>
            <a:r>
              <a:rPr lang="en-US" dirty="0"/>
              <a:t>Exercise 4</a:t>
            </a:r>
          </a:p>
        </p:txBody>
      </p:sp>
      <p:sp>
        <p:nvSpPr>
          <p:cNvPr id="3" name="Content Placeholder 2">
            <a:extLst>
              <a:ext uri="{FF2B5EF4-FFF2-40B4-BE49-F238E27FC236}">
                <a16:creationId xmlns:a16="http://schemas.microsoft.com/office/drawing/2014/main" id="{46FB179D-6F30-DEDD-BD2A-AC94CDA34A10}"/>
              </a:ext>
            </a:extLst>
          </p:cNvPr>
          <p:cNvSpPr>
            <a:spLocks noGrp="1"/>
          </p:cNvSpPr>
          <p:nvPr>
            <p:ph idx="1"/>
          </p:nvPr>
        </p:nvSpPr>
        <p:spPr/>
        <p:txBody>
          <a:bodyPr>
            <a:normAutofit/>
          </a:bodyPr>
          <a:lstStyle/>
          <a:p>
            <a:r>
              <a:rPr lang="en-US" dirty="0"/>
              <a:t>Implement insertion sort in parallel </a:t>
            </a:r>
          </a:p>
          <a:p>
            <a:r>
              <a:rPr lang="en-US" dirty="0"/>
              <a:t>Implement binary search for multiple keys in </a:t>
            </a:r>
            <a:r>
              <a:rPr lang="en-US"/>
              <a:t>parallel.</a:t>
            </a:r>
            <a:endParaRPr lang="en-US" dirty="0"/>
          </a:p>
        </p:txBody>
      </p:sp>
    </p:spTree>
    <p:extLst>
      <p:ext uri="{BB962C8B-B14F-4D97-AF65-F5344CB8AC3E}">
        <p14:creationId xmlns:p14="http://schemas.microsoft.com/office/powerpoint/2010/main" val="1760207720"/>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1337</TotalTime>
  <Words>1543</Words>
  <Application>Microsoft Office PowerPoint</Application>
  <PresentationFormat>Widescreen</PresentationFormat>
  <Paragraphs>101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Cambria Math</vt:lpstr>
      <vt:lpstr>Neue Haas Grotesk Text Pro</vt:lpstr>
      <vt:lpstr>Wingdings</vt:lpstr>
      <vt:lpstr>VanillaVTI</vt:lpstr>
      <vt:lpstr>Parallel computing</vt:lpstr>
      <vt:lpstr>Integration problem solution</vt:lpstr>
      <vt:lpstr>Work sharing</vt:lpstr>
      <vt:lpstr>Work sharing loop-work sharing construct</vt:lpstr>
      <vt:lpstr>Work sharing loop-work sharing construct</vt:lpstr>
      <vt:lpstr>Work sharing loop-work sharing construct</vt:lpstr>
      <vt:lpstr>Scheduling How are the loops mapped onto threads??</vt:lpstr>
      <vt:lpstr>Scheduling schemes How are the loops mapped onto threads??</vt:lpstr>
      <vt:lpstr>Scheduling schemes How are the loops mapped onto threads??</vt:lpstr>
      <vt:lpstr>Scheduling schemes How are the loops mapped onto threads??</vt:lpstr>
      <vt:lpstr>Scheduling schemes How are the loops mapped onto threads??</vt:lpstr>
      <vt:lpstr>Scheduling schemes when to use the schedule clause??</vt:lpstr>
      <vt:lpstr>Nested loop</vt:lpstr>
      <vt:lpstr>Loop  data dependency</vt:lpstr>
      <vt:lpstr>Loop  data dependency</vt:lpstr>
      <vt:lpstr>Exercise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Malak</dc:creator>
  <cp:lastModifiedBy>Mariam Malak</cp:lastModifiedBy>
  <cp:revision>12</cp:revision>
  <dcterms:created xsi:type="dcterms:W3CDTF">2026-02-12T13:52:08Z</dcterms:created>
  <dcterms:modified xsi:type="dcterms:W3CDTF">2026-02-27T20:37:13Z</dcterms:modified>
</cp:coreProperties>
</file>