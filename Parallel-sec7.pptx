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14"/>
  </p:notesMasterIdLst>
  <p:sldIdLst>
    <p:sldId id="256" r:id="rId2"/>
    <p:sldId id="285" r:id="rId3"/>
    <p:sldId id="296" r:id="rId4"/>
    <p:sldId id="297" r:id="rId5"/>
    <p:sldId id="282" r:id="rId6"/>
    <p:sldId id="298" r:id="rId7"/>
    <p:sldId id="299" r:id="rId8"/>
    <p:sldId id="300" r:id="rId9"/>
    <p:sldId id="301" r:id="rId10"/>
    <p:sldId id="302" r:id="rId11"/>
    <p:sldId id="304" r:id="rId12"/>
    <p:sldId id="30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71C2"/>
    <a:srgbClr val="82B4DD"/>
    <a:srgbClr val="2772B7"/>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922" autoAdjust="0"/>
  </p:normalViewPr>
  <p:slideViewPr>
    <p:cSldViewPr snapToGrid="0">
      <p:cViewPr varScale="1">
        <p:scale>
          <a:sx n="71" d="100"/>
          <a:sy n="71" d="100"/>
        </p:scale>
        <p:origin x="113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A22530-92FE-4C3F-9B3B-BCC6CE1117E9}" type="datetimeFigureOut">
              <a:rPr lang="en-US" smtClean="0"/>
              <a:t>2/28/2026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08E562-24ED-41D7-AEB8-880B26994F1F}" type="slidenum">
              <a:rPr lang="en-US" smtClean="0"/>
              <a:t>‹#›</a:t>
            </a:fld>
            <a:endParaRPr lang="en-US"/>
          </a:p>
        </p:txBody>
      </p:sp>
    </p:spTree>
    <p:extLst>
      <p:ext uri="{BB962C8B-B14F-4D97-AF65-F5344CB8AC3E}">
        <p14:creationId xmlns:p14="http://schemas.microsoft.com/office/powerpoint/2010/main" val="2188170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2/28/2026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90084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2/28/2026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8422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2/28/2026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1099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2/28/2026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2060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2/28/2026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34098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2/28/2026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1459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2/28/2026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4029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2/28/2026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36017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2/28/2026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61851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2/28/2026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69039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2/28/2026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01921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171C2">
            <a:alpha val="8000"/>
          </a:srgb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2/28/2026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85907349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a:extLst>
              <a:ext uri="{FF2B5EF4-FFF2-40B4-BE49-F238E27FC236}">
                <a16:creationId xmlns:a16="http://schemas.microsoft.com/office/drawing/2014/main" id="{583447EF-0A89-8D11-D654-A72B4E49FCBC}"/>
              </a:ext>
            </a:extLst>
          </p:cNvPr>
          <p:cNvPicPr>
            <a:picLocks noChangeAspect="1"/>
          </p:cNvPicPr>
          <p:nvPr/>
        </p:nvPicPr>
        <p:blipFill>
          <a:blip r:embed="rId2">
            <a:extLst>
              <a:ext uri="{28A0092B-C50C-407E-A947-70E740481C1C}">
                <a14:useLocalDpi xmlns:a14="http://schemas.microsoft.com/office/drawing/2010/main" val="0"/>
              </a:ext>
            </a:extLst>
          </a:blip>
          <a:srcRect t="12500" b="12500"/>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DF15DF8A-891A-1965-E372-1BA1F3B94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79"/>
            <a:ext cx="6858002" cy="6511640"/>
          </a:xfrm>
          <a:prstGeom prst="rect">
            <a:avLst/>
          </a:prstGeom>
          <a:gradFill>
            <a:gsLst>
              <a:gs pos="0">
                <a:schemeClr val="bg1">
                  <a:alpha val="0"/>
                </a:schemeClr>
              </a:gs>
              <a:gs pos="46000">
                <a:schemeClr val="bg1">
                  <a:alpha val="33000"/>
                </a:schemeClr>
              </a:gs>
              <a:gs pos="26000">
                <a:schemeClr val="bg1">
                  <a:alpha val="20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9929D53-5DEF-676E-7A33-156FB769F7F9}"/>
              </a:ext>
            </a:extLst>
          </p:cNvPr>
          <p:cNvSpPr>
            <a:spLocks noGrp="1"/>
          </p:cNvSpPr>
          <p:nvPr>
            <p:ph type="ctrTitle"/>
          </p:nvPr>
        </p:nvSpPr>
        <p:spPr>
          <a:xfrm>
            <a:off x="7473219" y="898373"/>
            <a:ext cx="4470544" cy="3474720"/>
          </a:xfrm>
        </p:spPr>
        <p:txBody>
          <a:bodyPr anchor="b">
            <a:normAutofit/>
          </a:bodyPr>
          <a:lstStyle/>
          <a:p>
            <a:pPr algn="l"/>
            <a:r>
              <a:rPr lang="en-US" sz="5800"/>
              <a:t>Parallel</a:t>
            </a:r>
            <a:br>
              <a:rPr lang="en-US" sz="5800"/>
            </a:br>
            <a:r>
              <a:rPr lang="en-US" sz="5800"/>
              <a:t>computing</a:t>
            </a:r>
            <a:endParaRPr lang="en-US" sz="5800" dirty="0"/>
          </a:p>
        </p:txBody>
      </p:sp>
      <p:sp>
        <p:nvSpPr>
          <p:cNvPr id="3" name="Subtitle 2">
            <a:extLst>
              <a:ext uri="{FF2B5EF4-FFF2-40B4-BE49-F238E27FC236}">
                <a16:creationId xmlns:a16="http://schemas.microsoft.com/office/drawing/2014/main" id="{30B473AC-FAE5-08F1-B10B-0BB328814639}"/>
              </a:ext>
            </a:extLst>
          </p:cNvPr>
          <p:cNvSpPr>
            <a:spLocks noGrp="1"/>
          </p:cNvSpPr>
          <p:nvPr>
            <p:ph type="subTitle" idx="1"/>
          </p:nvPr>
        </p:nvSpPr>
        <p:spPr>
          <a:xfrm>
            <a:off x="7482646" y="4495013"/>
            <a:ext cx="4116410" cy="1386840"/>
          </a:xfrm>
        </p:spPr>
        <p:txBody>
          <a:bodyPr anchor="t">
            <a:normAutofit/>
          </a:bodyPr>
          <a:lstStyle/>
          <a:p>
            <a:pPr algn="l"/>
            <a:r>
              <a:rPr lang="en-US" sz="2200" dirty="0"/>
              <a:t>Sec.7</a:t>
            </a:r>
          </a:p>
          <a:p>
            <a:pPr algn="l"/>
            <a:r>
              <a:rPr lang="en-US" sz="2200" dirty="0"/>
              <a:t>Eng/ Mariam Malak</a:t>
            </a:r>
          </a:p>
        </p:txBody>
      </p:sp>
    </p:spTree>
    <p:extLst>
      <p:ext uri="{BB962C8B-B14F-4D97-AF65-F5344CB8AC3E}">
        <p14:creationId xmlns:p14="http://schemas.microsoft.com/office/powerpoint/2010/main" val="177730384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7A321-9B4A-415B-B92B-0410EDB07BB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998DAC-91F4-4ABA-F88C-B22D9A31F82F}"/>
              </a:ext>
            </a:extLst>
          </p:cNvPr>
          <p:cNvSpPr>
            <a:spLocks noGrp="1"/>
          </p:cNvSpPr>
          <p:nvPr>
            <p:ph type="title"/>
          </p:nvPr>
        </p:nvSpPr>
        <p:spPr>
          <a:xfrm>
            <a:off x="233604" y="194557"/>
            <a:ext cx="5862396" cy="708166"/>
          </a:xfrm>
        </p:spPr>
        <p:txBody>
          <a:bodyPr anchor="b">
            <a:normAutofit fontScale="90000"/>
          </a:bodyPr>
          <a:lstStyle/>
          <a:p>
            <a:r>
              <a:rPr lang="en-US" sz="3300" dirty="0"/>
              <a:t>Reduction clause</a:t>
            </a:r>
            <a:br>
              <a:rPr lang="en-US" sz="3300" dirty="0"/>
            </a:br>
            <a:r>
              <a:rPr lang="en-US" sz="2000" b="0" dirty="0"/>
              <a:t>what happen if we can’t remove dependency??</a:t>
            </a:r>
          </a:p>
        </p:txBody>
      </p:sp>
      <p:sp>
        <p:nvSpPr>
          <p:cNvPr id="3" name="Content Placeholder 2">
            <a:extLst>
              <a:ext uri="{FF2B5EF4-FFF2-40B4-BE49-F238E27FC236}">
                <a16:creationId xmlns:a16="http://schemas.microsoft.com/office/drawing/2014/main" id="{179AB40D-D607-FB6C-94C1-5F9A26DB02C3}"/>
              </a:ext>
            </a:extLst>
          </p:cNvPr>
          <p:cNvSpPr>
            <a:spLocks noGrp="1"/>
          </p:cNvSpPr>
          <p:nvPr>
            <p:ph idx="1"/>
          </p:nvPr>
        </p:nvSpPr>
        <p:spPr>
          <a:xfrm>
            <a:off x="233604" y="1124551"/>
            <a:ext cx="11761172" cy="5254734"/>
          </a:xfrm>
        </p:spPr>
        <p:txBody>
          <a:bodyPr>
            <a:normAutofit fontScale="92500"/>
          </a:bodyPr>
          <a:lstStyle/>
          <a:p>
            <a:pPr>
              <a:lnSpc>
                <a:spcPct val="110000"/>
              </a:lnSpc>
            </a:pPr>
            <a:r>
              <a:rPr lang="en-US" sz="1600" dirty="0"/>
              <a:t>There are some cases where we can’t remove dependency like in operations for data structures or any dependent operations.</a:t>
            </a:r>
          </a:p>
          <a:p>
            <a:pPr>
              <a:lnSpc>
                <a:spcPct val="110000"/>
              </a:lnSpc>
            </a:pPr>
            <a:r>
              <a:rPr lang="en-US" sz="1600" dirty="0"/>
              <a:t>Let’s think about calculating average problem:</a:t>
            </a:r>
          </a:p>
          <a:p>
            <a:pPr marL="0" indent="0">
              <a:lnSpc>
                <a:spcPct val="110000"/>
              </a:lnSpc>
              <a:buNone/>
            </a:pPr>
            <a:r>
              <a:rPr lang="en-US" sz="1600" dirty="0"/>
              <a:t> </a:t>
            </a:r>
          </a:p>
          <a:p>
            <a:pPr marL="0" indent="0">
              <a:lnSpc>
                <a:spcPct val="110000"/>
              </a:lnSpc>
              <a:buNone/>
            </a:pPr>
            <a:endParaRPr lang="en-US" sz="1600" dirty="0"/>
          </a:p>
          <a:p>
            <a:pPr marL="0" indent="0">
              <a:lnSpc>
                <a:spcPct val="110000"/>
              </a:lnSpc>
              <a:buNone/>
            </a:pPr>
            <a:endParaRPr lang="en-US" sz="1600" dirty="0"/>
          </a:p>
          <a:p>
            <a:pPr marL="0" indent="0">
              <a:lnSpc>
                <a:spcPct val="110000"/>
              </a:lnSpc>
              <a:buNone/>
            </a:pPr>
            <a:endParaRPr lang="en-US" sz="1600" dirty="0"/>
          </a:p>
          <a:p>
            <a:pPr marL="0" indent="0">
              <a:lnSpc>
                <a:spcPct val="110000"/>
              </a:lnSpc>
              <a:buNone/>
            </a:pPr>
            <a:endParaRPr lang="en-US" sz="1600" dirty="0"/>
          </a:p>
          <a:p>
            <a:pPr marL="0" indent="0">
              <a:lnSpc>
                <a:spcPct val="110000"/>
              </a:lnSpc>
              <a:buNone/>
            </a:pPr>
            <a:endParaRPr lang="en-US" sz="1600" dirty="0"/>
          </a:p>
          <a:p>
            <a:pPr marL="0" indent="0">
              <a:lnSpc>
                <a:spcPct val="110000"/>
              </a:lnSpc>
              <a:buNone/>
            </a:pPr>
            <a:endParaRPr lang="en-US" sz="1600" dirty="0"/>
          </a:p>
          <a:p>
            <a:pPr marL="0" indent="0">
              <a:lnSpc>
                <a:spcPct val="110000"/>
              </a:lnSpc>
              <a:buNone/>
            </a:pPr>
            <a:endParaRPr lang="en-US" sz="1600" dirty="0"/>
          </a:p>
          <a:p>
            <a:pPr marL="0" indent="0">
              <a:lnSpc>
                <a:spcPct val="110000"/>
              </a:lnSpc>
              <a:buNone/>
            </a:pPr>
            <a:endParaRPr lang="en-US" sz="1600" dirty="0"/>
          </a:p>
          <a:p>
            <a:pPr>
              <a:lnSpc>
                <a:spcPct val="110000"/>
              </a:lnSpc>
            </a:pPr>
            <a:r>
              <a:rPr lang="en-US" sz="1600" dirty="0"/>
              <a:t>The problem is this a loop carry dependency [avg] , it’s value in iteration n depends on the values of iteration n-1</a:t>
            </a:r>
            <a:r>
              <a:rPr lang="en-US" sz="1600" dirty="0">
                <a:sym typeface="Wingdings" panose="05000000000000000000" pitchFamily="2" charset="2"/>
              </a:rPr>
              <a:t>can’t paralyze this loop</a:t>
            </a:r>
          </a:p>
          <a:p>
            <a:pPr marL="0" indent="0" algn="ctr">
              <a:lnSpc>
                <a:spcPct val="110000"/>
              </a:lnSpc>
              <a:buNone/>
            </a:pPr>
            <a:r>
              <a:rPr lang="en-US" sz="1600" dirty="0">
                <a:solidFill>
                  <a:srgbClr val="FF0000"/>
                </a:solidFill>
                <a:sym typeface="Wingdings" panose="05000000000000000000" pitchFamily="2" charset="2"/>
              </a:rPr>
              <a:t>[reduction clause is the solution]</a:t>
            </a:r>
            <a:endParaRPr lang="en-US" sz="1600" dirty="0">
              <a:solidFill>
                <a:srgbClr val="FF0000"/>
              </a:solidFill>
            </a:endParaRPr>
          </a:p>
          <a:p>
            <a:pPr marL="0" indent="0">
              <a:lnSpc>
                <a:spcPct val="110000"/>
              </a:lnSpc>
              <a:buNone/>
            </a:pPr>
            <a:endParaRPr lang="en-US" sz="1600" dirty="0"/>
          </a:p>
        </p:txBody>
      </p:sp>
      <p:pic>
        <p:nvPicPr>
          <p:cNvPr id="6" name="Picture 5">
            <a:extLst>
              <a:ext uri="{FF2B5EF4-FFF2-40B4-BE49-F238E27FC236}">
                <a16:creationId xmlns:a16="http://schemas.microsoft.com/office/drawing/2014/main" id="{0F63BAB2-7DAC-CA88-9530-51F29ED52218}"/>
              </a:ext>
            </a:extLst>
          </p:cNvPr>
          <p:cNvPicPr>
            <a:picLocks noChangeAspect="1"/>
          </p:cNvPicPr>
          <p:nvPr/>
        </p:nvPicPr>
        <p:blipFill>
          <a:blip r:embed="rId2"/>
          <a:stretch>
            <a:fillRect/>
          </a:stretch>
        </p:blipFill>
        <p:spPr>
          <a:xfrm>
            <a:off x="345663" y="2207653"/>
            <a:ext cx="4544059" cy="2657846"/>
          </a:xfrm>
          <a:prstGeom prst="rect">
            <a:avLst/>
          </a:prstGeom>
        </p:spPr>
      </p:pic>
      <p:sp>
        <p:nvSpPr>
          <p:cNvPr id="8" name="Oval 7">
            <a:extLst>
              <a:ext uri="{FF2B5EF4-FFF2-40B4-BE49-F238E27FC236}">
                <a16:creationId xmlns:a16="http://schemas.microsoft.com/office/drawing/2014/main" id="{E0520527-E97C-89DD-BC7D-4370FDED584C}"/>
              </a:ext>
            </a:extLst>
          </p:cNvPr>
          <p:cNvSpPr/>
          <p:nvPr/>
        </p:nvSpPr>
        <p:spPr>
          <a:xfrm>
            <a:off x="1380562" y="3562220"/>
            <a:ext cx="2474259" cy="895386"/>
          </a:xfrm>
          <a:custGeom>
            <a:avLst/>
            <a:gdLst>
              <a:gd name="csX0" fmla="*/ 0 w 2474259"/>
              <a:gd name="csY0" fmla="*/ 447693 h 895386"/>
              <a:gd name="csX1" fmla="*/ 1237130 w 2474259"/>
              <a:gd name="csY1" fmla="*/ 0 h 895386"/>
              <a:gd name="csX2" fmla="*/ 2474260 w 2474259"/>
              <a:gd name="csY2" fmla="*/ 447693 h 895386"/>
              <a:gd name="csX3" fmla="*/ 1237130 w 2474259"/>
              <a:gd name="csY3" fmla="*/ 895386 h 895386"/>
              <a:gd name="csX4" fmla="*/ 0 w 2474259"/>
              <a:gd name="csY4" fmla="*/ 447693 h 895386"/>
            </a:gdLst>
            <a:ahLst/>
            <a:cxnLst>
              <a:cxn ang="0">
                <a:pos x="csX0" y="csY0"/>
              </a:cxn>
              <a:cxn ang="0">
                <a:pos x="csX1" y="csY1"/>
              </a:cxn>
              <a:cxn ang="0">
                <a:pos x="csX2" y="csY2"/>
              </a:cxn>
              <a:cxn ang="0">
                <a:pos x="csX3" y="csY3"/>
              </a:cxn>
              <a:cxn ang="0">
                <a:pos x="csX4" y="csY4"/>
              </a:cxn>
            </a:cxnLst>
            <a:rect l="l" t="t" r="r" b="b"/>
            <a:pathLst>
              <a:path w="2474259" h="895386" extrusionOk="0">
                <a:moveTo>
                  <a:pt x="0" y="447693"/>
                </a:moveTo>
                <a:cubicBezTo>
                  <a:pt x="-84467" y="204052"/>
                  <a:pt x="592928" y="38389"/>
                  <a:pt x="1237130" y="0"/>
                </a:cubicBezTo>
                <a:cubicBezTo>
                  <a:pt x="1932667" y="25222"/>
                  <a:pt x="2474906" y="220153"/>
                  <a:pt x="2474260" y="447693"/>
                </a:cubicBezTo>
                <a:cubicBezTo>
                  <a:pt x="2407119" y="593651"/>
                  <a:pt x="2007845" y="1001140"/>
                  <a:pt x="1237130" y="895386"/>
                </a:cubicBezTo>
                <a:cubicBezTo>
                  <a:pt x="563915" y="858068"/>
                  <a:pt x="22499" y="736895"/>
                  <a:pt x="0" y="447693"/>
                </a:cubicBezTo>
                <a:close/>
              </a:path>
            </a:pathLst>
          </a:custGeom>
          <a:noFill/>
          <a:ln w="38100">
            <a:solidFill>
              <a:srgbClr val="FF0000"/>
            </a:solidFill>
            <a:extLst>
              <a:ext uri="{C807C97D-BFC1-408E-A445-0C87EB9F89A2}">
                <ask:lineSketchStyleProps xmlns:ask="http://schemas.microsoft.com/office/drawing/2018/sketchyshapes" sd="2650216993">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Connector: Curved 10">
            <a:extLst>
              <a:ext uri="{FF2B5EF4-FFF2-40B4-BE49-F238E27FC236}">
                <a16:creationId xmlns:a16="http://schemas.microsoft.com/office/drawing/2014/main" id="{D0A99D06-2C7D-84F7-0422-87B3F556FF33}"/>
              </a:ext>
            </a:extLst>
          </p:cNvPr>
          <p:cNvCxnSpPr>
            <a:cxnSpLocks/>
          </p:cNvCxnSpPr>
          <p:nvPr/>
        </p:nvCxnSpPr>
        <p:spPr>
          <a:xfrm flipV="1">
            <a:off x="3937703" y="2918012"/>
            <a:ext cx="1934212" cy="1021976"/>
          </a:xfrm>
          <a:prstGeom prst="curvedConnector3">
            <a:avLst>
              <a:gd name="adj1" fmla="val 62236"/>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A75DE2D-993C-251F-ED7B-007ABAB792DE}"/>
              </a:ext>
            </a:extLst>
          </p:cNvPr>
          <p:cNvSpPr txBox="1"/>
          <p:nvPr/>
        </p:nvSpPr>
        <p:spPr>
          <a:xfrm>
            <a:off x="6473067" y="2207653"/>
            <a:ext cx="4137848" cy="1477328"/>
          </a:xfrm>
          <a:prstGeom prst="rect">
            <a:avLst/>
          </a:prstGeom>
          <a:noFill/>
        </p:spPr>
        <p:txBody>
          <a:bodyPr wrap="square" rtlCol="0">
            <a:spAutoFit/>
          </a:bodyPr>
          <a:lstStyle/>
          <a:p>
            <a:r>
              <a:rPr lang="en-US" dirty="0"/>
              <a:t>Each update for avg depend on the previous values.</a:t>
            </a:r>
          </a:p>
          <a:p>
            <a:r>
              <a:rPr lang="en-US" dirty="0"/>
              <a:t>so, if we paralyze it , it’ll depend on the value of the previous thread or the step that in another thread.</a:t>
            </a:r>
          </a:p>
        </p:txBody>
      </p:sp>
      <p:sp>
        <p:nvSpPr>
          <p:cNvPr id="18" name="Oval 17">
            <a:extLst>
              <a:ext uri="{FF2B5EF4-FFF2-40B4-BE49-F238E27FC236}">
                <a16:creationId xmlns:a16="http://schemas.microsoft.com/office/drawing/2014/main" id="{B6AC9744-919B-F827-BC1F-3FA78E196FCF}"/>
              </a:ext>
            </a:extLst>
          </p:cNvPr>
          <p:cNvSpPr/>
          <p:nvPr/>
        </p:nvSpPr>
        <p:spPr>
          <a:xfrm>
            <a:off x="5954797" y="1541033"/>
            <a:ext cx="4544059" cy="2753958"/>
          </a:xfrm>
          <a:custGeom>
            <a:avLst/>
            <a:gdLst>
              <a:gd name="csX0" fmla="*/ 0 w 4544059"/>
              <a:gd name="csY0" fmla="*/ 1376979 h 2753958"/>
              <a:gd name="csX1" fmla="*/ 2272030 w 4544059"/>
              <a:gd name="csY1" fmla="*/ 0 h 2753958"/>
              <a:gd name="csX2" fmla="*/ 4544060 w 4544059"/>
              <a:gd name="csY2" fmla="*/ 1376979 h 2753958"/>
              <a:gd name="csX3" fmla="*/ 2272030 w 4544059"/>
              <a:gd name="csY3" fmla="*/ 2753958 h 2753958"/>
              <a:gd name="csX4" fmla="*/ 0 w 4544059"/>
              <a:gd name="csY4" fmla="*/ 1376979 h 2753958"/>
            </a:gdLst>
            <a:ahLst/>
            <a:cxnLst>
              <a:cxn ang="0">
                <a:pos x="csX0" y="csY0"/>
              </a:cxn>
              <a:cxn ang="0">
                <a:pos x="csX1" y="csY1"/>
              </a:cxn>
              <a:cxn ang="0">
                <a:pos x="csX2" y="csY2"/>
              </a:cxn>
              <a:cxn ang="0">
                <a:pos x="csX3" y="csY3"/>
              </a:cxn>
              <a:cxn ang="0">
                <a:pos x="csX4" y="csY4"/>
              </a:cxn>
            </a:cxnLst>
            <a:rect l="l" t="t" r="r" b="b"/>
            <a:pathLst>
              <a:path w="4544059" h="2753958" extrusionOk="0">
                <a:moveTo>
                  <a:pt x="0" y="1376979"/>
                </a:moveTo>
                <a:cubicBezTo>
                  <a:pt x="-19193" y="732645"/>
                  <a:pt x="1020184" y="131128"/>
                  <a:pt x="2272030" y="0"/>
                </a:cubicBezTo>
                <a:cubicBezTo>
                  <a:pt x="3669135" y="-75371"/>
                  <a:pt x="4655989" y="561781"/>
                  <a:pt x="4544060" y="1376979"/>
                </a:cubicBezTo>
                <a:cubicBezTo>
                  <a:pt x="4580650" y="2129227"/>
                  <a:pt x="3523388" y="2832472"/>
                  <a:pt x="2272030" y="2753958"/>
                </a:cubicBezTo>
                <a:cubicBezTo>
                  <a:pt x="1038894" y="2788290"/>
                  <a:pt x="-67194" y="2068077"/>
                  <a:pt x="0" y="1376979"/>
                </a:cubicBezTo>
                <a:close/>
              </a:path>
            </a:pathLst>
          </a:custGeom>
          <a:noFill/>
          <a:ln w="38100">
            <a:solidFill>
              <a:srgbClr val="FF0000"/>
            </a:solidFill>
            <a:extLst>
              <a:ext uri="{C807C97D-BFC1-408E-A445-0C87EB9F89A2}">
                <ask:lineSketchStyleProps xmlns:ask="http://schemas.microsoft.com/office/drawing/2018/sketchyshapes" sd="1634779923">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9575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3E9E9-0C66-0E11-6C0F-0A80FE6E6D5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F50333-3FF4-E76F-F20E-2C78D2E7B718}"/>
              </a:ext>
            </a:extLst>
          </p:cNvPr>
          <p:cNvSpPr>
            <a:spLocks noGrp="1"/>
          </p:cNvSpPr>
          <p:nvPr>
            <p:ph idx="1"/>
          </p:nvPr>
        </p:nvSpPr>
        <p:spPr>
          <a:xfrm>
            <a:off x="612646" y="1155526"/>
            <a:ext cx="10653579" cy="5421855"/>
          </a:xfrm>
        </p:spPr>
        <p:txBody>
          <a:bodyPr>
            <a:normAutofit lnSpcReduction="10000"/>
          </a:bodyPr>
          <a:lstStyle/>
          <a:p>
            <a:r>
              <a:rPr lang="en-US" dirty="0">
                <a:solidFill>
                  <a:srgbClr val="FF0000"/>
                </a:solidFill>
              </a:rPr>
              <a:t>How does reduction work ??</a:t>
            </a:r>
          </a:p>
          <a:p>
            <a:r>
              <a:rPr lang="en-US" dirty="0"/>
              <a:t>The reduction says compiler create a local copy of the variable in the list to each thread</a:t>
            </a:r>
          </a:p>
          <a:p>
            <a:endParaRPr lang="en-US" dirty="0"/>
          </a:p>
          <a:p>
            <a:pPr marL="0" indent="0">
              <a:buNone/>
            </a:pPr>
            <a:endParaRPr lang="en-US" dirty="0"/>
          </a:p>
          <a:p>
            <a:pPr marL="0" indent="0">
              <a:buNone/>
            </a:pPr>
            <a:endParaRPr lang="en-US" dirty="0"/>
          </a:p>
          <a:p>
            <a:r>
              <a:rPr lang="en-US" dirty="0"/>
              <a:t>A local copy of each list variable is made and initialized depending on the “OP”.</a:t>
            </a:r>
          </a:p>
          <a:p>
            <a:r>
              <a:rPr lang="en-US" dirty="0"/>
              <a:t>Updates occur on the local copy, when it’s done, it combines the local copies from each thread using the reduction operator into a single local copy.</a:t>
            </a:r>
          </a:p>
          <a:p>
            <a:r>
              <a:rPr lang="en-US" dirty="0"/>
              <a:t>It does it for you, you don’t have to do anything magic, it does it for you.</a:t>
            </a:r>
          </a:p>
          <a:p>
            <a:r>
              <a:rPr lang="en-US" dirty="0"/>
              <a:t>Then it combines it to the global copy to give you the final answer.</a:t>
            </a:r>
          </a:p>
          <a:p>
            <a:pPr marL="0" indent="0" algn="ctr">
              <a:buNone/>
            </a:pPr>
            <a:r>
              <a:rPr lang="en-US" dirty="0">
                <a:solidFill>
                  <a:srgbClr val="FF0000"/>
                </a:solidFill>
              </a:rPr>
              <a:t>Local copies are reduced into a single value and combined with the original global value.</a:t>
            </a:r>
          </a:p>
        </p:txBody>
      </p:sp>
      <p:sp>
        <p:nvSpPr>
          <p:cNvPr id="6" name="Title 1">
            <a:extLst>
              <a:ext uri="{FF2B5EF4-FFF2-40B4-BE49-F238E27FC236}">
                <a16:creationId xmlns:a16="http://schemas.microsoft.com/office/drawing/2014/main" id="{2628714B-E393-35E4-66C7-9848B813F6FA}"/>
              </a:ext>
            </a:extLst>
          </p:cNvPr>
          <p:cNvSpPr txBox="1">
            <a:spLocks/>
          </p:cNvSpPr>
          <p:nvPr/>
        </p:nvSpPr>
        <p:spPr>
          <a:xfrm>
            <a:off x="491786" y="280619"/>
            <a:ext cx="9125549" cy="708166"/>
          </a:xfrm>
          <a:prstGeom prst="rect">
            <a:avLst/>
          </a:prstGeom>
        </p:spPr>
        <p:txBody>
          <a:bodyPr vert="horz" lIns="91440" tIns="45720" rIns="91440" bIns="45720" rtlCol="0" anchor="b">
            <a:normAutofit fontScale="75000" lnSpcReduction="20000"/>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sz="3300" dirty="0"/>
              <a:t>Reduction clause</a:t>
            </a:r>
            <a:br>
              <a:rPr lang="en-US" sz="3300" dirty="0"/>
            </a:br>
            <a:r>
              <a:rPr lang="en-US" sz="2000" b="0" dirty="0"/>
              <a:t>occurs often in parallel programming language that any parallel programming language worth using </a:t>
            </a:r>
          </a:p>
        </p:txBody>
      </p:sp>
      <p:pic>
        <p:nvPicPr>
          <p:cNvPr id="8" name="Picture 7">
            <a:extLst>
              <a:ext uri="{FF2B5EF4-FFF2-40B4-BE49-F238E27FC236}">
                <a16:creationId xmlns:a16="http://schemas.microsoft.com/office/drawing/2014/main" id="{12C761E2-9F8D-529E-0CE1-80AA5F613BF3}"/>
              </a:ext>
            </a:extLst>
          </p:cNvPr>
          <p:cNvPicPr>
            <a:picLocks noChangeAspect="1"/>
          </p:cNvPicPr>
          <p:nvPr/>
        </p:nvPicPr>
        <p:blipFill>
          <a:blip r:embed="rId2"/>
          <a:stretch>
            <a:fillRect/>
          </a:stretch>
        </p:blipFill>
        <p:spPr>
          <a:xfrm>
            <a:off x="3001384" y="2250323"/>
            <a:ext cx="4830183" cy="804847"/>
          </a:xfrm>
          <a:prstGeom prst="rect">
            <a:avLst/>
          </a:prstGeom>
        </p:spPr>
      </p:pic>
      <p:sp>
        <p:nvSpPr>
          <p:cNvPr id="9" name="Oval 8">
            <a:extLst>
              <a:ext uri="{FF2B5EF4-FFF2-40B4-BE49-F238E27FC236}">
                <a16:creationId xmlns:a16="http://schemas.microsoft.com/office/drawing/2014/main" id="{C535560B-5CBA-DF86-21BE-D3E9E0EAE06E}"/>
              </a:ext>
            </a:extLst>
          </p:cNvPr>
          <p:cNvSpPr/>
          <p:nvPr/>
        </p:nvSpPr>
        <p:spPr>
          <a:xfrm>
            <a:off x="5054560" y="2324111"/>
            <a:ext cx="2474259" cy="647257"/>
          </a:xfrm>
          <a:custGeom>
            <a:avLst/>
            <a:gdLst>
              <a:gd name="csX0" fmla="*/ 0 w 2474259"/>
              <a:gd name="csY0" fmla="*/ 323629 h 647257"/>
              <a:gd name="csX1" fmla="*/ 1237130 w 2474259"/>
              <a:gd name="csY1" fmla="*/ 0 h 647257"/>
              <a:gd name="csX2" fmla="*/ 2474260 w 2474259"/>
              <a:gd name="csY2" fmla="*/ 323629 h 647257"/>
              <a:gd name="csX3" fmla="*/ 1237130 w 2474259"/>
              <a:gd name="csY3" fmla="*/ 647258 h 647257"/>
              <a:gd name="csX4" fmla="*/ 0 w 2474259"/>
              <a:gd name="csY4" fmla="*/ 323629 h 647257"/>
            </a:gdLst>
            <a:ahLst/>
            <a:cxnLst>
              <a:cxn ang="0">
                <a:pos x="csX0" y="csY0"/>
              </a:cxn>
              <a:cxn ang="0">
                <a:pos x="csX1" y="csY1"/>
              </a:cxn>
              <a:cxn ang="0">
                <a:pos x="csX2" y="csY2"/>
              </a:cxn>
              <a:cxn ang="0">
                <a:pos x="csX3" y="csY3"/>
              </a:cxn>
              <a:cxn ang="0">
                <a:pos x="csX4" y="csY4"/>
              </a:cxn>
            </a:cxnLst>
            <a:rect l="l" t="t" r="r" b="b"/>
            <a:pathLst>
              <a:path w="2474259" h="647257" extrusionOk="0">
                <a:moveTo>
                  <a:pt x="0" y="323629"/>
                </a:moveTo>
                <a:cubicBezTo>
                  <a:pt x="-88784" y="148692"/>
                  <a:pt x="667050" y="111263"/>
                  <a:pt x="1237130" y="0"/>
                </a:cubicBezTo>
                <a:cubicBezTo>
                  <a:pt x="1938594" y="37385"/>
                  <a:pt x="2475964" y="196898"/>
                  <a:pt x="2474260" y="323629"/>
                </a:cubicBezTo>
                <a:cubicBezTo>
                  <a:pt x="2400538" y="391140"/>
                  <a:pt x="1979067" y="718218"/>
                  <a:pt x="1237130" y="647258"/>
                </a:cubicBezTo>
                <a:cubicBezTo>
                  <a:pt x="562566" y="614959"/>
                  <a:pt x="19519" y="538756"/>
                  <a:pt x="0" y="323629"/>
                </a:cubicBezTo>
                <a:close/>
              </a:path>
            </a:pathLst>
          </a:custGeom>
          <a:noFill/>
          <a:ln w="38100">
            <a:solidFill>
              <a:srgbClr val="FF0000"/>
            </a:solidFill>
            <a:extLst>
              <a:ext uri="{C807C97D-BFC1-408E-A445-0C87EB9F89A2}">
                <ask:lineSketchStyleProps xmlns:ask="http://schemas.microsoft.com/office/drawing/2018/sketchyshapes" sd="2650216993">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Connector: Curved 9">
            <a:extLst>
              <a:ext uri="{FF2B5EF4-FFF2-40B4-BE49-F238E27FC236}">
                <a16:creationId xmlns:a16="http://schemas.microsoft.com/office/drawing/2014/main" id="{FDA93584-77BD-152D-9A1B-A7B78299E0EC}"/>
              </a:ext>
            </a:extLst>
          </p:cNvPr>
          <p:cNvCxnSpPr>
            <a:cxnSpLocks/>
          </p:cNvCxnSpPr>
          <p:nvPr/>
        </p:nvCxnSpPr>
        <p:spPr>
          <a:xfrm rot="10800000" flipV="1">
            <a:off x="4808668" y="2721030"/>
            <a:ext cx="1130768" cy="647257"/>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A55C076-91B2-189E-02AA-80E1CAA626DB}"/>
              </a:ext>
            </a:extLst>
          </p:cNvPr>
          <p:cNvSpPr txBox="1"/>
          <p:nvPr/>
        </p:nvSpPr>
        <p:spPr>
          <a:xfrm>
            <a:off x="4164671" y="3194380"/>
            <a:ext cx="643996" cy="369332"/>
          </a:xfrm>
          <a:prstGeom prst="rect">
            <a:avLst/>
          </a:prstGeom>
          <a:noFill/>
        </p:spPr>
        <p:txBody>
          <a:bodyPr wrap="square" rtlCol="0">
            <a:spAutoFit/>
          </a:bodyPr>
          <a:lstStyle/>
          <a:p>
            <a:r>
              <a:rPr lang="en-US" dirty="0"/>
              <a:t>OP</a:t>
            </a:r>
          </a:p>
        </p:txBody>
      </p:sp>
      <p:cxnSp>
        <p:nvCxnSpPr>
          <p:cNvPr id="17" name="Connector: Curved 16">
            <a:extLst>
              <a:ext uri="{FF2B5EF4-FFF2-40B4-BE49-F238E27FC236}">
                <a16:creationId xmlns:a16="http://schemas.microsoft.com/office/drawing/2014/main" id="{D139C740-CE69-1A4C-0A62-CD79DC335670}"/>
              </a:ext>
            </a:extLst>
          </p:cNvPr>
          <p:cNvCxnSpPr>
            <a:cxnSpLocks/>
          </p:cNvCxnSpPr>
          <p:nvPr/>
        </p:nvCxnSpPr>
        <p:spPr>
          <a:xfrm>
            <a:off x="6452045" y="2792911"/>
            <a:ext cx="1097440" cy="450787"/>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32F6A66F-ADF2-F0DE-7138-FD87AB17FCC5}"/>
              </a:ext>
            </a:extLst>
          </p:cNvPr>
          <p:cNvSpPr txBox="1"/>
          <p:nvPr/>
        </p:nvSpPr>
        <p:spPr>
          <a:xfrm>
            <a:off x="7636837" y="3130318"/>
            <a:ext cx="643996" cy="369332"/>
          </a:xfrm>
          <a:prstGeom prst="rect">
            <a:avLst/>
          </a:prstGeom>
          <a:noFill/>
        </p:spPr>
        <p:txBody>
          <a:bodyPr wrap="square" rtlCol="0">
            <a:spAutoFit/>
          </a:bodyPr>
          <a:lstStyle/>
          <a:p>
            <a:r>
              <a:rPr lang="en-US" dirty="0"/>
              <a:t>list</a:t>
            </a:r>
          </a:p>
        </p:txBody>
      </p:sp>
    </p:spTree>
    <p:extLst>
      <p:ext uri="{BB962C8B-B14F-4D97-AF65-F5344CB8AC3E}">
        <p14:creationId xmlns:p14="http://schemas.microsoft.com/office/powerpoint/2010/main" val="2578377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C54A3-235E-DF44-80BA-9B59E90D69F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B9B3AA-0B95-0F4D-4C96-96759BDC582C}"/>
              </a:ext>
            </a:extLst>
          </p:cNvPr>
          <p:cNvSpPr>
            <a:spLocks noGrp="1"/>
          </p:cNvSpPr>
          <p:nvPr>
            <p:ph idx="1"/>
          </p:nvPr>
        </p:nvSpPr>
        <p:spPr>
          <a:xfrm>
            <a:off x="491786" y="988785"/>
            <a:ext cx="10653579" cy="5421855"/>
          </a:xfrm>
        </p:spPr>
        <p:txBody>
          <a:bodyPr>
            <a:normAutofit/>
          </a:bodyPr>
          <a:lstStyle/>
          <a:p>
            <a:r>
              <a:rPr lang="en-US" dirty="0"/>
              <a:t>Every thread will count average for its iterations and reduction will combine them together in the global average variable.</a:t>
            </a:r>
          </a:p>
          <a:p>
            <a:endParaRPr lang="en-US" dirty="0"/>
          </a:p>
          <a:p>
            <a:r>
              <a:rPr lang="en-US" dirty="0"/>
              <a:t>OP are operands that define initial value</a:t>
            </a:r>
          </a:p>
          <a:p>
            <a:pPr marL="0" indent="0">
              <a:buNone/>
            </a:pPr>
            <a:r>
              <a:rPr lang="en-US" dirty="0"/>
              <a:t> to each local value in the list </a:t>
            </a:r>
          </a:p>
          <a:p>
            <a:pPr marL="0" indent="0">
              <a:buNone/>
            </a:pPr>
            <a:r>
              <a:rPr lang="en-US" dirty="0"/>
              <a:t>for each thread.</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solidFill>
                  <a:srgbClr val="FF0000"/>
                </a:solidFill>
              </a:rPr>
              <a:t>Note</a:t>
            </a:r>
            <a:r>
              <a:rPr lang="en-US" dirty="0"/>
              <a:t>: we can set schedule with </a:t>
            </a:r>
            <a:r>
              <a:rPr lang="en-US" dirty="0" err="1">
                <a:solidFill>
                  <a:srgbClr val="FF0000"/>
                </a:solidFill>
              </a:rPr>
              <a:t>omp_set_schedule</a:t>
            </a:r>
            <a:r>
              <a:rPr lang="en-US" dirty="0">
                <a:solidFill>
                  <a:srgbClr val="FF0000"/>
                </a:solidFill>
              </a:rPr>
              <a:t>(type)</a:t>
            </a:r>
          </a:p>
          <a:p>
            <a:pPr marL="0" indent="0">
              <a:buNone/>
            </a:pPr>
            <a:endParaRPr lang="en-US" dirty="0"/>
          </a:p>
          <a:p>
            <a:pPr marL="0" indent="0">
              <a:buNone/>
            </a:pPr>
            <a:endParaRPr lang="en-US" dirty="0"/>
          </a:p>
          <a:p>
            <a:endParaRPr lang="en-US" dirty="0"/>
          </a:p>
          <a:p>
            <a:pPr marL="0" indent="0">
              <a:buNone/>
            </a:pPr>
            <a:endParaRPr lang="en-US" dirty="0"/>
          </a:p>
          <a:p>
            <a:pPr marL="0" indent="0">
              <a:buNone/>
            </a:pPr>
            <a:endParaRPr lang="en-US" dirty="0"/>
          </a:p>
        </p:txBody>
      </p:sp>
      <p:sp>
        <p:nvSpPr>
          <p:cNvPr id="6" name="Title 1">
            <a:extLst>
              <a:ext uri="{FF2B5EF4-FFF2-40B4-BE49-F238E27FC236}">
                <a16:creationId xmlns:a16="http://schemas.microsoft.com/office/drawing/2014/main" id="{67D5091C-0BB4-810A-95E9-45415685BD6F}"/>
              </a:ext>
            </a:extLst>
          </p:cNvPr>
          <p:cNvSpPr txBox="1">
            <a:spLocks/>
          </p:cNvSpPr>
          <p:nvPr/>
        </p:nvSpPr>
        <p:spPr>
          <a:xfrm>
            <a:off x="491786" y="280619"/>
            <a:ext cx="9125549" cy="708166"/>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sz="3300" dirty="0"/>
              <a:t>Reduction operands = Initial values</a:t>
            </a:r>
            <a:br>
              <a:rPr lang="en-US" sz="3300" dirty="0"/>
            </a:br>
            <a:r>
              <a:rPr lang="en-US" sz="2000" b="0" dirty="0"/>
              <a:t>many different associative operands can be used with reduction</a:t>
            </a:r>
          </a:p>
        </p:txBody>
      </p:sp>
      <p:pic>
        <p:nvPicPr>
          <p:cNvPr id="4" name="Picture 3">
            <a:extLst>
              <a:ext uri="{FF2B5EF4-FFF2-40B4-BE49-F238E27FC236}">
                <a16:creationId xmlns:a16="http://schemas.microsoft.com/office/drawing/2014/main" id="{9B57AD73-8CE2-2FD0-B5FC-CA6205549F59}"/>
              </a:ext>
            </a:extLst>
          </p:cNvPr>
          <p:cNvPicPr>
            <a:picLocks noChangeAspect="1"/>
          </p:cNvPicPr>
          <p:nvPr/>
        </p:nvPicPr>
        <p:blipFill>
          <a:blip r:embed="rId2"/>
          <a:stretch>
            <a:fillRect/>
          </a:stretch>
        </p:blipFill>
        <p:spPr>
          <a:xfrm>
            <a:off x="5601041" y="1696951"/>
            <a:ext cx="5544324" cy="2695951"/>
          </a:xfrm>
          <a:prstGeom prst="rect">
            <a:avLst/>
          </a:prstGeom>
        </p:spPr>
      </p:pic>
      <p:graphicFrame>
        <p:nvGraphicFramePr>
          <p:cNvPr id="5" name="Table 4">
            <a:extLst>
              <a:ext uri="{FF2B5EF4-FFF2-40B4-BE49-F238E27FC236}">
                <a16:creationId xmlns:a16="http://schemas.microsoft.com/office/drawing/2014/main" id="{C372B10E-EF59-DA8D-3EB1-1754DB31C5E7}"/>
              </a:ext>
            </a:extLst>
          </p:cNvPr>
          <p:cNvGraphicFramePr>
            <a:graphicFrameLocks noGrp="1"/>
          </p:cNvGraphicFramePr>
          <p:nvPr>
            <p:extLst>
              <p:ext uri="{D42A27DB-BD31-4B8C-83A1-F6EECF244321}">
                <p14:modId xmlns:p14="http://schemas.microsoft.com/office/powerpoint/2010/main" val="2920905816"/>
              </p:ext>
            </p:extLst>
          </p:nvPr>
        </p:nvGraphicFramePr>
        <p:xfrm>
          <a:off x="212930" y="4076528"/>
          <a:ext cx="5262712" cy="1463040"/>
        </p:xfrm>
        <a:graphic>
          <a:graphicData uri="http://schemas.openxmlformats.org/drawingml/2006/table">
            <a:tbl>
              <a:tblPr firstRow="1" bandRow="1">
                <a:tableStyleId>{5C22544A-7EE6-4342-B048-85BDC9FD1C3A}</a:tableStyleId>
              </a:tblPr>
              <a:tblGrid>
                <a:gridCol w="2631356">
                  <a:extLst>
                    <a:ext uri="{9D8B030D-6E8A-4147-A177-3AD203B41FA5}">
                      <a16:colId xmlns:a16="http://schemas.microsoft.com/office/drawing/2014/main" val="3542529082"/>
                    </a:ext>
                  </a:extLst>
                </a:gridCol>
                <a:gridCol w="2631356">
                  <a:extLst>
                    <a:ext uri="{9D8B030D-6E8A-4147-A177-3AD203B41FA5}">
                      <a16:colId xmlns:a16="http://schemas.microsoft.com/office/drawing/2014/main" val="491105529"/>
                    </a:ext>
                  </a:extLst>
                </a:gridCol>
              </a:tblGrid>
              <a:tr h="0">
                <a:tc>
                  <a:txBody>
                    <a:bodyPr/>
                    <a:lstStyle/>
                    <a:p>
                      <a:pPr algn="ctr"/>
                      <a:r>
                        <a:rPr lang="en-US" dirty="0"/>
                        <a:t>OP</a:t>
                      </a:r>
                    </a:p>
                  </a:txBody>
                  <a:tcPr/>
                </a:tc>
                <a:tc>
                  <a:txBody>
                    <a:bodyPr/>
                    <a:lstStyle/>
                    <a:p>
                      <a:pPr algn="ctr"/>
                      <a:r>
                        <a:rPr lang="en-US" dirty="0" err="1"/>
                        <a:t>Intial</a:t>
                      </a:r>
                      <a:endParaRPr lang="en-US" dirty="0"/>
                    </a:p>
                  </a:txBody>
                  <a:tcPr/>
                </a:tc>
                <a:extLst>
                  <a:ext uri="{0D108BD9-81ED-4DB2-BD59-A6C34878D82A}">
                    <a16:rowId xmlns:a16="http://schemas.microsoft.com/office/drawing/2014/main" val="3397558012"/>
                  </a:ext>
                </a:extLst>
              </a:tr>
              <a:tr h="236140">
                <a:tc>
                  <a:txBody>
                    <a:bodyPr/>
                    <a:lstStyle/>
                    <a:p>
                      <a:pPr algn="ctr"/>
                      <a:r>
                        <a:rPr lang="en-US" dirty="0"/>
                        <a:t>+</a:t>
                      </a:r>
                    </a:p>
                  </a:txBody>
                  <a:tcPr/>
                </a:tc>
                <a:tc>
                  <a:txBody>
                    <a:bodyPr/>
                    <a:lstStyle/>
                    <a:p>
                      <a:pPr algn="ctr"/>
                      <a:r>
                        <a:rPr lang="en-US" dirty="0"/>
                        <a:t>0</a:t>
                      </a:r>
                    </a:p>
                  </a:txBody>
                  <a:tcPr/>
                </a:tc>
                <a:extLst>
                  <a:ext uri="{0D108BD9-81ED-4DB2-BD59-A6C34878D82A}">
                    <a16:rowId xmlns:a16="http://schemas.microsoft.com/office/drawing/2014/main" val="111544202"/>
                  </a:ext>
                </a:extLst>
              </a:tr>
              <a:tr h="236140">
                <a:tc>
                  <a:txBody>
                    <a:bodyPr/>
                    <a:lstStyle/>
                    <a:p>
                      <a:pPr algn="ctr"/>
                      <a:r>
                        <a:rPr lang="en-US" dirty="0"/>
                        <a:t>*</a:t>
                      </a:r>
                    </a:p>
                  </a:txBody>
                  <a:tcPr/>
                </a:tc>
                <a:tc>
                  <a:txBody>
                    <a:bodyPr/>
                    <a:lstStyle/>
                    <a:p>
                      <a:pPr algn="ctr"/>
                      <a:r>
                        <a:rPr lang="en-US" dirty="0"/>
                        <a:t>1</a:t>
                      </a:r>
                    </a:p>
                  </a:txBody>
                  <a:tcPr/>
                </a:tc>
                <a:extLst>
                  <a:ext uri="{0D108BD9-81ED-4DB2-BD59-A6C34878D82A}">
                    <a16:rowId xmlns:a16="http://schemas.microsoft.com/office/drawing/2014/main" val="4020285673"/>
                  </a:ext>
                </a:extLst>
              </a:tr>
              <a:tr h="236140">
                <a:tc>
                  <a:txBody>
                    <a:bodyPr/>
                    <a:lstStyle/>
                    <a:p>
                      <a:pPr algn="ctr"/>
                      <a:r>
                        <a:rPr lang="en-US" dirty="0"/>
                        <a:t>-</a:t>
                      </a:r>
                    </a:p>
                  </a:txBody>
                  <a:tcPr/>
                </a:tc>
                <a:tc>
                  <a:txBody>
                    <a:bodyPr/>
                    <a:lstStyle/>
                    <a:p>
                      <a:pPr algn="ctr"/>
                      <a:r>
                        <a:rPr lang="en-US" dirty="0"/>
                        <a:t>0</a:t>
                      </a:r>
                    </a:p>
                  </a:txBody>
                  <a:tcPr/>
                </a:tc>
                <a:extLst>
                  <a:ext uri="{0D108BD9-81ED-4DB2-BD59-A6C34878D82A}">
                    <a16:rowId xmlns:a16="http://schemas.microsoft.com/office/drawing/2014/main" val="3812708569"/>
                  </a:ext>
                </a:extLst>
              </a:tr>
            </a:tbl>
          </a:graphicData>
        </a:graphic>
      </p:graphicFrame>
    </p:spTree>
    <p:extLst>
      <p:ext uri="{BB962C8B-B14F-4D97-AF65-F5344CB8AC3E}">
        <p14:creationId xmlns:p14="http://schemas.microsoft.com/office/powerpoint/2010/main" val="4007102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53B49-2DB0-D747-10B8-440D318B41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294D62-8022-1C6B-EA3B-6983043590F8}"/>
              </a:ext>
            </a:extLst>
          </p:cNvPr>
          <p:cNvSpPr>
            <a:spLocks noGrp="1"/>
          </p:cNvSpPr>
          <p:nvPr>
            <p:ph type="title"/>
          </p:nvPr>
        </p:nvSpPr>
        <p:spPr>
          <a:xfrm>
            <a:off x="612647" y="355001"/>
            <a:ext cx="10653578" cy="957431"/>
          </a:xfrm>
        </p:spPr>
        <p:txBody>
          <a:bodyPr>
            <a:normAutofit/>
          </a:bodyPr>
          <a:lstStyle/>
          <a:p>
            <a:r>
              <a:rPr lang="en-US" dirty="0"/>
              <a:t>Synchronization </a:t>
            </a:r>
            <a:br>
              <a:rPr lang="en-US" dirty="0"/>
            </a:br>
            <a:r>
              <a:rPr lang="en-US" sz="2000" b="0" dirty="0"/>
              <a:t>how to solve race condition??</a:t>
            </a:r>
          </a:p>
        </p:txBody>
      </p:sp>
      <p:sp>
        <p:nvSpPr>
          <p:cNvPr id="3" name="Content Placeholder 2">
            <a:extLst>
              <a:ext uri="{FF2B5EF4-FFF2-40B4-BE49-F238E27FC236}">
                <a16:creationId xmlns:a16="http://schemas.microsoft.com/office/drawing/2014/main" id="{7A781756-A8B7-85E8-EA59-52083CF11D2E}"/>
              </a:ext>
            </a:extLst>
          </p:cNvPr>
          <p:cNvSpPr>
            <a:spLocks noGrp="1"/>
          </p:cNvSpPr>
          <p:nvPr>
            <p:ph idx="1"/>
          </p:nvPr>
        </p:nvSpPr>
        <p:spPr/>
        <p:txBody>
          <a:bodyPr>
            <a:normAutofit/>
          </a:bodyPr>
          <a:lstStyle/>
          <a:p>
            <a:r>
              <a:rPr lang="en-US" dirty="0"/>
              <a:t>Shared-memory, parallel program correctness hinges on the ability to perform changes to shared data items in a coordinated fashion.</a:t>
            </a:r>
          </a:p>
          <a:p>
            <a:r>
              <a:rPr lang="en-US" dirty="0"/>
              <a:t>OpenMP provides a number of synchronization directives that serve two purposes: mutual exclusion and event synchronization.</a:t>
            </a:r>
          </a:p>
          <a:p>
            <a:r>
              <a:rPr lang="en-US" b="1" dirty="0"/>
              <a:t>Event synchronization is sometimes called barrier </a:t>
            </a:r>
            <a:r>
              <a:rPr lang="en-US" dirty="0"/>
              <a:t>which says every thread wait at the barrier until all threads arrive, it just defines appoint in the program and says all threads stop here until everyone arrives.</a:t>
            </a:r>
          </a:p>
          <a:p>
            <a:r>
              <a:rPr lang="en-US" b="1" dirty="0"/>
              <a:t>Mutual exclusion </a:t>
            </a:r>
            <a:r>
              <a:rPr lang="en-US" dirty="0"/>
              <a:t>defines a block of code that only one thread at a time can execute, which means define something I want to happen one at a time , one thread at a time can do the block.  </a:t>
            </a:r>
          </a:p>
        </p:txBody>
      </p:sp>
    </p:spTree>
    <p:extLst>
      <p:ext uri="{BB962C8B-B14F-4D97-AF65-F5344CB8AC3E}">
        <p14:creationId xmlns:p14="http://schemas.microsoft.com/office/powerpoint/2010/main" val="2038285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0A4F0-35B2-B395-E53C-6EB85C80E2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274F96-2635-5FDF-5CAF-2AD3E679F0D4}"/>
              </a:ext>
            </a:extLst>
          </p:cNvPr>
          <p:cNvSpPr>
            <a:spLocks noGrp="1"/>
          </p:cNvSpPr>
          <p:nvPr>
            <p:ph type="title"/>
          </p:nvPr>
        </p:nvSpPr>
        <p:spPr>
          <a:xfrm>
            <a:off x="612647" y="355001"/>
            <a:ext cx="10653578" cy="957431"/>
          </a:xfrm>
        </p:spPr>
        <p:txBody>
          <a:bodyPr>
            <a:normAutofit/>
          </a:bodyPr>
          <a:lstStyle/>
          <a:p>
            <a:r>
              <a:rPr lang="en-US" dirty="0"/>
              <a:t>Synchronization </a:t>
            </a:r>
            <a:br>
              <a:rPr lang="en-US" dirty="0"/>
            </a:br>
            <a:r>
              <a:rPr lang="en-US" sz="2000" b="0" dirty="0"/>
              <a:t>how to solve race condition??</a:t>
            </a:r>
          </a:p>
        </p:txBody>
      </p:sp>
      <p:sp>
        <p:nvSpPr>
          <p:cNvPr id="3" name="Content Placeholder 2">
            <a:extLst>
              <a:ext uri="{FF2B5EF4-FFF2-40B4-BE49-F238E27FC236}">
                <a16:creationId xmlns:a16="http://schemas.microsoft.com/office/drawing/2014/main" id="{23FA16A2-E4AF-6345-5B3F-60DF7E081A1B}"/>
              </a:ext>
            </a:extLst>
          </p:cNvPr>
          <p:cNvSpPr>
            <a:spLocks noGrp="1"/>
          </p:cNvSpPr>
          <p:nvPr>
            <p:ph idx="1"/>
          </p:nvPr>
        </p:nvSpPr>
        <p:spPr/>
        <p:txBody>
          <a:bodyPr>
            <a:normAutofit/>
          </a:bodyPr>
          <a:lstStyle/>
          <a:p>
            <a:r>
              <a:rPr lang="en-US" dirty="0"/>
              <a:t>Synchronization has to types of constructs:</a:t>
            </a:r>
          </a:p>
          <a:p>
            <a:pPr marL="457200" indent="-457200">
              <a:buFont typeface="+mj-lt"/>
              <a:buAutoNum type="arabicPeriod"/>
            </a:pPr>
            <a:r>
              <a:rPr lang="en-US" dirty="0"/>
              <a:t>High-level synchronization </a:t>
            </a:r>
            <a:r>
              <a:rPr lang="en-US" dirty="0">
                <a:sym typeface="Wingdings" panose="05000000000000000000" pitchFamily="2" charset="2"/>
              </a:rPr>
              <a:t> barrier, critical, atomic, ordered</a:t>
            </a:r>
          </a:p>
          <a:p>
            <a:pPr marL="457200" indent="-457200">
              <a:buFont typeface="+mj-lt"/>
              <a:buAutoNum type="arabicPeriod"/>
            </a:pPr>
            <a:r>
              <a:rPr lang="en-US" dirty="0">
                <a:sym typeface="Wingdings" panose="05000000000000000000" pitchFamily="2" charset="2"/>
              </a:rPr>
              <a:t>Low-level synchronization  flush, locks</a:t>
            </a:r>
          </a:p>
          <a:p>
            <a:r>
              <a:rPr lang="en-US" dirty="0">
                <a:sym typeface="Wingdings" panose="05000000000000000000" pitchFamily="2" charset="2"/>
              </a:rPr>
              <a:t>Synchronization is great but if we synchronize a lot, you’ll get no performance.</a:t>
            </a:r>
          </a:p>
          <a:p>
            <a:r>
              <a:rPr lang="en-US" dirty="0">
                <a:solidFill>
                  <a:srgbClr val="FF0000"/>
                </a:solidFill>
                <a:sym typeface="Wingdings" panose="05000000000000000000" pitchFamily="2" charset="2"/>
              </a:rPr>
              <a:t>How to implement good synchronization??</a:t>
            </a:r>
          </a:p>
          <a:p>
            <a:pPr marL="457200" indent="-457200">
              <a:buFont typeface="+mj-lt"/>
              <a:buAutoNum type="arabicPeriod"/>
            </a:pPr>
            <a:r>
              <a:rPr lang="en-US" dirty="0"/>
              <a:t>Pay attention to data environment</a:t>
            </a:r>
          </a:p>
          <a:p>
            <a:pPr marL="457200" indent="-457200">
              <a:buFont typeface="+mj-lt"/>
              <a:buAutoNum type="arabicPeriod"/>
            </a:pPr>
            <a:r>
              <a:rPr lang="en-US" dirty="0"/>
              <a:t>Pay attention when you share variables</a:t>
            </a:r>
          </a:p>
          <a:p>
            <a:pPr marL="457200" indent="-457200">
              <a:buFont typeface="+mj-lt"/>
              <a:buAutoNum type="arabicPeriod"/>
            </a:pPr>
            <a:r>
              <a:rPr lang="en-US" dirty="0"/>
              <a:t>Pay attention when you have a copy of a variable for each thread.</a:t>
            </a:r>
          </a:p>
        </p:txBody>
      </p:sp>
    </p:spTree>
    <p:extLst>
      <p:ext uri="{BB962C8B-B14F-4D97-AF65-F5344CB8AC3E}">
        <p14:creationId xmlns:p14="http://schemas.microsoft.com/office/powerpoint/2010/main" val="2086414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941C1-5001-4C75-E110-B73381E5BF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D2DB8-3509-3FC2-FFF3-9474D5895B32}"/>
              </a:ext>
            </a:extLst>
          </p:cNvPr>
          <p:cNvSpPr>
            <a:spLocks noGrp="1"/>
          </p:cNvSpPr>
          <p:nvPr>
            <p:ph type="title"/>
          </p:nvPr>
        </p:nvSpPr>
        <p:spPr>
          <a:xfrm>
            <a:off x="612647" y="355001"/>
            <a:ext cx="10653578" cy="957431"/>
          </a:xfrm>
        </p:spPr>
        <p:txBody>
          <a:bodyPr>
            <a:normAutofit/>
          </a:bodyPr>
          <a:lstStyle/>
          <a:p>
            <a:r>
              <a:rPr lang="en-US" dirty="0"/>
              <a:t>Synchronization </a:t>
            </a:r>
            <a:br>
              <a:rPr lang="en-US" dirty="0"/>
            </a:br>
            <a:r>
              <a:rPr lang="en-US" sz="2000" dirty="0"/>
              <a:t>Barrie</a:t>
            </a:r>
            <a:r>
              <a:rPr lang="en-US" sz="2000" b="0" dirty="0"/>
              <a:t>, critical, atomic</a:t>
            </a:r>
          </a:p>
        </p:txBody>
      </p:sp>
      <p:sp>
        <p:nvSpPr>
          <p:cNvPr id="3" name="Content Placeholder 2">
            <a:extLst>
              <a:ext uri="{FF2B5EF4-FFF2-40B4-BE49-F238E27FC236}">
                <a16:creationId xmlns:a16="http://schemas.microsoft.com/office/drawing/2014/main" id="{3293E2A7-58CF-F526-5523-1B48937C78E6}"/>
              </a:ext>
            </a:extLst>
          </p:cNvPr>
          <p:cNvSpPr>
            <a:spLocks noGrp="1"/>
          </p:cNvSpPr>
          <p:nvPr>
            <p:ph idx="1"/>
          </p:nvPr>
        </p:nvSpPr>
        <p:spPr/>
        <p:txBody>
          <a:bodyPr>
            <a:normAutofit/>
          </a:bodyPr>
          <a:lstStyle/>
          <a:p>
            <a:r>
              <a:rPr lang="en-US" b="1" dirty="0"/>
              <a:t>Barrier</a:t>
            </a:r>
            <a:r>
              <a:rPr lang="en-US" dirty="0"/>
              <a:t> </a:t>
            </a:r>
            <a:r>
              <a:rPr lang="en-US" dirty="0">
                <a:sym typeface="Wingdings" panose="05000000000000000000" pitchFamily="2" charset="2"/>
              </a:rPr>
              <a:t> defines point in the program and it says all threads arrive here before any threads go on.</a:t>
            </a:r>
          </a:p>
          <a:p>
            <a:r>
              <a:rPr lang="en-US" dirty="0"/>
              <a:t>All threads in a team must reach the barrier directive before execution can continue beyond that point.</a:t>
            </a:r>
          </a:p>
          <a:p>
            <a:r>
              <a:rPr lang="en-US" dirty="0"/>
              <a:t> The barrier directive has no associated block. It is just placed inside an OpenMP work-sharing construct.</a:t>
            </a:r>
          </a:p>
        </p:txBody>
      </p:sp>
      <p:pic>
        <p:nvPicPr>
          <p:cNvPr id="5" name="Picture 4">
            <a:extLst>
              <a:ext uri="{FF2B5EF4-FFF2-40B4-BE49-F238E27FC236}">
                <a16:creationId xmlns:a16="http://schemas.microsoft.com/office/drawing/2014/main" id="{65F6C268-00CA-1C4F-5013-7B3421BCA299}"/>
              </a:ext>
            </a:extLst>
          </p:cNvPr>
          <p:cNvPicPr>
            <a:picLocks noChangeAspect="1"/>
          </p:cNvPicPr>
          <p:nvPr/>
        </p:nvPicPr>
        <p:blipFill>
          <a:blip r:embed="rId2"/>
          <a:srcRect l="5676" r="762" b="28921"/>
          <a:stretch>
            <a:fillRect/>
          </a:stretch>
        </p:blipFill>
        <p:spPr>
          <a:xfrm>
            <a:off x="3496235" y="4012446"/>
            <a:ext cx="3966337" cy="785465"/>
          </a:xfrm>
          <a:prstGeom prst="rect">
            <a:avLst/>
          </a:prstGeom>
        </p:spPr>
      </p:pic>
      <p:sp>
        <p:nvSpPr>
          <p:cNvPr id="6" name="Oval 5">
            <a:extLst>
              <a:ext uri="{FF2B5EF4-FFF2-40B4-BE49-F238E27FC236}">
                <a16:creationId xmlns:a16="http://schemas.microsoft.com/office/drawing/2014/main" id="{C52465BA-8D35-ED8C-072A-A6316536B8C9}"/>
              </a:ext>
            </a:extLst>
          </p:cNvPr>
          <p:cNvSpPr/>
          <p:nvPr/>
        </p:nvSpPr>
        <p:spPr>
          <a:xfrm>
            <a:off x="3496235" y="4120179"/>
            <a:ext cx="2979869" cy="677732"/>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Connector: Curved 7">
            <a:extLst>
              <a:ext uri="{FF2B5EF4-FFF2-40B4-BE49-F238E27FC236}">
                <a16:creationId xmlns:a16="http://schemas.microsoft.com/office/drawing/2014/main" id="{9307978E-456E-2785-3EB6-40571D1F53A9}"/>
              </a:ext>
            </a:extLst>
          </p:cNvPr>
          <p:cNvCxnSpPr/>
          <p:nvPr/>
        </p:nvCxnSpPr>
        <p:spPr>
          <a:xfrm rot="10800000" flipV="1">
            <a:off x="4830185" y="4797911"/>
            <a:ext cx="634701" cy="484094"/>
          </a:xfrm>
          <a:prstGeom prst="curvedConnector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A8ECD67-39B6-DEDE-9935-425BE4DDCB1C}"/>
              </a:ext>
            </a:extLst>
          </p:cNvPr>
          <p:cNvSpPr txBox="1"/>
          <p:nvPr/>
        </p:nvSpPr>
        <p:spPr>
          <a:xfrm>
            <a:off x="914400" y="4937760"/>
            <a:ext cx="3722146" cy="923330"/>
          </a:xfrm>
          <a:prstGeom prst="rect">
            <a:avLst/>
          </a:prstGeom>
          <a:noFill/>
        </p:spPr>
        <p:txBody>
          <a:bodyPr wrap="square" rtlCol="0">
            <a:spAutoFit/>
          </a:bodyPr>
          <a:lstStyle/>
          <a:p>
            <a:r>
              <a:rPr lang="en-US" dirty="0"/>
              <a:t>Make sure everybody is done before any of threads go on the next calculations. </a:t>
            </a:r>
          </a:p>
        </p:txBody>
      </p:sp>
    </p:spTree>
    <p:extLst>
      <p:ext uri="{BB962C8B-B14F-4D97-AF65-F5344CB8AC3E}">
        <p14:creationId xmlns:p14="http://schemas.microsoft.com/office/powerpoint/2010/main" val="615633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66592-0F4F-F16B-2AA9-7A81B2D70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E13B15-AC21-23BA-F3AE-AA58A5D06813}"/>
              </a:ext>
            </a:extLst>
          </p:cNvPr>
          <p:cNvSpPr>
            <a:spLocks noGrp="1"/>
          </p:cNvSpPr>
          <p:nvPr>
            <p:ph type="title"/>
          </p:nvPr>
        </p:nvSpPr>
        <p:spPr>
          <a:xfrm>
            <a:off x="612647" y="355001"/>
            <a:ext cx="10653578" cy="957431"/>
          </a:xfrm>
        </p:spPr>
        <p:txBody>
          <a:bodyPr>
            <a:normAutofit/>
          </a:bodyPr>
          <a:lstStyle/>
          <a:p>
            <a:r>
              <a:rPr lang="en-US" dirty="0"/>
              <a:t>Synchronization </a:t>
            </a:r>
            <a:br>
              <a:rPr lang="en-US" dirty="0"/>
            </a:br>
            <a:r>
              <a:rPr lang="en-US" sz="2000" b="0" dirty="0"/>
              <a:t>Barrie, </a:t>
            </a:r>
            <a:r>
              <a:rPr lang="en-US" sz="2000" dirty="0"/>
              <a:t>critical</a:t>
            </a:r>
            <a:r>
              <a:rPr lang="en-US" sz="2000" b="0" dirty="0"/>
              <a:t>, atomic</a:t>
            </a:r>
          </a:p>
        </p:txBody>
      </p:sp>
      <p:sp>
        <p:nvSpPr>
          <p:cNvPr id="3" name="Content Placeholder 2">
            <a:extLst>
              <a:ext uri="{FF2B5EF4-FFF2-40B4-BE49-F238E27FC236}">
                <a16:creationId xmlns:a16="http://schemas.microsoft.com/office/drawing/2014/main" id="{810F2C7B-C9E9-5704-38AE-D90EB58730DB}"/>
              </a:ext>
            </a:extLst>
          </p:cNvPr>
          <p:cNvSpPr>
            <a:spLocks noGrp="1"/>
          </p:cNvSpPr>
          <p:nvPr>
            <p:ph idx="1"/>
          </p:nvPr>
        </p:nvSpPr>
        <p:spPr>
          <a:xfrm>
            <a:off x="505071" y="1549101"/>
            <a:ext cx="10653579" cy="4593828"/>
          </a:xfrm>
        </p:spPr>
        <p:txBody>
          <a:bodyPr>
            <a:normAutofit/>
          </a:bodyPr>
          <a:lstStyle/>
          <a:p>
            <a:r>
              <a:rPr lang="en-US" b="1" dirty="0"/>
              <a:t>Critical</a:t>
            </a:r>
            <a:r>
              <a:rPr lang="en-US" dirty="0"/>
              <a:t> </a:t>
            </a:r>
            <a:r>
              <a:rPr lang="en-US" dirty="0">
                <a:sym typeface="Wingdings" panose="05000000000000000000" pitchFamily="2" charset="2"/>
              </a:rPr>
              <a:t> </a:t>
            </a:r>
            <a:r>
              <a:rPr lang="en-US" dirty="0"/>
              <a:t>Allows only one thread at a time, to enter the structured block that follows.</a:t>
            </a:r>
          </a:p>
          <a:p>
            <a:r>
              <a:rPr lang="en-US" dirty="0"/>
              <a:t>It creates something called critical section.</a:t>
            </a:r>
          </a:p>
          <a:p>
            <a:r>
              <a:rPr lang="en-US" dirty="0"/>
              <a:t>Critical section says that for this block of code, I’m only going to let one thread at a time to execute this code.</a:t>
            </a:r>
          </a:p>
          <a:p>
            <a:r>
              <a:rPr lang="en-US" dirty="0"/>
              <a:t>So, if I’m moving along as a thread moving along through the program and hit a critical section and somebody else is already doing the computation</a:t>
            </a:r>
            <a:r>
              <a:rPr lang="en-US" b="1" dirty="0"/>
              <a:t>, I’ll wait </a:t>
            </a:r>
            <a:r>
              <a:rPr lang="en-US" dirty="0"/>
              <a:t>and then when that somebody is done, they will release the critical section and one of the threads waiting will start.</a:t>
            </a:r>
          </a:p>
          <a:p>
            <a:pPr marL="0" indent="0" algn="ctr">
              <a:buNone/>
            </a:pPr>
            <a:r>
              <a:rPr lang="en-US" dirty="0">
                <a:solidFill>
                  <a:srgbClr val="FF0000"/>
                </a:solidFill>
              </a:rPr>
              <a:t>[a lot happening in critical section = serialization of block] </a:t>
            </a:r>
          </a:p>
        </p:txBody>
      </p:sp>
    </p:spTree>
    <p:extLst>
      <p:ext uri="{BB962C8B-B14F-4D97-AF65-F5344CB8AC3E}">
        <p14:creationId xmlns:p14="http://schemas.microsoft.com/office/powerpoint/2010/main" val="2356934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BC61E-59CE-5AF3-FC32-522823EFB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B3D456-F4F0-D5DD-8933-4940AA7BEAE2}"/>
              </a:ext>
            </a:extLst>
          </p:cNvPr>
          <p:cNvSpPr>
            <a:spLocks noGrp="1"/>
          </p:cNvSpPr>
          <p:nvPr>
            <p:ph type="title"/>
          </p:nvPr>
        </p:nvSpPr>
        <p:spPr>
          <a:xfrm>
            <a:off x="300673" y="78100"/>
            <a:ext cx="10653578" cy="957431"/>
          </a:xfrm>
        </p:spPr>
        <p:txBody>
          <a:bodyPr>
            <a:normAutofit/>
          </a:bodyPr>
          <a:lstStyle/>
          <a:p>
            <a:r>
              <a:rPr lang="en-US" dirty="0"/>
              <a:t>Synchronization </a:t>
            </a:r>
            <a:br>
              <a:rPr lang="en-US" dirty="0"/>
            </a:br>
            <a:r>
              <a:rPr lang="en-US" sz="2000" b="0" dirty="0"/>
              <a:t>Barrie, </a:t>
            </a:r>
            <a:r>
              <a:rPr lang="en-US" sz="2000" dirty="0"/>
              <a:t>critica</a:t>
            </a:r>
            <a:r>
              <a:rPr lang="en-US" sz="2000" b="0" dirty="0"/>
              <a:t>l, atomic</a:t>
            </a:r>
          </a:p>
        </p:txBody>
      </p:sp>
      <p:sp>
        <p:nvSpPr>
          <p:cNvPr id="3" name="Content Placeholder 2">
            <a:extLst>
              <a:ext uri="{FF2B5EF4-FFF2-40B4-BE49-F238E27FC236}">
                <a16:creationId xmlns:a16="http://schemas.microsoft.com/office/drawing/2014/main" id="{4F6265E8-548D-9CA3-BE68-C4CACA5ADEB9}"/>
              </a:ext>
            </a:extLst>
          </p:cNvPr>
          <p:cNvSpPr>
            <a:spLocks noGrp="1"/>
          </p:cNvSpPr>
          <p:nvPr>
            <p:ph idx="1"/>
          </p:nvPr>
        </p:nvSpPr>
        <p:spPr>
          <a:xfrm>
            <a:off x="472799" y="2312059"/>
            <a:ext cx="10653579" cy="4593828"/>
          </a:xfrm>
        </p:spPr>
        <p:txBody>
          <a:bodyPr>
            <a:normAutofit/>
          </a:bodyPr>
          <a:lstStyle/>
          <a:p>
            <a:r>
              <a:rPr lang="en-US" dirty="0"/>
              <a:t>The identifier allows the establishment of named critical sections. The identifier serves to group critical sections together: using the same identifier in different critical directives means that there can be only one thread at any time, executing any of the corresponding blocks. All critical directives without an identifier are assumed to have the same name. </a:t>
            </a:r>
          </a:p>
          <a:p>
            <a:r>
              <a:rPr lang="en-US" dirty="0"/>
              <a:t>That means if you have multiple </a:t>
            </a:r>
            <a:r>
              <a:rPr lang="en-US" b="1" dirty="0"/>
              <a:t>#pragma </a:t>
            </a:r>
            <a:r>
              <a:rPr lang="en-US" b="1" dirty="0" err="1"/>
              <a:t>omp</a:t>
            </a:r>
            <a:r>
              <a:rPr lang="en-US" b="1" dirty="0"/>
              <a:t> critical </a:t>
            </a:r>
            <a:r>
              <a:rPr lang="en-US" dirty="0"/>
              <a:t>blocks scattered around, only one thread can be inside any of them at a time </a:t>
            </a:r>
            <a:endParaRPr lang="en-US" dirty="0">
              <a:solidFill>
                <a:srgbClr val="FF0000"/>
              </a:solidFill>
            </a:endParaRPr>
          </a:p>
          <a:p>
            <a:r>
              <a:rPr lang="en-US" dirty="0"/>
              <a:t>Threads can execute </a:t>
            </a:r>
            <a:r>
              <a:rPr lang="en-US" b="1" dirty="0"/>
              <a:t>critical(</a:t>
            </a:r>
            <a:r>
              <a:rPr lang="en-US" b="1" dirty="0" err="1"/>
              <a:t>nameA</a:t>
            </a:r>
            <a:r>
              <a:rPr lang="en-US" b="1" dirty="0"/>
              <a:t>) </a:t>
            </a:r>
            <a:r>
              <a:rPr lang="en-US" dirty="0"/>
              <a:t>and </a:t>
            </a:r>
            <a:r>
              <a:rPr lang="en-US" b="1" dirty="0"/>
              <a:t>critical(</a:t>
            </a:r>
            <a:r>
              <a:rPr lang="en-US" b="1" dirty="0" err="1"/>
              <a:t>nameB</a:t>
            </a:r>
            <a:r>
              <a:rPr lang="en-US" b="1" dirty="0"/>
              <a:t>)</a:t>
            </a:r>
          </a:p>
          <a:p>
            <a:pPr marL="0" indent="0">
              <a:buNone/>
            </a:pPr>
            <a:r>
              <a:rPr lang="en-US" dirty="0"/>
              <a:t> simultaneously, because they don’t block each other </a:t>
            </a:r>
          </a:p>
          <a:p>
            <a:endParaRPr lang="en-US" dirty="0"/>
          </a:p>
          <a:p>
            <a:endParaRPr lang="en-US" dirty="0"/>
          </a:p>
        </p:txBody>
      </p:sp>
      <p:pic>
        <p:nvPicPr>
          <p:cNvPr id="11" name="Picture 10">
            <a:extLst>
              <a:ext uri="{FF2B5EF4-FFF2-40B4-BE49-F238E27FC236}">
                <a16:creationId xmlns:a16="http://schemas.microsoft.com/office/drawing/2014/main" id="{DB2CA393-E35C-8ABA-F771-FF4A691FA5D8}"/>
              </a:ext>
            </a:extLst>
          </p:cNvPr>
          <p:cNvPicPr>
            <a:picLocks noChangeAspect="1"/>
          </p:cNvPicPr>
          <p:nvPr/>
        </p:nvPicPr>
        <p:blipFill>
          <a:blip r:embed="rId2"/>
          <a:stretch>
            <a:fillRect/>
          </a:stretch>
        </p:blipFill>
        <p:spPr>
          <a:xfrm>
            <a:off x="1335527" y="1035531"/>
            <a:ext cx="8411749" cy="1276528"/>
          </a:xfrm>
          <a:prstGeom prst="rect">
            <a:avLst/>
          </a:prstGeom>
        </p:spPr>
      </p:pic>
      <p:pic>
        <p:nvPicPr>
          <p:cNvPr id="7" name="Picture 6">
            <a:extLst>
              <a:ext uri="{FF2B5EF4-FFF2-40B4-BE49-F238E27FC236}">
                <a16:creationId xmlns:a16="http://schemas.microsoft.com/office/drawing/2014/main" id="{DB1E0E31-97D2-ADB0-F3CA-2BAA59E57C10}"/>
              </a:ext>
            </a:extLst>
          </p:cNvPr>
          <p:cNvPicPr>
            <a:picLocks noChangeAspect="1"/>
          </p:cNvPicPr>
          <p:nvPr/>
        </p:nvPicPr>
        <p:blipFill>
          <a:blip r:embed="rId3"/>
          <a:stretch>
            <a:fillRect/>
          </a:stretch>
        </p:blipFill>
        <p:spPr>
          <a:xfrm>
            <a:off x="7908669" y="4819425"/>
            <a:ext cx="3810532" cy="1820625"/>
          </a:xfrm>
          <a:prstGeom prst="rect">
            <a:avLst/>
          </a:prstGeom>
        </p:spPr>
      </p:pic>
    </p:spTree>
    <p:extLst>
      <p:ext uri="{BB962C8B-B14F-4D97-AF65-F5344CB8AC3E}">
        <p14:creationId xmlns:p14="http://schemas.microsoft.com/office/powerpoint/2010/main" val="750201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A17F4-B099-8EAC-4597-C676C1AFA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41425E-C728-4F11-46B9-138ABB0A0267}"/>
              </a:ext>
            </a:extLst>
          </p:cNvPr>
          <p:cNvSpPr>
            <a:spLocks noGrp="1"/>
          </p:cNvSpPr>
          <p:nvPr>
            <p:ph type="title"/>
          </p:nvPr>
        </p:nvSpPr>
        <p:spPr>
          <a:xfrm>
            <a:off x="612647" y="355001"/>
            <a:ext cx="10653578" cy="957431"/>
          </a:xfrm>
        </p:spPr>
        <p:txBody>
          <a:bodyPr>
            <a:normAutofit/>
          </a:bodyPr>
          <a:lstStyle/>
          <a:p>
            <a:r>
              <a:rPr lang="en-US" dirty="0"/>
              <a:t>Synchronization </a:t>
            </a:r>
            <a:br>
              <a:rPr lang="en-US" dirty="0"/>
            </a:br>
            <a:r>
              <a:rPr lang="en-US" sz="2000" b="0" dirty="0"/>
              <a:t>Barrie, critical, </a:t>
            </a:r>
            <a:r>
              <a:rPr lang="en-US" sz="2000" dirty="0"/>
              <a:t>atomic</a:t>
            </a:r>
          </a:p>
        </p:txBody>
      </p:sp>
      <p:sp>
        <p:nvSpPr>
          <p:cNvPr id="3" name="Content Placeholder 2">
            <a:extLst>
              <a:ext uri="{FF2B5EF4-FFF2-40B4-BE49-F238E27FC236}">
                <a16:creationId xmlns:a16="http://schemas.microsoft.com/office/drawing/2014/main" id="{BC7C915A-263D-7542-1977-13AE5B84CAC1}"/>
              </a:ext>
            </a:extLst>
          </p:cNvPr>
          <p:cNvSpPr>
            <a:spLocks noGrp="1"/>
          </p:cNvSpPr>
          <p:nvPr>
            <p:ph idx="1"/>
          </p:nvPr>
        </p:nvSpPr>
        <p:spPr>
          <a:xfrm>
            <a:off x="505071" y="1549101"/>
            <a:ext cx="10653579" cy="4593828"/>
          </a:xfrm>
        </p:spPr>
        <p:txBody>
          <a:bodyPr>
            <a:normAutofit fontScale="92500" lnSpcReduction="20000"/>
          </a:bodyPr>
          <a:lstStyle/>
          <a:p>
            <a:r>
              <a:rPr lang="en-US" b="1" dirty="0" err="1"/>
              <a:t>Aromic</a:t>
            </a:r>
            <a:r>
              <a:rPr lang="en-US" dirty="0"/>
              <a:t> </a:t>
            </a:r>
            <a:r>
              <a:rPr lang="en-US" dirty="0">
                <a:sym typeface="Wingdings" panose="05000000000000000000" pitchFamily="2" charset="2"/>
              </a:rPr>
              <a:t> </a:t>
            </a:r>
            <a:r>
              <a:rPr lang="en-US" dirty="0"/>
              <a:t>This is a lightweight version of the critical construct that uses platform specific atomic machine instructions (like the Intel x86 CMPXCHG Compare and Exchange) to accelerate the execution of single-statement critical sections.</a:t>
            </a:r>
          </a:p>
          <a:p>
            <a:r>
              <a:rPr lang="en-US" dirty="0"/>
              <a:t> Given that the statement should correlate closely with an atomic CPU instruction, the operations that can be “decorated” by an atomic directive are very limited.</a:t>
            </a:r>
          </a:p>
          <a:p>
            <a:r>
              <a:rPr lang="en-US" b="1" dirty="0" err="1"/>
              <a:t>binop</a:t>
            </a:r>
            <a:r>
              <a:rPr lang="en-US" dirty="0"/>
              <a:t> can be one of +, *,-,/,&amp;,^,|,&lt;&gt;</a:t>
            </a:r>
          </a:p>
          <a:p>
            <a:r>
              <a:rPr lang="en-US" dirty="0">
                <a:solidFill>
                  <a:srgbClr val="FF0000"/>
                </a:solidFill>
              </a:rPr>
              <a:t>There are a certain constructs in hardware supported in hardware</a:t>
            </a:r>
          </a:p>
          <a:p>
            <a:pPr marL="0" indent="0">
              <a:buNone/>
            </a:pPr>
            <a:r>
              <a:rPr lang="en-US" dirty="0">
                <a:solidFill>
                  <a:srgbClr val="FF0000"/>
                </a:solidFill>
              </a:rPr>
              <a:t>For doing just quick updates of values in memory, this is because </a:t>
            </a:r>
          </a:p>
          <a:p>
            <a:pPr marL="0" indent="0">
              <a:buNone/>
            </a:pPr>
            <a:r>
              <a:rPr lang="en-US" dirty="0">
                <a:solidFill>
                  <a:srgbClr val="FF0000"/>
                </a:solidFill>
              </a:rPr>
              <a:t>Some of low-level things we do in OS and some of low-level things in </a:t>
            </a:r>
          </a:p>
          <a:p>
            <a:pPr marL="0" indent="0">
              <a:buNone/>
            </a:pPr>
            <a:r>
              <a:rPr lang="en-US" dirty="0">
                <a:solidFill>
                  <a:srgbClr val="FF0000"/>
                </a:solidFill>
              </a:rPr>
              <a:t>Run time systems need really </a:t>
            </a:r>
            <a:r>
              <a:rPr lang="en-US" dirty="0" err="1">
                <a:solidFill>
                  <a:srgbClr val="FF0000"/>
                </a:solidFill>
              </a:rPr>
              <a:t>really</a:t>
            </a:r>
            <a:r>
              <a:rPr lang="en-US" dirty="0">
                <a:solidFill>
                  <a:srgbClr val="FF0000"/>
                </a:solidFill>
              </a:rPr>
              <a:t> efficient mutual exclusion</a:t>
            </a:r>
          </a:p>
          <a:p>
            <a:r>
              <a:rPr lang="en-US" dirty="0"/>
              <a:t>Atomic says : if these HW constructs are available , use them other </a:t>
            </a:r>
          </a:p>
          <a:p>
            <a:pPr marL="0" indent="0">
              <a:buNone/>
            </a:pPr>
            <a:r>
              <a:rPr lang="en-US" dirty="0"/>
              <a:t>wise just like a critical section for a subset of operations</a:t>
            </a:r>
          </a:p>
        </p:txBody>
      </p:sp>
      <p:pic>
        <p:nvPicPr>
          <p:cNvPr id="5" name="Picture 4">
            <a:extLst>
              <a:ext uri="{FF2B5EF4-FFF2-40B4-BE49-F238E27FC236}">
                <a16:creationId xmlns:a16="http://schemas.microsoft.com/office/drawing/2014/main" id="{B1DF333C-AC8B-8BA8-A5F8-2D50C2821E04}"/>
              </a:ext>
            </a:extLst>
          </p:cNvPr>
          <p:cNvPicPr>
            <a:picLocks noChangeAspect="1"/>
          </p:cNvPicPr>
          <p:nvPr/>
        </p:nvPicPr>
        <p:blipFill>
          <a:blip r:embed="rId2"/>
          <a:stretch>
            <a:fillRect/>
          </a:stretch>
        </p:blipFill>
        <p:spPr>
          <a:xfrm>
            <a:off x="8500804" y="3636216"/>
            <a:ext cx="2657846" cy="2124371"/>
          </a:xfrm>
          <a:prstGeom prst="rect">
            <a:avLst/>
          </a:prstGeom>
        </p:spPr>
      </p:pic>
    </p:spTree>
    <p:extLst>
      <p:ext uri="{BB962C8B-B14F-4D97-AF65-F5344CB8AC3E}">
        <p14:creationId xmlns:p14="http://schemas.microsoft.com/office/powerpoint/2010/main" val="1737008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7AA4C-E17D-BA9A-489B-46BAB3D2F3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3399D-B432-DC3D-1BAB-E4459C10318E}"/>
              </a:ext>
            </a:extLst>
          </p:cNvPr>
          <p:cNvSpPr>
            <a:spLocks noGrp="1"/>
          </p:cNvSpPr>
          <p:nvPr>
            <p:ph type="title"/>
          </p:nvPr>
        </p:nvSpPr>
        <p:spPr>
          <a:xfrm>
            <a:off x="612647" y="355001"/>
            <a:ext cx="10653578" cy="957431"/>
          </a:xfrm>
        </p:spPr>
        <p:txBody>
          <a:bodyPr>
            <a:normAutofit/>
          </a:bodyPr>
          <a:lstStyle/>
          <a:p>
            <a:r>
              <a:rPr lang="en-US" dirty="0"/>
              <a:t>Synchronization </a:t>
            </a:r>
            <a:br>
              <a:rPr lang="en-US" dirty="0"/>
            </a:br>
            <a:r>
              <a:rPr lang="en-US" sz="2000" b="0" dirty="0"/>
              <a:t>Barrie, critical, </a:t>
            </a:r>
            <a:r>
              <a:rPr lang="en-US" sz="2000" dirty="0"/>
              <a:t>atomic</a:t>
            </a:r>
          </a:p>
        </p:txBody>
      </p:sp>
      <p:sp>
        <p:nvSpPr>
          <p:cNvPr id="3" name="Content Placeholder 2">
            <a:extLst>
              <a:ext uri="{FF2B5EF4-FFF2-40B4-BE49-F238E27FC236}">
                <a16:creationId xmlns:a16="http://schemas.microsoft.com/office/drawing/2014/main" id="{6D77979A-A01F-307C-F152-3CC70F8A1BC3}"/>
              </a:ext>
            </a:extLst>
          </p:cNvPr>
          <p:cNvSpPr>
            <a:spLocks noGrp="1"/>
          </p:cNvSpPr>
          <p:nvPr>
            <p:ph idx="1"/>
          </p:nvPr>
        </p:nvSpPr>
        <p:spPr>
          <a:xfrm>
            <a:off x="343706" y="3117706"/>
            <a:ext cx="10653579" cy="4593828"/>
          </a:xfrm>
        </p:spPr>
        <p:txBody>
          <a:bodyPr>
            <a:normAutofit/>
          </a:bodyPr>
          <a:lstStyle/>
          <a:p>
            <a:r>
              <a:rPr lang="en-US" dirty="0"/>
              <a:t>the update to the x variable is atomic, the update to the y variable is not, and thus it could be the possible cause of a race condition. In that case a critical directive should be used instead.</a:t>
            </a:r>
          </a:p>
        </p:txBody>
      </p:sp>
      <p:pic>
        <p:nvPicPr>
          <p:cNvPr id="6" name="Picture 5">
            <a:extLst>
              <a:ext uri="{FF2B5EF4-FFF2-40B4-BE49-F238E27FC236}">
                <a16:creationId xmlns:a16="http://schemas.microsoft.com/office/drawing/2014/main" id="{7CCF81F1-655B-95CC-03FE-ABFBC0A48164}"/>
              </a:ext>
            </a:extLst>
          </p:cNvPr>
          <p:cNvPicPr>
            <a:picLocks noChangeAspect="1"/>
          </p:cNvPicPr>
          <p:nvPr/>
        </p:nvPicPr>
        <p:blipFill>
          <a:blip r:embed="rId2"/>
          <a:stretch>
            <a:fillRect/>
          </a:stretch>
        </p:blipFill>
        <p:spPr>
          <a:xfrm>
            <a:off x="3079459" y="1791147"/>
            <a:ext cx="4332559" cy="847843"/>
          </a:xfrm>
          <a:prstGeom prst="rect">
            <a:avLst/>
          </a:prstGeom>
        </p:spPr>
      </p:pic>
    </p:spTree>
    <p:extLst>
      <p:ext uri="{BB962C8B-B14F-4D97-AF65-F5344CB8AC3E}">
        <p14:creationId xmlns:p14="http://schemas.microsoft.com/office/powerpoint/2010/main" val="2262568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B5A4C-F1F5-EEF1-B81A-608019103310}"/>
              </a:ext>
            </a:extLst>
          </p:cNvPr>
          <p:cNvSpPr>
            <a:spLocks noGrp="1"/>
          </p:cNvSpPr>
          <p:nvPr>
            <p:ph type="title"/>
          </p:nvPr>
        </p:nvSpPr>
        <p:spPr/>
        <p:txBody>
          <a:bodyPr/>
          <a:lstStyle/>
          <a:p>
            <a:r>
              <a:rPr lang="en-US" dirty="0"/>
              <a:t>Exercise 5</a:t>
            </a:r>
          </a:p>
        </p:txBody>
      </p:sp>
      <p:sp>
        <p:nvSpPr>
          <p:cNvPr id="3" name="Content Placeholder 2">
            <a:extLst>
              <a:ext uri="{FF2B5EF4-FFF2-40B4-BE49-F238E27FC236}">
                <a16:creationId xmlns:a16="http://schemas.microsoft.com/office/drawing/2014/main" id="{9B432CF9-176C-3FD0-570F-B4E90435364A}"/>
              </a:ext>
            </a:extLst>
          </p:cNvPr>
          <p:cNvSpPr>
            <a:spLocks noGrp="1"/>
          </p:cNvSpPr>
          <p:nvPr>
            <p:ph idx="1"/>
          </p:nvPr>
        </p:nvSpPr>
        <p:spPr/>
        <p:txBody>
          <a:bodyPr/>
          <a:lstStyle/>
          <a:p>
            <a:r>
              <a:rPr lang="en-US" dirty="0"/>
              <a:t>Modify PI program to avoid false sharing</a:t>
            </a:r>
          </a:p>
        </p:txBody>
      </p:sp>
    </p:spTree>
    <p:extLst>
      <p:ext uri="{BB962C8B-B14F-4D97-AF65-F5344CB8AC3E}">
        <p14:creationId xmlns:p14="http://schemas.microsoft.com/office/powerpoint/2010/main" val="146510139"/>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1792</TotalTime>
  <Words>1057</Words>
  <Application>Microsoft Office PowerPoint</Application>
  <PresentationFormat>Widescreen</PresentationFormat>
  <Paragraphs>98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Neue Haas Grotesk Text Pro</vt:lpstr>
      <vt:lpstr>Wingdings</vt:lpstr>
      <vt:lpstr>VanillaVTI</vt:lpstr>
      <vt:lpstr>Parallel computing</vt:lpstr>
      <vt:lpstr>Reduction clause what happen if we can’t remove dependency??</vt:lpstr>
      <vt:lpstr>PowerPoint Presentation</vt:lpstr>
      <vt:lpstr>PowerPoint Presentation</vt:lpstr>
      <vt:lpstr>Synchronization  how to solve race condition??</vt:lpstr>
      <vt:lpstr>Synchronization  how to solve race condition??</vt:lpstr>
      <vt:lpstr>Synchronization  Barrie, critical, atomic</vt:lpstr>
      <vt:lpstr>Synchronization  Barrie, critical, atomic</vt:lpstr>
      <vt:lpstr>Synchronization  Barrie, critical, atomic</vt:lpstr>
      <vt:lpstr>Synchronization  Barrie, critical, atomic</vt:lpstr>
      <vt:lpstr>Synchronization  Barrie, critical, atomic</vt:lpstr>
      <vt:lpstr>Exercise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Mariam Malak</dc:creator>
  <cp:lastModifiedBy>Mariam Malak</cp:lastModifiedBy>
  <cp:revision>15</cp:revision>
  <dcterms:created xsi:type="dcterms:W3CDTF">2026-02-12T13:52:08Z</dcterms:created>
  <dcterms:modified xsi:type="dcterms:W3CDTF">2026-02-28T21:46:02Z</dcterms:modified>
</cp:coreProperties>
</file>