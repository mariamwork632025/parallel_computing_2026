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2"/>
  </p:notesMasterIdLst>
  <p:sldIdLst>
    <p:sldId id="256" r:id="rId2"/>
    <p:sldId id="305" r:id="rId3"/>
    <p:sldId id="285" r:id="rId4"/>
    <p:sldId id="306" r:id="rId5"/>
    <p:sldId id="307" r:id="rId6"/>
    <p:sldId id="308" r:id="rId7"/>
    <p:sldId id="309" r:id="rId8"/>
    <p:sldId id="310" r:id="rId9"/>
    <p:sldId id="311" r:id="rId10"/>
    <p:sldId id="30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71C2"/>
    <a:srgbClr val="82B4DD"/>
    <a:srgbClr val="2772B7"/>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922" autoAdjust="0"/>
  </p:normalViewPr>
  <p:slideViewPr>
    <p:cSldViewPr snapToGrid="0">
      <p:cViewPr varScale="1">
        <p:scale>
          <a:sx n="71" d="100"/>
          <a:sy n="71" d="100"/>
        </p:scale>
        <p:origin x="113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A22530-92FE-4C3F-9B3B-BCC6CE1117E9}" type="datetimeFigureOut">
              <a:rPr lang="en-US" smtClean="0"/>
              <a:t>3/6/2026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8E562-24ED-41D7-AEB8-880B26994F1F}" type="slidenum">
              <a:rPr lang="en-US" smtClean="0"/>
              <a:t>‹#›</a:t>
            </a:fld>
            <a:endParaRPr lang="en-US"/>
          </a:p>
        </p:txBody>
      </p:sp>
    </p:spTree>
    <p:extLst>
      <p:ext uri="{BB962C8B-B14F-4D97-AF65-F5344CB8AC3E}">
        <p14:creationId xmlns:p14="http://schemas.microsoft.com/office/powerpoint/2010/main" val="2188170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90084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8422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3/6/2026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109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2060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3/6/2026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4098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1459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3/6/2026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029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3/6/2026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36017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3/6/2026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185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3/6/2026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6903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3/6/2026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1921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171C2">
            <a:alpha val="8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3/6/2026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5907349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583447EF-0A89-8D11-D654-A72B4E49FCBC}"/>
              </a:ext>
            </a:extLst>
          </p:cNvPr>
          <p:cNvPicPr>
            <a:picLocks noChangeAspect="1"/>
          </p:cNvPicPr>
          <p:nvPr/>
        </p:nvPicPr>
        <p:blipFill>
          <a:blip r:embed="rId2">
            <a:extLst>
              <a:ext uri="{28A0092B-C50C-407E-A947-70E740481C1C}">
                <a14:useLocalDpi xmlns:a14="http://schemas.microsoft.com/office/drawing/2010/main" val="0"/>
              </a:ext>
            </a:extLst>
          </a:blip>
          <a:srcRect t="12500" b="12500"/>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9929D53-5DEF-676E-7A33-156FB769F7F9}"/>
              </a:ext>
            </a:extLst>
          </p:cNvPr>
          <p:cNvSpPr>
            <a:spLocks noGrp="1"/>
          </p:cNvSpPr>
          <p:nvPr>
            <p:ph type="ctrTitle"/>
          </p:nvPr>
        </p:nvSpPr>
        <p:spPr>
          <a:xfrm>
            <a:off x="7473219" y="898373"/>
            <a:ext cx="4470544" cy="3474720"/>
          </a:xfrm>
        </p:spPr>
        <p:txBody>
          <a:bodyPr anchor="b">
            <a:normAutofit/>
          </a:bodyPr>
          <a:lstStyle/>
          <a:p>
            <a:pPr algn="l"/>
            <a:r>
              <a:rPr lang="en-US" sz="5800"/>
              <a:t>Parallel</a:t>
            </a:r>
            <a:br>
              <a:rPr lang="en-US" sz="5800"/>
            </a:br>
            <a:r>
              <a:rPr lang="en-US" sz="5800"/>
              <a:t>computing</a:t>
            </a:r>
            <a:endParaRPr lang="en-US" sz="5800" dirty="0"/>
          </a:p>
        </p:txBody>
      </p:sp>
      <p:sp>
        <p:nvSpPr>
          <p:cNvPr id="3" name="Subtitle 2">
            <a:extLst>
              <a:ext uri="{FF2B5EF4-FFF2-40B4-BE49-F238E27FC236}">
                <a16:creationId xmlns:a16="http://schemas.microsoft.com/office/drawing/2014/main" id="{30B473AC-FAE5-08F1-B10B-0BB328814639}"/>
              </a:ext>
            </a:extLst>
          </p:cNvPr>
          <p:cNvSpPr>
            <a:spLocks noGrp="1"/>
          </p:cNvSpPr>
          <p:nvPr>
            <p:ph type="subTitle" idx="1"/>
          </p:nvPr>
        </p:nvSpPr>
        <p:spPr>
          <a:xfrm>
            <a:off x="7482646" y="4495013"/>
            <a:ext cx="4116410" cy="1386840"/>
          </a:xfrm>
        </p:spPr>
        <p:txBody>
          <a:bodyPr anchor="t">
            <a:normAutofit/>
          </a:bodyPr>
          <a:lstStyle/>
          <a:p>
            <a:pPr algn="l"/>
            <a:r>
              <a:rPr lang="en-US" sz="2200" dirty="0"/>
              <a:t>Sec.8</a:t>
            </a:r>
          </a:p>
          <a:p>
            <a:pPr algn="l"/>
            <a:r>
              <a:rPr lang="en-US" sz="2200" dirty="0"/>
              <a:t>Eng/ Mariam Malak</a:t>
            </a:r>
          </a:p>
        </p:txBody>
      </p:sp>
    </p:spTree>
    <p:extLst>
      <p:ext uri="{BB962C8B-B14F-4D97-AF65-F5344CB8AC3E}">
        <p14:creationId xmlns:p14="http://schemas.microsoft.com/office/powerpoint/2010/main" val="177730384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B5A4C-F1F5-EEF1-B81A-608019103310}"/>
              </a:ext>
            </a:extLst>
          </p:cNvPr>
          <p:cNvSpPr>
            <a:spLocks noGrp="1"/>
          </p:cNvSpPr>
          <p:nvPr>
            <p:ph type="title"/>
          </p:nvPr>
        </p:nvSpPr>
        <p:spPr/>
        <p:txBody>
          <a:bodyPr/>
          <a:lstStyle/>
          <a:p>
            <a:r>
              <a:rPr lang="en-US" dirty="0"/>
              <a:t>Exercise 5</a:t>
            </a:r>
          </a:p>
        </p:txBody>
      </p:sp>
      <p:sp>
        <p:nvSpPr>
          <p:cNvPr id="3" name="Content Placeholder 2">
            <a:extLst>
              <a:ext uri="{FF2B5EF4-FFF2-40B4-BE49-F238E27FC236}">
                <a16:creationId xmlns:a16="http://schemas.microsoft.com/office/drawing/2014/main" id="{9B432CF9-176C-3FD0-570F-B4E90435364A}"/>
              </a:ext>
            </a:extLst>
          </p:cNvPr>
          <p:cNvSpPr>
            <a:spLocks noGrp="1"/>
          </p:cNvSpPr>
          <p:nvPr>
            <p:ph idx="1"/>
          </p:nvPr>
        </p:nvSpPr>
        <p:spPr/>
        <p:txBody>
          <a:bodyPr/>
          <a:lstStyle/>
          <a:p>
            <a:r>
              <a:rPr lang="en-US" dirty="0"/>
              <a:t>Modify PI program to avoid false sharing</a:t>
            </a:r>
          </a:p>
        </p:txBody>
      </p:sp>
    </p:spTree>
    <p:extLst>
      <p:ext uri="{BB962C8B-B14F-4D97-AF65-F5344CB8AC3E}">
        <p14:creationId xmlns:p14="http://schemas.microsoft.com/office/powerpoint/2010/main" val="990773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7A321-9B4A-415B-B92B-0410EDB07BB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998DAC-91F4-4ABA-F88C-B22D9A31F82F}"/>
              </a:ext>
            </a:extLst>
          </p:cNvPr>
          <p:cNvSpPr>
            <a:spLocks noGrp="1"/>
          </p:cNvSpPr>
          <p:nvPr>
            <p:ph type="title"/>
          </p:nvPr>
        </p:nvSpPr>
        <p:spPr>
          <a:xfrm>
            <a:off x="233604" y="194557"/>
            <a:ext cx="5862396" cy="708166"/>
          </a:xfrm>
        </p:spPr>
        <p:txBody>
          <a:bodyPr anchor="b">
            <a:normAutofit fontScale="90000"/>
          </a:bodyPr>
          <a:lstStyle/>
          <a:p>
            <a:r>
              <a:rPr lang="en-US" sz="3300" dirty="0"/>
              <a:t>Implicit and explicit barriers</a:t>
            </a:r>
            <a:br>
              <a:rPr lang="en-US" sz="3300" dirty="0"/>
            </a:br>
            <a:r>
              <a:rPr lang="en-US" sz="1700" b="0" dirty="0"/>
              <a:t>where barriers are implied and where barriers are explicit?</a:t>
            </a:r>
          </a:p>
        </p:txBody>
      </p:sp>
      <p:sp>
        <p:nvSpPr>
          <p:cNvPr id="3" name="Content Placeholder 2">
            <a:extLst>
              <a:ext uri="{FF2B5EF4-FFF2-40B4-BE49-F238E27FC236}">
                <a16:creationId xmlns:a16="http://schemas.microsoft.com/office/drawing/2014/main" id="{179AB40D-D607-FB6C-94C1-5F9A26DB02C3}"/>
              </a:ext>
            </a:extLst>
          </p:cNvPr>
          <p:cNvSpPr>
            <a:spLocks noGrp="1"/>
          </p:cNvSpPr>
          <p:nvPr>
            <p:ph idx="1"/>
          </p:nvPr>
        </p:nvSpPr>
        <p:spPr>
          <a:xfrm>
            <a:off x="233604" y="1124550"/>
            <a:ext cx="11958396" cy="5631251"/>
          </a:xfrm>
        </p:spPr>
        <p:txBody>
          <a:bodyPr>
            <a:normAutofit fontScale="92500" lnSpcReduction="20000"/>
          </a:bodyPr>
          <a:lstStyle/>
          <a:p>
            <a:pPr>
              <a:lnSpc>
                <a:spcPct val="110000"/>
              </a:lnSpc>
            </a:pPr>
            <a:r>
              <a:rPr lang="en-US" sz="1600" b="1" dirty="0"/>
              <a:t>Explicit</a:t>
            </a:r>
            <a:r>
              <a:rPr lang="en-US" sz="1600" dirty="0"/>
              <a:t> </a:t>
            </a:r>
            <a:r>
              <a:rPr lang="en-US" sz="1600" dirty="0">
                <a:sym typeface="Wingdings" panose="05000000000000000000" pitchFamily="2" charset="2"/>
              </a:rPr>
              <a:t> is where you need a barrier and put it there for you </a:t>
            </a:r>
          </a:p>
          <a:p>
            <a:pPr>
              <a:lnSpc>
                <a:spcPct val="110000"/>
              </a:lnSpc>
            </a:pPr>
            <a:r>
              <a:rPr lang="en-US" sz="1600" dirty="0"/>
              <a:t>A synchronization point that programmers deliberately insert in code.</a:t>
            </a:r>
          </a:p>
          <a:p>
            <a:pPr>
              <a:lnSpc>
                <a:spcPct val="110000"/>
              </a:lnSpc>
            </a:pPr>
            <a:r>
              <a:rPr lang="en-US" altLang="en-US" sz="1600" dirty="0">
                <a:latin typeface="Arial" panose="020B0604020202020204" pitchFamily="34" charset="0"/>
              </a:rPr>
              <a:t>All threads must stop and wait until every thread reaches this barrier before continuing </a:t>
            </a:r>
          </a:p>
          <a:p>
            <a:pPr marL="0" indent="0">
              <a:lnSpc>
                <a:spcPct val="110000"/>
              </a:lnSpc>
              <a:buNone/>
            </a:pPr>
            <a:endParaRPr lang="en-US" altLang="en-US" sz="1600" dirty="0">
              <a:latin typeface="Arial" panose="020B0604020202020204" pitchFamily="34" charset="0"/>
            </a:endParaRPr>
          </a:p>
          <a:p>
            <a:pPr marL="0" indent="0">
              <a:lnSpc>
                <a:spcPct val="110000"/>
              </a:lnSpc>
              <a:buNone/>
            </a:pPr>
            <a:endParaRPr lang="en-US" sz="1600" dirty="0">
              <a:latin typeface="Arial" panose="020B0604020202020204" pitchFamily="34" charset="0"/>
            </a:endParaRPr>
          </a:p>
          <a:p>
            <a:pPr marL="0" indent="0">
              <a:lnSpc>
                <a:spcPct val="110000"/>
              </a:lnSpc>
              <a:buNone/>
            </a:pPr>
            <a:endParaRPr lang="en-US" sz="1600" dirty="0"/>
          </a:p>
          <a:p>
            <a:pPr>
              <a:lnSpc>
                <a:spcPct val="110000"/>
              </a:lnSpc>
            </a:pPr>
            <a:r>
              <a:rPr lang="en-US" sz="1600" dirty="0"/>
              <a:t>Here, the programmer explicitly tells the compiler: “Pause all threads here until everyone catches up.” </a:t>
            </a:r>
          </a:p>
          <a:p>
            <a:pPr>
              <a:lnSpc>
                <a:spcPct val="110000"/>
              </a:lnSpc>
            </a:pPr>
            <a:r>
              <a:rPr lang="en-US" sz="1600" b="1" dirty="0"/>
              <a:t>Implicit</a:t>
            </a:r>
            <a:r>
              <a:rPr lang="en-US" sz="1600" dirty="0"/>
              <a:t> </a:t>
            </a:r>
            <a:r>
              <a:rPr lang="en-US" sz="1600" dirty="0">
                <a:sym typeface="Wingdings" panose="05000000000000000000" pitchFamily="2" charset="2"/>
              </a:rPr>
              <a:t> </a:t>
            </a:r>
            <a:r>
              <a:rPr lang="en-US" sz="1600" dirty="0"/>
              <a:t>A synchronization point that happens automatically at certain constructs, even if the programmer doesn’t write it.</a:t>
            </a:r>
          </a:p>
          <a:p>
            <a:pPr>
              <a:lnSpc>
                <a:spcPct val="110000"/>
              </a:lnSpc>
            </a:pPr>
            <a:r>
              <a:rPr lang="en-US" sz="1600" dirty="0"/>
              <a:t>Threads wait at the end of parallel regions, work-sharing constructs (like for , sections , single ), unless the programmer disables it</a:t>
            </a:r>
          </a:p>
          <a:p>
            <a:pPr>
              <a:lnSpc>
                <a:spcPct val="110000"/>
              </a:lnSpc>
            </a:pPr>
            <a:r>
              <a:rPr lang="en-US" sz="1600" dirty="0"/>
              <a:t>All work sharing constructs in OpenMP comes along default behavior is there’s a barrier at the end of that construct.</a:t>
            </a:r>
          </a:p>
          <a:p>
            <a:pPr>
              <a:lnSpc>
                <a:spcPct val="110000"/>
              </a:lnSpc>
            </a:pPr>
            <a:endParaRPr lang="en-US" sz="1600" dirty="0"/>
          </a:p>
          <a:p>
            <a:pPr>
              <a:lnSpc>
                <a:spcPct val="110000"/>
              </a:lnSpc>
            </a:pPr>
            <a:endParaRPr lang="en-US" sz="1600" dirty="0"/>
          </a:p>
          <a:p>
            <a:pPr>
              <a:lnSpc>
                <a:spcPct val="110000"/>
              </a:lnSpc>
            </a:pPr>
            <a:endParaRPr lang="en-US" sz="1600" dirty="0"/>
          </a:p>
          <a:p>
            <a:pPr>
              <a:lnSpc>
                <a:spcPct val="110000"/>
              </a:lnSpc>
            </a:pPr>
            <a:endParaRPr lang="en-US" sz="1600" dirty="0"/>
          </a:p>
          <a:p>
            <a:pPr>
              <a:lnSpc>
                <a:spcPct val="110000"/>
              </a:lnSpc>
            </a:pPr>
            <a:r>
              <a:rPr lang="en-US" sz="1600" dirty="0"/>
              <a:t>By default, there’s an implicit barrier at the end of this loop. </a:t>
            </a:r>
          </a:p>
          <a:p>
            <a:pPr>
              <a:lnSpc>
                <a:spcPct val="110000"/>
              </a:lnSpc>
            </a:pPr>
            <a:r>
              <a:rPr lang="en-US" sz="1600" dirty="0"/>
              <a:t>All threads finish their assigned iterations before moving forward.</a:t>
            </a:r>
          </a:p>
          <a:p>
            <a:pPr>
              <a:lnSpc>
                <a:spcPct val="110000"/>
              </a:lnSpc>
            </a:pPr>
            <a:r>
              <a:rPr lang="en-US" sz="1600" dirty="0"/>
              <a:t>Means no threads go beyond the end of that loop until all the threads have finished.</a:t>
            </a:r>
          </a:p>
          <a:p>
            <a:pPr>
              <a:lnSpc>
                <a:spcPct val="110000"/>
              </a:lnSpc>
            </a:pPr>
            <a:endParaRPr lang="en-US" sz="1600" dirty="0"/>
          </a:p>
        </p:txBody>
      </p:sp>
      <p:pic>
        <p:nvPicPr>
          <p:cNvPr id="9" name="Picture 8">
            <a:extLst>
              <a:ext uri="{FF2B5EF4-FFF2-40B4-BE49-F238E27FC236}">
                <a16:creationId xmlns:a16="http://schemas.microsoft.com/office/drawing/2014/main" id="{ED84FA14-71C0-6EAD-5876-7991686B9AA3}"/>
              </a:ext>
            </a:extLst>
          </p:cNvPr>
          <p:cNvPicPr>
            <a:picLocks noChangeAspect="1"/>
          </p:cNvPicPr>
          <p:nvPr/>
        </p:nvPicPr>
        <p:blipFill>
          <a:blip r:embed="rId2"/>
          <a:stretch>
            <a:fillRect/>
          </a:stretch>
        </p:blipFill>
        <p:spPr>
          <a:xfrm>
            <a:off x="1569142" y="2198468"/>
            <a:ext cx="3191320" cy="619211"/>
          </a:xfrm>
          <a:prstGeom prst="rect">
            <a:avLst/>
          </a:prstGeom>
        </p:spPr>
      </p:pic>
      <p:pic>
        <p:nvPicPr>
          <p:cNvPr id="14" name="Picture 13">
            <a:extLst>
              <a:ext uri="{FF2B5EF4-FFF2-40B4-BE49-F238E27FC236}">
                <a16:creationId xmlns:a16="http://schemas.microsoft.com/office/drawing/2014/main" id="{61743869-6674-BA99-7B53-93DCDB3F607F}"/>
              </a:ext>
            </a:extLst>
          </p:cNvPr>
          <p:cNvPicPr>
            <a:picLocks noChangeAspect="1"/>
          </p:cNvPicPr>
          <p:nvPr/>
        </p:nvPicPr>
        <p:blipFill>
          <a:blip r:embed="rId3"/>
          <a:stretch>
            <a:fillRect/>
          </a:stretch>
        </p:blipFill>
        <p:spPr>
          <a:xfrm>
            <a:off x="1661714" y="4522049"/>
            <a:ext cx="3296110" cy="1114581"/>
          </a:xfrm>
          <a:prstGeom prst="rect">
            <a:avLst/>
          </a:prstGeom>
        </p:spPr>
      </p:pic>
    </p:spTree>
    <p:extLst>
      <p:ext uri="{BB962C8B-B14F-4D97-AF65-F5344CB8AC3E}">
        <p14:creationId xmlns:p14="http://schemas.microsoft.com/office/powerpoint/2010/main" val="2019575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40534-C46D-47BF-64F5-FAC51443B56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4ACB7CD-2A4D-B7EB-04C4-8A04594F0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82922A-D510-6A6F-0ABB-B0C833EDBBC0}"/>
              </a:ext>
            </a:extLst>
          </p:cNvPr>
          <p:cNvSpPr>
            <a:spLocks noGrp="1"/>
          </p:cNvSpPr>
          <p:nvPr>
            <p:ph type="title"/>
          </p:nvPr>
        </p:nvSpPr>
        <p:spPr>
          <a:xfrm>
            <a:off x="233604" y="194557"/>
            <a:ext cx="5862396" cy="708166"/>
          </a:xfrm>
        </p:spPr>
        <p:txBody>
          <a:bodyPr anchor="b">
            <a:normAutofit fontScale="90000"/>
          </a:bodyPr>
          <a:lstStyle/>
          <a:p>
            <a:r>
              <a:rPr lang="en-US" sz="3300" dirty="0"/>
              <a:t>Implicit and explicit barriers</a:t>
            </a:r>
            <a:br>
              <a:rPr lang="en-US" sz="3300" dirty="0"/>
            </a:br>
            <a:r>
              <a:rPr lang="en-US" sz="1700" b="0" dirty="0"/>
              <a:t>barrier overhead</a:t>
            </a:r>
          </a:p>
        </p:txBody>
      </p:sp>
      <p:sp>
        <p:nvSpPr>
          <p:cNvPr id="3" name="Content Placeholder 2">
            <a:extLst>
              <a:ext uri="{FF2B5EF4-FFF2-40B4-BE49-F238E27FC236}">
                <a16:creationId xmlns:a16="http://schemas.microsoft.com/office/drawing/2014/main" id="{14ECDCFD-2B3C-A27E-623F-029D1E4DA3F8}"/>
              </a:ext>
            </a:extLst>
          </p:cNvPr>
          <p:cNvSpPr>
            <a:spLocks noGrp="1"/>
          </p:cNvSpPr>
          <p:nvPr>
            <p:ph idx="1"/>
          </p:nvPr>
        </p:nvSpPr>
        <p:spPr>
          <a:xfrm>
            <a:off x="233604" y="1124550"/>
            <a:ext cx="11958396" cy="5631251"/>
          </a:xfrm>
        </p:spPr>
        <p:txBody>
          <a:bodyPr>
            <a:normAutofit/>
          </a:bodyPr>
          <a:lstStyle/>
          <a:p>
            <a:pPr>
              <a:lnSpc>
                <a:spcPct val="110000"/>
              </a:lnSpc>
            </a:pPr>
            <a:r>
              <a:rPr lang="en-US" sz="1600" dirty="0">
                <a:sym typeface="Wingdings" panose="05000000000000000000" pitchFamily="2" charset="2"/>
              </a:rPr>
              <a:t>Any time you’re throwing synchronization constructs [barriers, critical section, atomics] these add overhead.</a:t>
            </a:r>
          </a:p>
          <a:p>
            <a:pPr>
              <a:lnSpc>
                <a:spcPct val="110000"/>
              </a:lnSpc>
            </a:pPr>
            <a:r>
              <a:rPr lang="en-US" sz="1600" dirty="0">
                <a:sym typeface="Wingdings" panose="05000000000000000000" pitchFamily="2" charset="2"/>
              </a:rPr>
              <a:t>Remember if someone’s sitting and waiting at barrier for everyone else to finish, they’re not doing useful work that kills performance.</a:t>
            </a:r>
          </a:p>
          <a:p>
            <a:pPr>
              <a:lnSpc>
                <a:spcPct val="110000"/>
              </a:lnSpc>
            </a:pPr>
            <a:r>
              <a:rPr lang="en-US" sz="1600" dirty="0">
                <a:sym typeface="Wingdings" panose="05000000000000000000" pitchFamily="2" charset="2"/>
              </a:rPr>
              <a:t>Sometimes, I don’t want to wait in the barrier after finishing a big calculation, I just want to continue my code.</a:t>
            </a:r>
          </a:p>
          <a:p>
            <a:pPr>
              <a:lnSpc>
                <a:spcPct val="110000"/>
              </a:lnSpc>
            </a:pPr>
            <a:r>
              <a:rPr lang="en-US" sz="1600" dirty="0">
                <a:sym typeface="Wingdings" panose="05000000000000000000" pitchFamily="2" charset="2"/>
              </a:rPr>
              <a:t>In this case we want to disable the implicit barrier.</a:t>
            </a:r>
          </a:p>
          <a:p>
            <a:pPr>
              <a:lnSpc>
                <a:spcPct val="110000"/>
              </a:lnSpc>
            </a:pPr>
            <a:r>
              <a:rPr lang="en-US" sz="1600" dirty="0">
                <a:sym typeface="Wingdings" panose="05000000000000000000" pitchFamily="2" charset="2"/>
              </a:rPr>
              <a:t>To do this we add </a:t>
            </a:r>
            <a:r>
              <a:rPr lang="en-US" sz="1600" b="1" dirty="0">
                <a:sym typeface="Wingdings" panose="05000000000000000000" pitchFamily="2" charset="2"/>
              </a:rPr>
              <a:t>no wait </a:t>
            </a:r>
            <a:r>
              <a:rPr lang="en-US" sz="1600" dirty="0">
                <a:sym typeface="Wingdings" panose="05000000000000000000" pitchFamily="2" charset="2"/>
              </a:rPr>
              <a:t>to the construct.</a:t>
            </a:r>
          </a:p>
          <a:p>
            <a:pPr>
              <a:lnSpc>
                <a:spcPct val="110000"/>
              </a:lnSpc>
            </a:pPr>
            <a:r>
              <a:rPr lang="en-US" sz="1600" dirty="0">
                <a:sym typeface="Wingdings" panose="05000000000000000000" pitchFamily="2" charset="2"/>
              </a:rPr>
              <a:t>No wait clause says  don’t put that barrier at the end of this loop, skip it.</a:t>
            </a:r>
          </a:p>
        </p:txBody>
      </p:sp>
      <p:pic>
        <p:nvPicPr>
          <p:cNvPr id="5" name="Picture 4">
            <a:extLst>
              <a:ext uri="{FF2B5EF4-FFF2-40B4-BE49-F238E27FC236}">
                <a16:creationId xmlns:a16="http://schemas.microsoft.com/office/drawing/2014/main" id="{239A5ED8-E6A1-7446-E4CF-CA3F48D037B8}"/>
              </a:ext>
            </a:extLst>
          </p:cNvPr>
          <p:cNvPicPr>
            <a:picLocks noChangeAspect="1"/>
          </p:cNvPicPr>
          <p:nvPr/>
        </p:nvPicPr>
        <p:blipFill>
          <a:blip r:embed="rId2"/>
          <a:stretch>
            <a:fillRect/>
          </a:stretch>
        </p:blipFill>
        <p:spPr>
          <a:xfrm>
            <a:off x="799713" y="3940175"/>
            <a:ext cx="6354062" cy="1219370"/>
          </a:xfrm>
          <a:prstGeom prst="rect">
            <a:avLst/>
          </a:prstGeom>
        </p:spPr>
      </p:pic>
    </p:spTree>
    <p:extLst>
      <p:ext uri="{BB962C8B-B14F-4D97-AF65-F5344CB8AC3E}">
        <p14:creationId xmlns:p14="http://schemas.microsoft.com/office/powerpoint/2010/main" val="242312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D95C9-B5A0-1CC5-1C02-B4C889124AB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9648FD0-06C8-6D0F-EEFD-0A4A8DE95B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686D59-9415-9D8C-C091-5B237E26A869}"/>
              </a:ext>
            </a:extLst>
          </p:cNvPr>
          <p:cNvSpPr>
            <a:spLocks noGrp="1"/>
          </p:cNvSpPr>
          <p:nvPr>
            <p:ph type="title"/>
          </p:nvPr>
        </p:nvSpPr>
        <p:spPr>
          <a:xfrm>
            <a:off x="233604" y="0"/>
            <a:ext cx="5862396" cy="708166"/>
          </a:xfrm>
        </p:spPr>
        <p:txBody>
          <a:bodyPr anchor="b">
            <a:normAutofit fontScale="90000"/>
          </a:bodyPr>
          <a:lstStyle/>
          <a:p>
            <a:r>
              <a:rPr lang="en-US" sz="3300" dirty="0"/>
              <a:t>Synchronization con.</a:t>
            </a:r>
            <a:br>
              <a:rPr lang="en-US" sz="3300" dirty="0"/>
            </a:br>
            <a:r>
              <a:rPr lang="en-US" sz="1700" dirty="0"/>
              <a:t>Ordered</a:t>
            </a:r>
            <a:r>
              <a:rPr lang="en-US" sz="1700" b="0" dirty="0"/>
              <a:t> , master , single , sections/section</a:t>
            </a:r>
          </a:p>
        </p:txBody>
      </p:sp>
      <p:sp>
        <p:nvSpPr>
          <p:cNvPr id="3" name="Content Placeholder 2">
            <a:extLst>
              <a:ext uri="{FF2B5EF4-FFF2-40B4-BE49-F238E27FC236}">
                <a16:creationId xmlns:a16="http://schemas.microsoft.com/office/drawing/2014/main" id="{B8B94966-DEA1-B128-8492-FFF475BCF96A}"/>
              </a:ext>
            </a:extLst>
          </p:cNvPr>
          <p:cNvSpPr>
            <a:spLocks noGrp="1"/>
          </p:cNvSpPr>
          <p:nvPr>
            <p:ph idx="1"/>
          </p:nvPr>
        </p:nvSpPr>
        <p:spPr>
          <a:xfrm>
            <a:off x="116802" y="708166"/>
            <a:ext cx="11958396" cy="5631251"/>
          </a:xfrm>
        </p:spPr>
        <p:txBody>
          <a:bodyPr>
            <a:normAutofit/>
          </a:bodyPr>
          <a:lstStyle/>
          <a:p>
            <a:pPr>
              <a:lnSpc>
                <a:spcPct val="110000"/>
              </a:lnSpc>
            </a:pPr>
            <a:r>
              <a:rPr lang="en-US" sz="1600" dirty="0"/>
              <a:t>Is used inside a </a:t>
            </a:r>
            <a:r>
              <a:rPr lang="en-US" sz="1600" b="1" dirty="0"/>
              <a:t>parallel for </a:t>
            </a:r>
            <a:r>
              <a:rPr lang="en-US" sz="1600" dirty="0"/>
              <a:t>region to enforce the sequential execution of the structured block it heads.</a:t>
            </a:r>
          </a:p>
          <a:p>
            <a:pPr>
              <a:lnSpc>
                <a:spcPct val="110000"/>
              </a:lnSpc>
            </a:pPr>
            <a:r>
              <a:rPr lang="en-US" sz="1600" dirty="0"/>
              <a:t> So while the iterations of a for loop may be partitioned according to the schedule clause and assigned to different threads to execute out-of-order, the ordered block has to execute as if it was done sequentially.</a:t>
            </a:r>
          </a:p>
          <a:p>
            <a:pPr>
              <a:lnSpc>
                <a:spcPct val="110000"/>
              </a:lnSpc>
            </a:pPr>
            <a:r>
              <a:rPr lang="en-US" sz="1600" dirty="0"/>
              <a:t> The consequence is that if two threads are assigned successive groups of loop iterations, the second thread will have to block at the entry of its ordered block, until the first thread completes its own ordered block(s).</a:t>
            </a:r>
          </a:p>
          <a:p>
            <a:pPr>
              <a:lnSpc>
                <a:spcPct val="110000"/>
              </a:lnSpc>
            </a:pPr>
            <a:r>
              <a:rPr lang="en-US" sz="1600" dirty="0"/>
              <a:t>Any type of schedule can be used in a parallel for that contains an ordered directive.</a:t>
            </a:r>
          </a:p>
          <a:p>
            <a:pPr>
              <a:lnSpc>
                <a:spcPct val="110000"/>
              </a:lnSpc>
            </a:pPr>
            <a:r>
              <a:rPr lang="en-US" sz="1600" dirty="0"/>
              <a:t> The only restriction is that the parallel for must have an ordered clause specified. </a:t>
            </a:r>
          </a:p>
          <a:p>
            <a:pPr>
              <a:lnSpc>
                <a:spcPct val="110000"/>
              </a:lnSpc>
            </a:pPr>
            <a:r>
              <a:rPr lang="en-US" sz="1600" dirty="0"/>
              <a:t>However, if the ordered block is executed in every iteration, a static or dynamic schedule with a chunk size of 1 should maximize the concurrency potential. </a:t>
            </a:r>
          </a:p>
          <a:p>
            <a:pPr>
              <a:lnSpc>
                <a:spcPct val="110000"/>
              </a:lnSpc>
            </a:pPr>
            <a:r>
              <a:rPr lang="en-US" sz="1600" dirty="0"/>
              <a:t>On the other hand, a guided schedule will result in a mostly sequential execution</a:t>
            </a:r>
          </a:p>
          <a:p>
            <a:pPr>
              <a:lnSpc>
                <a:spcPct val="110000"/>
              </a:lnSpc>
            </a:pPr>
            <a:r>
              <a:rPr lang="en-US" sz="1600" b="1" dirty="0"/>
              <a:t>In short</a:t>
            </a:r>
            <a:r>
              <a:rPr lang="en-US" sz="1600" dirty="0"/>
              <a:t>: </a:t>
            </a:r>
            <a:r>
              <a:rPr lang="en-US" dirty="0"/>
              <a:t>ordered</a:t>
            </a:r>
            <a:r>
              <a:rPr lang="en-US" sz="1600" dirty="0"/>
              <a:t> is your tool when you want </a:t>
            </a:r>
            <a:r>
              <a:rPr lang="en-US" sz="1600" i="1" dirty="0"/>
              <a:t>parallelism with controlled sequential sections</a:t>
            </a:r>
            <a:endParaRPr lang="en-US" sz="1600" dirty="0"/>
          </a:p>
          <a:p>
            <a:pPr marL="0" indent="0">
              <a:lnSpc>
                <a:spcPct val="110000"/>
              </a:lnSpc>
              <a:buNone/>
            </a:pPr>
            <a:endParaRPr lang="en-US" sz="1600" dirty="0">
              <a:sym typeface="Wingdings" panose="05000000000000000000" pitchFamily="2" charset="2"/>
            </a:endParaRPr>
          </a:p>
        </p:txBody>
      </p:sp>
      <p:pic>
        <p:nvPicPr>
          <p:cNvPr id="6" name="Picture 5">
            <a:extLst>
              <a:ext uri="{FF2B5EF4-FFF2-40B4-BE49-F238E27FC236}">
                <a16:creationId xmlns:a16="http://schemas.microsoft.com/office/drawing/2014/main" id="{58A69EA4-6F2F-75C7-2E0B-2C82FC7E0445}"/>
              </a:ext>
            </a:extLst>
          </p:cNvPr>
          <p:cNvPicPr>
            <a:picLocks noChangeAspect="1"/>
          </p:cNvPicPr>
          <p:nvPr/>
        </p:nvPicPr>
        <p:blipFill>
          <a:blip r:embed="rId2"/>
          <a:stretch>
            <a:fillRect/>
          </a:stretch>
        </p:blipFill>
        <p:spPr>
          <a:xfrm>
            <a:off x="1685011" y="4684294"/>
            <a:ext cx="6773220" cy="2041358"/>
          </a:xfrm>
          <a:prstGeom prst="rect">
            <a:avLst/>
          </a:prstGeom>
        </p:spPr>
      </p:pic>
    </p:spTree>
    <p:extLst>
      <p:ext uri="{BB962C8B-B14F-4D97-AF65-F5344CB8AC3E}">
        <p14:creationId xmlns:p14="http://schemas.microsoft.com/office/powerpoint/2010/main" val="537119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171C2">
            <a:alpha val="8000"/>
          </a:srgbClr>
        </a:solidFill>
        <a:effectLst/>
      </p:bgPr>
    </p:bg>
    <p:spTree>
      <p:nvGrpSpPr>
        <p:cNvPr id="1" name="">
          <a:extLst>
            <a:ext uri="{FF2B5EF4-FFF2-40B4-BE49-F238E27FC236}">
              <a16:creationId xmlns:a16="http://schemas.microsoft.com/office/drawing/2014/main" id="{A4819D02-67EB-6798-89C6-FC8A7730E28A}"/>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7BA020-A274-5A30-A723-D92562163F63}"/>
              </a:ext>
            </a:extLst>
          </p:cNvPr>
          <p:cNvSpPr>
            <a:spLocks noGrp="1"/>
          </p:cNvSpPr>
          <p:nvPr>
            <p:ph type="title"/>
          </p:nvPr>
        </p:nvSpPr>
        <p:spPr>
          <a:xfrm>
            <a:off x="233604" y="403620"/>
            <a:ext cx="5862396" cy="702804"/>
          </a:xfrm>
        </p:spPr>
        <p:txBody>
          <a:bodyPr anchor="b">
            <a:normAutofit fontScale="90000"/>
          </a:bodyPr>
          <a:lstStyle/>
          <a:p>
            <a:r>
              <a:rPr lang="en-US" sz="3300" dirty="0"/>
              <a:t>Synchronization con.</a:t>
            </a:r>
            <a:br>
              <a:rPr lang="en-US" sz="3300" dirty="0"/>
            </a:br>
            <a:r>
              <a:rPr lang="en-US" sz="1500" b="0" dirty="0"/>
              <a:t>Ordered ,</a:t>
            </a:r>
            <a:r>
              <a:rPr lang="en-US" sz="1500" dirty="0"/>
              <a:t> master </a:t>
            </a:r>
            <a:r>
              <a:rPr lang="en-US" sz="1500" b="0" dirty="0"/>
              <a:t>, single , sections/section</a:t>
            </a:r>
          </a:p>
        </p:txBody>
      </p:sp>
      <p:sp>
        <p:nvSpPr>
          <p:cNvPr id="5" name="Content Placeholder 4">
            <a:extLst>
              <a:ext uri="{FF2B5EF4-FFF2-40B4-BE49-F238E27FC236}">
                <a16:creationId xmlns:a16="http://schemas.microsoft.com/office/drawing/2014/main" id="{F96186DE-7246-40D5-0D1B-789717ED766F}"/>
              </a:ext>
            </a:extLst>
          </p:cNvPr>
          <p:cNvSpPr>
            <a:spLocks noGrp="1"/>
          </p:cNvSpPr>
          <p:nvPr>
            <p:ph idx="1"/>
          </p:nvPr>
        </p:nvSpPr>
        <p:spPr>
          <a:xfrm>
            <a:off x="233604" y="1427748"/>
            <a:ext cx="6241440" cy="4881612"/>
          </a:xfrm>
        </p:spPr>
        <p:txBody>
          <a:bodyPr>
            <a:normAutofit/>
          </a:bodyPr>
          <a:lstStyle/>
          <a:p>
            <a:pPr>
              <a:lnSpc>
                <a:spcPct val="110000"/>
              </a:lnSpc>
            </a:pPr>
            <a:r>
              <a:rPr lang="en-US" sz="1500" dirty="0"/>
              <a:t>Forces only the master thread in a parallel region to execute a block of code. </a:t>
            </a:r>
          </a:p>
          <a:p>
            <a:pPr>
              <a:lnSpc>
                <a:spcPct val="110000"/>
              </a:lnSpc>
            </a:pPr>
            <a:r>
              <a:rPr lang="en-US" sz="1500" dirty="0"/>
              <a:t>The master directive has no associated clauses and no implied barrier on entry to or exit from the corresponding block. </a:t>
            </a:r>
          </a:p>
          <a:p>
            <a:pPr>
              <a:lnSpc>
                <a:spcPct val="110000"/>
              </a:lnSpc>
            </a:pPr>
            <a:r>
              <a:rPr lang="en-US" sz="1500" dirty="0"/>
              <a:t>This means that when a thread other than the master reaches this construct, it just skips over it.</a:t>
            </a:r>
          </a:p>
          <a:p>
            <a:pPr>
              <a:lnSpc>
                <a:spcPct val="110000"/>
              </a:lnSpc>
            </a:pPr>
            <a:r>
              <a:rPr lang="en-US" sz="1500" dirty="0"/>
              <a:t>Master construct says </a:t>
            </a:r>
            <a:r>
              <a:rPr lang="en-US" sz="1500" dirty="0">
                <a:sym typeface="Wingdings" panose="05000000000000000000" pitchFamily="2" charset="2"/>
              </a:rPr>
              <a:t> I’m going to have a block of code , a structured block and only the master thread will do it, everyone else will just skip it and keep right on going , there’s no synchronization implied.</a:t>
            </a:r>
          </a:p>
          <a:p>
            <a:pPr>
              <a:lnSpc>
                <a:spcPct val="110000"/>
              </a:lnSpc>
            </a:pPr>
            <a:r>
              <a:rPr lang="en-US" sz="1500" dirty="0">
                <a:sym typeface="Wingdings" panose="05000000000000000000" pitchFamily="2" charset="2"/>
              </a:rPr>
              <a:t>We can add barrier after master to wait master thread to end and other threads start over it.</a:t>
            </a:r>
            <a:endParaRPr lang="en-US" sz="1500" dirty="0"/>
          </a:p>
        </p:txBody>
      </p:sp>
      <p:pic>
        <p:nvPicPr>
          <p:cNvPr id="8" name="Picture 7">
            <a:extLst>
              <a:ext uri="{FF2B5EF4-FFF2-40B4-BE49-F238E27FC236}">
                <a16:creationId xmlns:a16="http://schemas.microsoft.com/office/drawing/2014/main" id="{C6CA5145-65BF-397A-D651-333E0B45722B}"/>
              </a:ext>
            </a:extLst>
          </p:cNvPr>
          <p:cNvPicPr>
            <a:picLocks noChangeAspect="1"/>
          </p:cNvPicPr>
          <p:nvPr/>
        </p:nvPicPr>
        <p:blipFill>
          <a:blip r:embed="rId2"/>
          <a:stretch>
            <a:fillRect/>
          </a:stretch>
        </p:blipFill>
        <p:spPr>
          <a:xfrm>
            <a:off x="6783219" y="1427748"/>
            <a:ext cx="5100605" cy="4881612"/>
          </a:xfrm>
          <a:prstGeom prst="rect">
            <a:avLst/>
          </a:prstGeom>
        </p:spPr>
      </p:pic>
    </p:spTree>
    <p:extLst>
      <p:ext uri="{BB962C8B-B14F-4D97-AF65-F5344CB8AC3E}">
        <p14:creationId xmlns:p14="http://schemas.microsoft.com/office/powerpoint/2010/main" val="701106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171C2">
            <a:alpha val="8000"/>
          </a:srgbClr>
        </a:solidFill>
        <a:effectLst/>
      </p:bgPr>
    </p:bg>
    <p:spTree>
      <p:nvGrpSpPr>
        <p:cNvPr id="1" name="">
          <a:extLst>
            <a:ext uri="{FF2B5EF4-FFF2-40B4-BE49-F238E27FC236}">
              <a16:creationId xmlns:a16="http://schemas.microsoft.com/office/drawing/2014/main" id="{F67AA7BC-002E-BDD0-B04B-7D569A61FDC4}"/>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EE2B2A8-ED12-86D6-C88D-71AA78216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9D7BD6-77C3-77D2-4232-F9420155FD9C}"/>
              </a:ext>
            </a:extLst>
          </p:cNvPr>
          <p:cNvSpPr>
            <a:spLocks noGrp="1"/>
          </p:cNvSpPr>
          <p:nvPr>
            <p:ph type="title"/>
          </p:nvPr>
        </p:nvSpPr>
        <p:spPr>
          <a:xfrm>
            <a:off x="233604" y="403620"/>
            <a:ext cx="5862396" cy="702804"/>
          </a:xfrm>
        </p:spPr>
        <p:txBody>
          <a:bodyPr anchor="b">
            <a:normAutofit fontScale="90000"/>
          </a:bodyPr>
          <a:lstStyle/>
          <a:p>
            <a:r>
              <a:rPr lang="en-US" sz="3300" dirty="0"/>
              <a:t>Synchronization con.</a:t>
            </a:r>
            <a:br>
              <a:rPr lang="en-US" sz="3300" dirty="0"/>
            </a:br>
            <a:r>
              <a:rPr lang="en-US" sz="1500" b="0" dirty="0"/>
              <a:t>Ordered ,</a:t>
            </a:r>
            <a:r>
              <a:rPr lang="en-US" sz="1500" dirty="0"/>
              <a:t> </a:t>
            </a:r>
            <a:r>
              <a:rPr lang="en-US" sz="1500" b="0" dirty="0"/>
              <a:t>master</a:t>
            </a:r>
            <a:r>
              <a:rPr lang="en-US" sz="1500" dirty="0"/>
              <a:t> </a:t>
            </a:r>
            <a:r>
              <a:rPr lang="en-US" sz="1500" b="0" dirty="0"/>
              <a:t>, </a:t>
            </a:r>
            <a:r>
              <a:rPr lang="en-US" sz="1500" dirty="0"/>
              <a:t>single</a:t>
            </a:r>
            <a:r>
              <a:rPr lang="en-US" sz="1500" b="0" dirty="0"/>
              <a:t> , sections/section</a:t>
            </a:r>
          </a:p>
        </p:txBody>
      </p:sp>
      <p:sp>
        <p:nvSpPr>
          <p:cNvPr id="5" name="Content Placeholder 4">
            <a:extLst>
              <a:ext uri="{FF2B5EF4-FFF2-40B4-BE49-F238E27FC236}">
                <a16:creationId xmlns:a16="http://schemas.microsoft.com/office/drawing/2014/main" id="{D041580F-6750-F31B-0FC9-930E0C647ED5}"/>
              </a:ext>
            </a:extLst>
          </p:cNvPr>
          <p:cNvSpPr>
            <a:spLocks noGrp="1"/>
          </p:cNvSpPr>
          <p:nvPr>
            <p:ph idx="1"/>
          </p:nvPr>
        </p:nvSpPr>
        <p:spPr>
          <a:xfrm>
            <a:off x="233603" y="1427748"/>
            <a:ext cx="11172333" cy="4881612"/>
          </a:xfrm>
        </p:spPr>
        <p:txBody>
          <a:bodyPr>
            <a:normAutofit/>
          </a:bodyPr>
          <a:lstStyle/>
          <a:p>
            <a:pPr>
              <a:lnSpc>
                <a:spcPct val="110000"/>
              </a:lnSpc>
            </a:pPr>
            <a:r>
              <a:rPr lang="en-US" sz="1600" dirty="0"/>
              <a:t>Forces the execution of a block by one thread only. </a:t>
            </a:r>
          </a:p>
          <a:p>
            <a:pPr>
              <a:lnSpc>
                <a:spcPct val="110000"/>
              </a:lnSpc>
            </a:pPr>
            <a:r>
              <a:rPr lang="en-US" sz="1600" dirty="0"/>
              <a:t>It is similar to the master directive, but for the implicit barrier at the end of the single block, which means that the two constructs are not interchangeable in general. </a:t>
            </a:r>
          </a:p>
          <a:p>
            <a:pPr>
              <a:lnSpc>
                <a:spcPct val="110000"/>
              </a:lnSpc>
            </a:pPr>
            <a:r>
              <a:rPr lang="en-US" sz="1600" dirty="0"/>
              <a:t>The barrier can be eliminated by adding the </a:t>
            </a:r>
            <a:r>
              <a:rPr lang="en-US" sz="1600" b="1" dirty="0" err="1"/>
              <a:t>nowait</a:t>
            </a:r>
            <a:r>
              <a:rPr lang="en-US" sz="1600" dirty="0"/>
              <a:t> clause to the single directive.</a:t>
            </a:r>
            <a:endParaRPr lang="en-US" sz="1500" dirty="0"/>
          </a:p>
        </p:txBody>
      </p:sp>
      <p:pic>
        <p:nvPicPr>
          <p:cNvPr id="4" name="Picture 3">
            <a:extLst>
              <a:ext uri="{FF2B5EF4-FFF2-40B4-BE49-F238E27FC236}">
                <a16:creationId xmlns:a16="http://schemas.microsoft.com/office/drawing/2014/main" id="{720CC825-9715-4E75-9B44-1399605AFCFD}"/>
              </a:ext>
            </a:extLst>
          </p:cNvPr>
          <p:cNvPicPr>
            <a:picLocks noChangeAspect="1"/>
          </p:cNvPicPr>
          <p:nvPr/>
        </p:nvPicPr>
        <p:blipFill>
          <a:blip r:embed="rId2"/>
          <a:stretch>
            <a:fillRect/>
          </a:stretch>
        </p:blipFill>
        <p:spPr>
          <a:xfrm>
            <a:off x="2513279" y="2973201"/>
            <a:ext cx="4534533" cy="3610479"/>
          </a:xfrm>
          <a:prstGeom prst="rect">
            <a:avLst/>
          </a:prstGeom>
        </p:spPr>
      </p:pic>
    </p:spTree>
    <p:extLst>
      <p:ext uri="{BB962C8B-B14F-4D97-AF65-F5344CB8AC3E}">
        <p14:creationId xmlns:p14="http://schemas.microsoft.com/office/powerpoint/2010/main" val="3328967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71C2">
            <a:alpha val="8000"/>
          </a:srgbClr>
        </a:solidFill>
        <a:effectLst/>
      </p:bgPr>
    </p:bg>
    <p:spTree>
      <p:nvGrpSpPr>
        <p:cNvPr id="1" name="">
          <a:extLst>
            <a:ext uri="{FF2B5EF4-FFF2-40B4-BE49-F238E27FC236}">
              <a16:creationId xmlns:a16="http://schemas.microsoft.com/office/drawing/2014/main" id="{D1CC4ABD-7D92-FE98-59C6-13D198D40CE4}"/>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B7ED8A-463C-2E92-2267-4414CE3E9E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DF1E58-295D-3F59-C873-2E707A6E4325}"/>
              </a:ext>
            </a:extLst>
          </p:cNvPr>
          <p:cNvSpPr>
            <a:spLocks noGrp="1"/>
          </p:cNvSpPr>
          <p:nvPr>
            <p:ph type="title"/>
          </p:nvPr>
        </p:nvSpPr>
        <p:spPr>
          <a:xfrm>
            <a:off x="233604" y="403620"/>
            <a:ext cx="5862396" cy="702804"/>
          </a:xfrm>
        </p:spPr>
        <p:txBody>
          <a:bodyPr anchor="b">
            <a:normAutofit fontScale="90000"/>
          </a:bodyPr>
          <a:lstStyle/>
          <a:p>
            <a:r>
              <a:rPr lang="en-US" sz="3300" dirty="0"/>
              <a:t>Synchronization con.</a:t>
            </a:r>
            <a:br>
              <a:rPr lang="en-US" sz="3300" dirty="0"/>
            </a:br>
            <a:r>
              <a:rPr lang="en-US" sz="1500" b="0" dirty="0"/>
              <a:t>Ordered ,</a:t>
            </a:r>
            <a:r>
              <a:rPr lang="en-US" sz="1500" dirty="0"/>
              <a:t> </a:t>
            </a:r>
            <a:r>
              <a:rPr lang="en-US" sz="1500" b="0" dirty="0"/>
              <a:t>master</a:t>
            </a:r>
            <a:r>
              <a:rPr lang="en-US" sz="1500" dirty="0"/>
              <a:t> </a:t>
            </a:r>
            <a:r>
              <a:rPr lang="en-US" sz="1500" b="0" dirty="0"/>
              <a:t>, </a:t>
            </a:r>
            <a:r>
              <a:rPr lang="en-US" sz="1500" dirty="0"/>
              <a:t>single</a:t>
            </a:r>
            <a:r>
              <a:rPr lang="en-US" sz="1500" b="0" dirty="0"/>
              <a:t> , sections/section</a:t>
            </a:r>
          </a:p>
        </p:txBody>
      </p:sp>
      <p:sp>
        <p:nvSpPr>
          <p:cNvPr id="5" name="Content Placeholder 4">
            <a:extLst>
              <a:ext uri="{FF2B5EF4-FFF2-40B4-BE49-F238E27FC236}">
                <a16:creationId xmlns:a16="http://schemas.microsoft.com/office/drawing/2014/main" id="{38AEE074-446A-6F3D-4C2B-3CFB036AEDA4}"/>
              </a:ext>
            </a:extLst>
          </p:cNvPr>
          <p:cNvSpPr>
            <a:spLocks noGrp="1"/>
          </p:cNvSpPr>
          <p:nvPr>
            <p:ph idx="1"/>
          </p:nvPr>
        </p:nvSpPr>
        <p:spPr>
          <a:xfrm>
            <a:off x="233603" y="1427748"/>
            <a:ext cx="11172333" cy="4881612"/>
          </a:xfrm>
        </p:spPr>
        <p:txBody>
          <a:bodyPr>
            <a:normAutofit/>
          </a:bodyPr>
          <a:lstStyle/>
          <a:p>
            <a:pPr>
              <a:lnSpc>
                <a:spcPct val="110000"/>
              </a:lnSpc>
            </a:pPr>
            <a:r>
              <a:rPr lang="en-US" sz="1600" dirty="0"/>
              <a:t>Difference between </a:t>
            </a:r>
            <a:r>
              <a:rPr lang="en-US" sz="1600" b="1" dirty="0"/>
              <a:t>single</a:t>
            </a:r>
            <a:r>
              <a:rPr lang="en-US" sz="1600" dirty="0"/>
              <a:t> and </a:t>
            </a:r>
            <a:r>
              <a:rPr lang="en-US" sz="1600" b="1" dirty="0"/>
              <a:t>master</a:t>
            </a:r>
            <a:r>
              <a:rPr lang="en-US" sz="1600" dirty="0"/>
              <a:t>:</a:t>
            </a:r>
          </a:p>
          <a:p>
            <a:pPr marL="0" indent="0">
              <a:lnSpc>
                <a:spcPct val="110000"/>
              </a:lnSpc>
              <a:buNone/>
            </a:pPr>
            <a:endParaRPr lang="en-US" sz="1500" dirty="0"/>
          </a:p>
          <a:p>
            <a:pPr marL="0" indent="0">
              <a:lnSpc>
                <a:spcPct val="110000"/>
              </a:lnSpc>
              <a:buNone/>
            </a:pPr>
            <a:endParaRPr lang="en-US" sz="1500" dirty="0"/>
          </a:p>
          <a:p>
            <a:pPr marL="0" indent="0">
              <a:lnSpc>
                <a:spcPct val="110000"/>
              </a:lnSpc>
              <a:buNone/>
            </a:pPr>
            <a:endParaRPr lang="en-US" sz="1500" dirty="0"/>
          </a:p>
          <a:p>
            <a:pPr marL="0" indent="0">
              <a:lnSpc>
                <a:spcPct val="110000"/>
              </a:lnSpc>
              <a:buNone/>
            </a:pPr>
            <a:endParaRPr lang="en-US" sz="1500" dirty="0"/>
          </a:p>
          <a:p>
            <a:pPr marL="0" indent="0">
              <a:lnSpc>
                <a:spcPct val="110000"/>
              </a:lnSpc>
              <a:buNone/>
            </a:pPr>
            <a:endParaRPr lang="en-US" sz="1500" dirty="0"/>
          </a:p>
          <a:p>
            <a:pPr marL="0" indent="0">
              <a:lnSpc>
                <a:spcPct val="110000"/>
              </a:lnSpc>
              <a:buNone/>
            </a:pPr>
            <a:endParaRPr lang="en-US" sz="1500" dirty="0"/>
          </a:p>
          <a:p>
            <a:pPr marL="0" indent="0">
              <a:lnSpc>
                <a:spcPct val="110000"/>
              </a:lnSpc>
              <a:buNone/>
            </a:pPr>
            <a:endParaRPr lang="en-US" sz="1500" dirty="0"/>
          </a:p>
          <a:p>
            <a:pPr marL="0" indent="0">
              <a:lnSpc>
                <a:spcPct val="110000"/>
              </a:lnSpc>
              <a:buNone/>
            </a:pPr>
            <a:endParaRPr lang="en-US" sz="1500" dirty="0"/>
          </a:p>
          <a:p>
            <a:pPr>
              <a:lnSpc>
                <a:spcPct val="110000"/>
              </a:lnSpc>
            </a:pPr>
            <a:r>
              <a:rPr lang="en-US" sz="1500" dirty="0"/>
              <a:t>Master </a:t>
            </a:r>
            <a:r>
              <a:rPr lang="en-US" sz="1500" dirty="0">
                <a:sym typeface="Wingdings" panose="05000000000000000000" pitchFamily="2" charset="2"/>
              </a:rPr>
              <a:t> if you weren’t the master, you just skipped it and kept right on going.</a:t>
            </a:r>
          </a:p>
          <a:p>
            <a:pPr>
              <a:lnSpc>
                <a:spcPct val="110000"/>
              </a:lnSpc>
            </a:pPr>
            <a:r>
              <a:rPr lang="en-US" sz="1500" dirty="0">
                <a:sym typeface="Wingdings" panose="05000000000000000000" pitchFamily="2" charset="2"/>
              </a:rPr>
              <a:t>Single  if you’re not that one thread that got it you’re going to wait at the barrier at the end of the single.</a:t>
            </a:r>
            <a:endParaRPr lang="en-US" sz="1500" dirty="0"/>
          </a:p>
        </p:txBody>
      </p:sp>
      <p:graphicFrame>
        <p:nvGraphicFramePr>
          <p:cNvPr id="3" name="Table 2">
            <a:extLst>
              <a:ext uri="{FF2B5EF4-FFF2-40B4-BE49-F238E27FC236}">
                <a16:creationId xmlns:a16="http://schemas.microsoft.com/office/drawing/2014/main" id="{003DCA78-CD55-C096-17E1-5C8A3007ABCC}"/>
              </a:ext>
            </a:extLst>
          </p:cNvPr>
          <p:cNvGraphicFramePr>
            <a:graphicFrameLocks noGrp="1"/>
          </p:cNvGraphicFramePr>
          <p:nvPr>
            <p:extLst>
              <p:ext uri="{D42A27DB-BD31-4B8C-83A1-F6EECF244321}">
                <p14:modId xmlns:p14="http://schemas.microsoft.com/office/powerpoint/2010/main" val="663484241"/>
              </p:ext>
            </p:extLst>
          </p:nvPr>
        </p:nvGraphicFramePr>
        <p:xfrm>
          <a:off x="1300481" y="2043953"/>
          <a:ext cx="8127999" cy="2689413"/>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291288068"/>
                    </a:ext>
                  </a:extLst>
                </a:gridCol>
                <a:gridCol w="2709333">
                  <a:extLst>
                    <a:ext uri="{9D8B030D-6E8A-4147-A177-3AD203B41FA5}">
                      <a16:colId xmlns:a16="http://schemas.microsoft.com/office/drawing/2014/main" val="2583414237"/>
                    </a:ext>
                  </a:extLst>
                </a:gridCol>
                <a:gridCol w="2709333">
                  <a:extLst>
                    <a:ext uri="{9D8B030D-6E8A-4147-A177-3AD203B41FA5}">
                      <a16:colId xmlns:a16="http://schemas.microsoft.com/office/drawing/2014/main" val="1412249787"/>
                    </a:ext>
                  </a:extLst>
                </a:gridCol>
              </a:tblGrid>
              <a:tr h="552535">
                <a:tc>
                  <a:txBody>
                    <a:bodyPr/>
                    <a:lstStyle/>
                    <a:p>
                      <a:pPr algn="ctr"/>
                      <a:r>
                        <a:rPr lang="en-US" dirty="0"/>
                        <a:t>Aspect</a:t>
                      </a:r>
                    </a:p>
                  </a:txBody>
                  <a:tcPr anchor="ctr"/>
                </a:tc>
                <a:tc>
                  <a:txBody>
                    <a:bodyPr/>
                    <a:lstStyle/>
                    <a:p>
                      <a:pPr algn="ctr"/>
                      <a:r>
                        <a:rPr lang="en-US" dirty="0"/>
                        <a:t>single</a:t>
                      </a:r>
                    </a:p>
                  </a:txBody>
                  <a:tcPr anchor="ctr"/>
                </a:tc>
                <a:tc>
                  <a:txBody>
                    <a:bodyPr/>
                    <a:lstStyle/>
                    <a:p>
                      <a:pPr algn="ctr"/>
                      <a:r>
                        <a:rPr lang="en-US" dirty="0"/>
                        <a:t>Master</a:t>
                      </a:r>
                    </a:p>
                  </a:txBody>
                  <a:tcPr anchor="ctr"/>
                </a:tc>
                <a:extLst>
                  <a:ext uri="{0D108BD9-81ED-4DB2-BD59-A6C34878D82A}">
                    <a16:rowId xmlns:a16="http://schemas.microsoft.com/office/drawing/2014/main" val="1285081554"/>
                  </a:ext>
                </a:extLst>
              </a:tr>
              <a:tr h="1068439">
                <a:tc>
                  <a:txBody>
                    <a:bodyPr/>
                    <a:lstStyle/>
                    <a:p>
                      <a:pPr algn="ctr"/>
                      <a:r>
                        <a:rPr lang="en-US" b="1" dirty="0"/>
                        <a:t>Executed by</a:t>
                      </a:r>
                    </a:p>
                  </a:txBody>
                  <a:tcPr anchor="ctr"/>
                </a:tc>
                <a:tc>
                  <a:txBody>
                    <a:bodyPr/>
                    <a:lstStyle/>
                    <a:p>
                      <a:pPr algn="ctr"/>
                      <a:r>
                        <a:rPr lang="en-US" dirty="0"/>
                        <a:t>One thread </a:t>
                      </a:r>
                    </a:p>
                    <a:p>
                      <a:pPr algn="ctr"/>
                      <a:r>
                        <a:rPr lang="en-US" dirty="0"/>
                        <a:t>(not necessary master)</a:t>
                      </a:r>
                    </a:p>
                  </a:txBody>
                  <a:tcPr anchor="ctr"/>
                </a:tc>
                <a:tc>
                  <a:txBody>
                    <a:bodyPr/>
                    <a:lstStyle/>
                    <a:p>
                      <a:pPr algn="ctr"/>
                      <a:r>
                        <a:rPr lang="en-US" dirty="0"/>
                        <a:t>Only master thread </a:t>
                      </a:r>
                    </a:p>
                    <a:p>
                      <a:pPr algn="ctr"/>
                      <a:r>
                        <a:rPr lang="en-US" dirty="0"/>
                        <a:t>(</a:t>
                      </a:r>
                      <a:r>
                        <a:rPr lang="en-US" dirty="0" err="1"/>
                        <a:t>tid</a:t>
                      </a:r>
                      <a:r>
                        <a:rPr lang="en-US" dirty="0"/>
                        <a:t>=0)</a:t>
                      </a:r>
                    </a:p>
                  </a:txBody>
                  <a:tcPr anchor="ctr"/>
                </a:tc>
                <a:extLst>
                  <a:ext uri="{0D108BD9-81ED-4DB2-BD59-A6C34878D82A}">
                    <a16:rowId xmlns:a16="http://schemas.microsoft.com/office/drawing/2014/main" val="55992797"/>
                  </a:ext>
                </a:extLst>
              </a:tr>
              <a:tr h="1068439">
                <a:tc>
                  <a:txBody>
                    <a:bodyPr/>
                    <a:lstStyle/>
                    <a:p>
                      <a:pPr algn="ctr"/>
                      <a:r>
                        <a:rPr lang="en-US" b="1" dirty="0"/>
                        <a:t>Barrier </a:t>
                      </a:r>
                    </a:p>
                  </a:txBody>
                  <a:tcPr anchor="ctr"/>
                </a:tc>
                <a:tc>
                  <a:txBody>
                    <a:bodyPr/>
                    <a:lstStyle/>
                    <a:p>
                      <a:pPr algn="ctr"/>
                      <a:r>
                        <a:rPr lang="en-US" dirty="0"/>
                        <a:t>Implicit barrier at end</a:t>
                      </a:r>
                    </a:p>
                    <a:p>
                      <a:pPr algn="ctr"/>
                      <a:r>
                        <a:rPr lang="en-US" dirty="0"/>
                        <a:t>(unless </a:t>
                      </a:r>
                      <a:r>
                        <a:rPr lang="en-US" dirty="0" err="1"/>
                        <a:t>nowait</a:t>
                      </a:r>
                      <a:r>
                        <a:rPr lang="en-US" dirty="0"/>
                        <a:t>)</a:t>
                      </a:r>
                    </a:p>
                  </a:txBody>
                  <a:tcPr anchor="ctr"/>
                </a:tc>
                <a:tc>
                  <a:txBody>
                    <a:bodyPr/>
                    <a:lstStyle/>
                    <a:p>
                      <a:pPr algn="ctr"/>
                      <a:r>
                        <a:rPr lang="en-US" dirty="0"/>
                        <a:t>No implicit barrier</a:t>
                      </a:r>
                    </a:p>
                  </a:txBody>
                  <a:tcPr anchor="ctr"/>
                </a:tc>
                <a:extLst>
                  <a:ext uri="{0D108BD9-81ED-4DB2-BD59-A6C34878D82A}">
                    <a16:rowId xmlns:a16="http://schemas.microsoft.com/office/drawing/2014/main" val="108410033"/>
                  </a:ext>
                </a:extLst>
              </a:tr>
            </a:tbl>
          </a:graphicData>
        </a:graphic>
      </p:graphicFrame>
    </p:spTree>
    <p:extLst>
      <p:ext uri="{BB962C8B-B14F-4D97-AF65-F5344CB8AC3E}">
        <p14:creationId xmlns:p14="http://schemas.microsoft.com/office/powerpoint/2010/main" val="2882328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171C2">
            <a:alpha val="8000"/>
          </a:srgbClr>
        </a:solidFill>
        <a:effectLst/>
      </p:bgPr>
    </p:bg>
    <p:spTree>
      <p:nvGrpSpPr>
        <p:cNvPr id="1" name="">
          <a:extLst>
            <a:ext uri="{FF2B5EF4-FFF2-40B4-BE49-F238E27FC236}">
              <a16:creationId xmlns:a16="http://schemas.microsoft.com/office/drawing/2014/main" id="{6E797D24-B9CC-39ED-01F5-0EDD7C167874}"/>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56E8450-29BB-2518-6D88-B04E04E1B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ED4CA1-FD5C-03FB-76D7-27AAC7A462DF}"/>
              </a:ext>
            </a:extLst>
          </p:cNvPr>
          <p:cNvSpPr>
            <a:spLocks noGrp="1"/>
          </p:cNvSpPr>
          <p:nvPr>
            <p:ph type="title"/>
          </p:nvPr>
        </p:nvSpPr>
        <p:spPr>
          <a:xfrm>
            <a:off x="233604" y="403620"/>
            <a:ext cx="5862396" cy="702804"/>
          </a:xfrm>
        </p:spPr>
        <p:txBody>
          <a:bodyPr anchor="b">
            <a:normAutofit fontScale="90000"/>
          </a:bodyPr>
          <a:lstStyle/>
          <a:p>
            <a:r>
              <a:rPr lang="en-US" sz="3300" dirty="0"/>
              <a:t>Synchronization con.</a:t>
            </a:r>
            <a:br>
              <a:rPr lang="en-US" sz="3300" dirty="0"/>
            </a:br>
            <a:r>
              <a:rPr lang="en-US" sz="1500" b="0" dirty="0"/>
              <a:t>Ordered ,</a:t>
            </a:r>
            <a:r>
              <a:rPr lang="en-US" sz="1500" dirty="0"/>
              <a:t> </a:t>
            </a:r>
            <a:r>
              <a:rPr lang="en-US" sz="1500" b="0" dirty="0"/>
              <a:t>master</a:t>
            </a:r>
            <a:r>
              <a:rPr lang="en-US" sz="1500" dirty="0"/>
              <a:t> </a:t>
            </a:r>
            <a:r>
              <a:rPr lang="en-US" sz="1500" b="0" dirty="0"/>
              <a:t>, single , </a:t>
            </a:r>
            <a:r>
              <a:rPr lang="en-US" sz="1500" dirty="0"/>
              <a:t>sections/section</a:t>
            </a:r>
          </a:p>
        </p:txBody>
      </p:sp>
      <p:sp>
        <p:nvSpPr>
          <p:cNvPr id="5" name="Content Placeholder 4">
            <a:extLst>
              <a:ext uri="{FF2B5EF4-FFF2-40B4-BE49-F238E27FC236}">
                <a16:creationId xmlns:a16="http://schemas.microsoft.com/office/drawing/2014/main" id="{A434400D-8403-0A18-44BA-67D90A8EC540}"/>
              </a:ext>
            </a:extLst>
          </p:cNvPr>
          <p:cNvSpPr>
            <a:spLocks noGrp="1"/>
          </p:cNvSpPr>
          <p:nvPr>
            <p:ph idx="1"/>
          </p:nvPr>
        </p:nvSpPr>
        <p:spPr>
          <a:xfrm>
            <a:off x="233603" y="1427748"/>
            <a:ext cx="11172333" cy="4881612"/>
          </a:xfrm>
        </p:spPr>
        <p:txBody>
          <a:bodyPr>
            <a:normAutofit/>
          </a:bodyPr>
          <a:lstStyle/>
          <a:p>
            <a:pPr>
              <a:lnSpc>
                <a:spcPct val="110000"/>
              </a:lnSpc>
            </a:pPr>
            <a:r>
              <a:rPr lang="en-US" sz="1600" dirty="0"/>
              <a:t>Sections/section </a:t>
            </a:r>
            <a:r>
              <a:rPr lang="en-US" sz="1600" dirty="0">
                <a:sym typeface="Wingdings" panose="05000000000000000000" pitchFamily="2" charset="2"/>
              </a:rPr>
              <a:t> it gives you a way to create sections of code and one thread does one section another thread does another section and so on.</a:t>
            </a:r>
          </a:p>
          <a:p>
            <a:pPr>
              <a:lnSpc>
                <a:spcPct val="110000"/>
              </a:lnSpc>
            </a:pPr>
            <a:r>
              <a:rPr lang="en-US" sz="1600" dirty="0">
                <a:sym typeface="Wingdings" panose="05000000000000000000" pitchFamily="2" charset="2"/>
              </a:rPr>
              <a:t>I tell the compiler to create team of threads so always </a:t>
            </a:r>
          </a:p>
          <a:p>
            <a:pPr marL="0" indent="0">
              <a:lnSpc>
                <a:spcPct val="110000"/>
              </a:lnSpc>
              <a:buNone/>
            </a:pPr>
            <a:r>
              <a:rPr lang="en-US" sz="1600" dirty="0">
                <a:solidFill>
                  <a:srgbClr val="FF0000"/>
                </a:solidFill>
                <a:sym typeface="Wingdings" panose="05000000000000000000" pitchFamily="2" charset="2"/>
              </a:rPr>
              <a:t>#pragma </a:t>
            </a:r>
            <a:r>
              <a:rPr lang="en-US" sz="1600" dirty="0" err="1">
                <a:solidFill>
                  <a:srgbClr val="FF0000"/>
                </a:solidFill>
                <a:sym typeface="Wingdings" panose="05000000000000000000" pitchFamily="2" charset="2"/>
              </a:rPr>
              <a:t>omp</a:t>
            </a:r>
            <a:r>
              <a:rPr lang="en-US" sz="1600" dirty="0">
                <a:solidFill>
                  <a:srgbClr val="FF0000"/>
                </a:solidFill>
                <a:sym typeface="Wingdings" panose="05000000000000000000" pitchFamily="2" charset="2"/>
              </a:rPr>
              <a:t> parallel </a:t>
            </a:r>
            <a:r>
              <a:rPr lang="en-US" sz="1600" dirty="0">
                <a:sym typeface="Wingdings" panose="05000000000000000000" pitchFamily="2" charset="2"/>
              </a:rPr>
              <a:t>, then I tell the complier to expect</a:t>
            </a:r>
          </a:p>
          <a:p>
            <a:pPr marL="0" indent="0">
              <a:lnSpc>
                <a:spcPct val="110000"/>
              </a:lnSpc>
              <a:buNone/>
            </a:pPr>
            <a:r>
              <a:rPr lang="en-US" sz="1600" dirty="0">
                <a:sym typeface="Wingdings" panose="05000000000000000000" pitchFamily="2" charset="2"/>
              </a:rPr>
              <a:t> some section construct so I create these sections </a:t>
            </a:r>
            <a:r>
              <a:rPr lang="en-US" sz="1600" b="1" dirty="0">
                <a:sym typeface="Wingdings" panose="05000000000000000000" pitchFamily="2" charset="2"/>
              </a:rPr>
              <a:t>[plural]</a:t>
            </a:r>
          </a:p>
          <a:p>
            <a:pPr marL="0" indent="0">
              <a:lnSpc>
                <a:spcPct val="110000"/>
              </a:lnSpc>
              <a:buNone/>
            </a:pPr>
            <a:r>
              <a:rPr lang="en-US" sz="1600" dirty="0">
                <a:solidFill>
                  <a:srgbClr val="FF0000"/>
                </a:solidFill>
                <a:sym typeface="Wingdings" panose="05000000000000000000" pitchFamily="2" charset="2"/>
              </a:rPr>
              <a:t>#pragma </a:t>
            </a:r>
            <a:r>
              <a:rPr lang="en-US" sz="1600" dirty="0" err="1">
                <a:solidFill>
                  <a:srgbClr val="FF0000"/>
                </a:solidFill>
                <a:sym typeface="Wingdings" panose="05000000000000000000" pitchFamily="2" charset="2"/>
              </a:rPr>
              <a:t>omp</a:t>
            </a:r>
            <a:r>
              <a:rPr lang="en-US" sz="1600" dirty="0">
                <a:solidFill>
                  <a:srgbClr val="FF0000"/>
                </a:solidFill>
                <a:sym typeface="Wingdings" panose="05000000000000000000" pitchFamily="2" charset="2"/>
              </a:rPr>
              <a:t> sections </a:t>
            </a:r>
            <a:r>
              <a:rPr lang="en-US" sz="1600" dirty="0">
                <a:sym typeface="Wingdings" panose="05000000000000000000" pitchFamily="2" charset="2"/>
              </a:rPr>
              <a:t>, so now I get my curly braces </a:t>
            </a:r>
          </a:p>
          <a:p>
            <a:pPr marL="0" indent="0">
              <a:lnSpc>
                <a:spcPct val="110000"/>
              </a:lnSpc>
              <a:buNone/>
            </a:pPr>
            <a:r>
              <a:rPr lang="en-US" sz="1600" dirty="0">
                <a:sym typeface="Wingdings" panose="05000000000000000000" pitchFamily="2" charset="2"/>
              </a:rPr>
              <a:t>now inside these curly braces ,I’ll have the section construct</a:t>
            </a:r>
          </a:p>
          <a:p>
            <a:pPr marL="0" indent="0">
              <a:lnSpc>
                <a:spcPct val="110000"/>
              </a:lnSpc>
              <a:buNone/>
            </a:pPr>
            <a:r>
              <a:rPr lang="en-US" sz="1600" dirty="0">
                <a:solidFill>
                  <a:srgbClr val="FF0000"/>
                </a:solidFill>
                <a:sym typeface="Wingdings" panose="05000000000000000000" pitchFamily="2" charset="2"/>
              </a:rPr>
              <a:t>#pragma </a:t>
            </a:r>
            <a:r>
              <a:rPr lang="en-US" sz="1600" dirty="0" err="1">
                <a:solidFill>
                  <a:srgbClr val="FF0000"/>
                </a:solidFill>
                <a:sym typeface="Wingdings" panose="05000000000000000000" pitchFamily="2" charset="2"/>
              </a:rPr>
              <a:t>omp</a:t>
            </a:r>
            <a:r>
              <a:rPr lang="en-US" sz="1600" dirty="0">
                <a:solidFill>
                  <a:srgbClr val="FF0000"/>
                </a:solidFill>
                <a:sym typeface="Wingdings" panose="05000000000000000000" pitchFamily="2" charset="2"/>
              </a:rPr>
              <a:t> section</a:t>
            </a:r>
            <a:endParaRPr lang="en-US" sz="1500" dirty="0">
              <a:solidFill>
                <a:srgbClr val="FF0000"/>
              </a:solidFill>
            </a:endParaRPr>
          </a:p>
        </p:txBody>
      </p:sp>
      <p:pic>
        <p:nvPicPr>
          <p:cNvPr id="6" name="Picture 5">
            <a:extLst>
              <a:ext uri="{FF2B5EF4-FFF2-40B4-BE49-F238E27FC236}">
                <a16:creationId xmlns:a16="http://schemas.microsoft.com/office/drawing/2014/main" id="{3877E12E-DD92-2052-F49E-3980CC242AA7}"/>
              </a:ext>
            </a:extLst>
          </p:cNvPr>
          <p:cNvPicPr>
            <a:picLocks noChangeAspect="1"/>
          </p:cNvPicPr>
          <p:nvPr/>
        </p:nvPicPr>
        <p:blipFill>
          <a:blip r:embed="rId2"/>
          <a:stretch>
            <a:fillRect/>
          </a:stretch>
        </p:blipFill>
        <p:spPr>
          <a:xfrm>
            <a:off x="6096000" y="2133808"/>
            <a:ext cx="5862396" cy="4320572"/>
          </a:xfrm>
          <a:prstGeom prst="rect">
            <a:avLst/>
          </a:prstGeom>
        </p:spPr>
      </p:pic>
    </p:spTree>
    <p:extLst>
      <p:ext uri="{BB962C8B-B14F-4D97-AF65-F5344CB8AC3E}">
        <p14:creationId xmlns:p14="http://schemas.microsoft.com/office/powerpoint/2010/main" val="98146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B5A4C-F1F5-EEF1-B81A-608019103310}"/>
              </a:ext>
            </a:extLst>
          </p:cNvPr>
          <p:cNvSpPr>
            <a:spLocks noGrp="1"/>
          </p:cNvSpPr>
          <p:nvPr>
            <p:ph type="title"/>
          </p:nvPr>
        </p:nvSpPr>
        <p:spPr/>
        <p:txBody>
          <a:bodyPr/>
          <a:lstStyle/>
          <a:p>
            <a:r>
              <a:rPr lang="en-US" dirty="0"/>
              <a:t>Exercise 6</a:t>
            </a:r>
          </a:p>
        </p:txBody>
      </p:sp>
      <p:sp>
        <p:nvSpPr>
          <p:cNvPr id="3" name="Content Placeholder 2">
            <a:extLst>
              <a:ext uri="{FF2B5EF4-FFF2-40B4-BE49-F238E27FC236}">
                <a16:creationId xmlns:a16="http://schemas.microsoft.com/office/drawing/2014/main" id="{9B432CF9-176C-3FD0-570F-B4E90435364A}"/>
              </a:ext>
            </a:extLst>
          </p:cNvPr>
          <p:cNvSpPr>
            <a:spLocks noGrp="1"/>
          </p:cNvSpPr>
          <p:nvPr>
            <p:ph idx="1"/>
          </p:nvPr>
        </p:nvSpPr>
        <p:spPr/>
        <p:txBody>
          <a:bodyPr/>
          <a:lstStyle/>
          <a:p>
            <a:r>
              <a:rPr lang="en-US" dirty="0"/>
              <a:t>Rewrite file to another file</a:t>
            </a:r>
            <a:r>
              <a:rPr lang="en-US" dirty="0">
                <a:solidFill>
                  <a:srgbClr val="FF0000"/>
                </a:solidFill>
              </a:rPr>
              <a:t> [avoid false sharing and race condition]</a:t>
            </a:r>
          </a:p>
        </p:txBody>
      </p:sp>
    </p:spTree>
    <p:extLst>
      <p:ext uri="{BB962C8B-B14F-4D97-AF65-F5344CB8AC3E}">
        <p14:creationId xmlns:p14="http://schemas.microsoft.com/office/powerpoint/2010/main" val="14651013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2261</TotalTime>
  <Words>932</Words>
  <Application>Microsoft Office PowerPoint</Application>
  <PresentationFormat>Widescreen</PresentationFormat>
  <Paragraphs>83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Neue Haas Grotesk Text Pro</vt:lpstr>
      <vt:lpstr>Wingdings</vt:lpstr>
      <vt:lpstr>VanillaVTI</vt:lpstr>
      <vt:lpstr>Parallel computing</vt:lpstr>
      <vt:lpstr>Exercise 5</vt:lpstr>
      <vt:lpstr>Implicit and explicit barriers where barriers are implied and where barriers are explicit?</vt:lpstr>
      <vt:lpstr>Implicit and explicit barriers barrier overhead</vt:lpstr>
      <vt:lpstr>Synchronization con. Ordered , master , single , sections/section</vt:lpstr>
      <vt:lpstr>Synchronization con. Ordered , master , single , sections/section</vt:lpstr>
      <vt:lpstr>Synchronization con. Ordered , master , single , sections/section</vt:lpstr>
      <vt:lpstr>Synchronization con. Ordered , master , single , sections/section</vt:lpstr>
      <vt:lpstr>Synchronization con. Ordered , master , single , sections/section</vt:lpstr>
      <vt:lpstr>Exercise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Mariam Malak</dc:creator>
  <cp:lastModifiedBy>Mariam Malak</cp:lastModifiedBy>
  <cp:revision>16</cp:revision>
  <dcterms:created xsi:type="dcterms:W3CDTF">2026-02-12T13:52:08Z</dcterms:created>
  <dcterms:modified xsi:type="dcterms:W3CDTF">2026-03-06T17:15:07Z</dcterms:modified>
</cp:coreProperties>
</file>