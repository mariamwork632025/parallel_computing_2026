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22"/>
  </p:notesMasterIdLst>
  <p:sldIdLst>
    <p:sldId id="256" r:id="rId2"/>
    <p:sldId id="280" r:id="rId3"/>
    <p:sldId id="281" r:id="rId4"/>
    <p:sldId id="282" r:id="rId5"/>
    <p:sldId id="283" r:id="rId6"/>
    <p:sldId id="285" r:id="rId7"/>
    <p:sldId id="286" r:id="rId8"/>
    <p:sldId id="287" r:id="rId9"/>
    <p:sldId id="293" r:id="rId10"/>
    <p:sldId id="294" r:id="rId11"/>
    <p:sldId id="295" r:id="rId12"/>
    <p:sldId id="296" r:id="rId13"/>
    <p:sldId id="297" r:id="rId14"/>
    <p:sldId id="288" r:id="rId15"/>
    <p:sldId id="289" r:id="rId16"/>
    <p:sldId id="298" r:id="rId17"/>
    <p:sldId id="299" r:id="rId18"/>
    <p:sldId id="291" r:id="rId19"/>
    <p:sldId id="292" r:id="rId20"/>
    <p:sldId id="27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2B4DD"/>
    <a:srgbClr val="0171C2"/>
    <a:srgbClr val="2772B7"/>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922" autoAdjust="0"/>
  </p:normalViewPr>
  <p:slideViewPr>
    <p:cSldViewPr snapToGrid="0">
      <p:cViewPr varScale="1">
        <p:scale>
          <a:sx n="71" d="100"/>
          <a:sy n="71" d="100"/>
        </p:scale>
        <p:origin x="113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A22530-92FE-4C3F-9B3B-BCC6CE1117E9}" type="datetimeFigureOut">
              <a:rPr lang="en-US" smtClean="0"/>
              <a:t>3/9/2026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08E562-24ED-41D7-AEB8-880B26994F1F}" type="slidenum">
              <a:rPr lang="en-US" smtClean="0"/>
              <a:t>‹#›</a:t>
            </a:fld>
            <a:endParaRPr lang="en-US"/>
          </a:p>
        </p:txBody>
      </p:sp>
    </p:spTree>
    <p:extLst>
      <p:ext uri="{BB962C8B-B14F-4D97-AF65-F5344CB8AC3E}">
        <p14:creationId xmlns:p14="http://schemas.microsoft.com/office/powerpoint/2010/main" val="2188170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Spatial locality is a principle of how programs typically access memory : If a program accesses one memory location, it is very likely to access nearby memory locations soon.</a:t>
            </a:r>
          </a:p>
          <a:p>
            <a:r>
              <a:rPr lang="en-US" dirty="0"/>
              <a:t>CPUs and caches are designed around this behavior.</a:t>
            </a:r>
          </a:p>
          <a:p>
            <a:endParaRPr lang="en-US" dirty="0"/>
          </a:p>
          <a:p>
            <a:r>
              <a:rPr lang="en-US" dirty="0"/>
              <a:t>Because of spatial locality, CPUs do not load a single byte from memory.</a:t>
            </a:r>
          </a:p>
          <a:p>
            <a:r>
              <a:rPr lang="en-US" dirty="0"/>
              <a:t>Instead they load a cache line (typically 64 bytes).</a:t>
            </a:r>
          </a:p>
        </p:txBody>
      </p:sp>
      <p:sp>
        <p:nvSpPr>
          <p:cNvPr id="4" name="Slide Number Placeholder 3"/>
          <p:cNvSpPr>
            <a:spLocks noGrp="1"/>
          </p:cNvSpPr>
          <p:nvPr>
            <p:ph type="sldNum" sz="quarter" idx="5"/>
          </p:nvPr>
        </p:nvSpPr>
        <p:spPr/>
        <p:txBody>
          <a:bodyPr/>
          <a:lstStyle/>
          <a:p>
            <a:fld id="{9908E562-24ED-41D7-AEB8-880B26994F1F}" type="slidenum">
              <a:rPr lang="en-US" smtClean="0"/>
              <a:t>9</a:t>
            </a:fld>
            <a:endParaRPr lang="en-US"/>
          </a:p>
        </p:txBody>
      </p:sp>
    </p:spTree>
    <p:extLst>
      <p:ext uri="{BB962C8B-B14F-4D97-AF65-F5344CB8AC3E}">
        <p14:creationId xmlns:p14="http://schemas.microsoft.com/office/powerpoint/2010/main" val="42204810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happens when the number of cache lines needed is larger than the cache capacity??</a:t>
            </a:r>
          </a:p>
          <a:p>
            <a:r>
              <a:rPr lang="en-US" dirty="0"/>
              <a:t>the CPU evicts older cache lines and reloads them later from memory when needed.</a:t>
            </a:r>
          </a:p>
        </p:txBody>
      </p:sp>
      <p:sp>
        <p:nvSpPr>
          <p:cNvPr id="4" name="Slide Number Placeholder 3"/>
          <p:cNvSpPr>
            <a:spLocks noGrp="1"/>
          </p:cNvSpPr>
          <p:nvPr>
            <p:ph type="sldNum" sz="quarter" idx="5"/>
          </p:nvPr>
        </p:nvSpPr>
        <p:spPr/>
        <p:txBody>
          <a:bodyPr/>
          <a:lstStyle/>
          <a:p>
            <a:fld id="{9908E562-24ED-41D7-AEB8-880B26994F1F}" type="slidenum">
              <a:rPr lang="en-US" smtClean="0"/>
              <a:t>17</a:t>
            </a:fld>
            <a:endParaRPr lang="en-US"/>
          </a:p>
        </p:txBody>
      </p:sp>
    </p:spTree>
    <p:extLst>
      <p:ext uri="{BB962C8B-B14F-4D97-AF65-F5344CB8AC3E}">
        <p14:creationId xmlns:p14="http://schemas.microsoft.com/office/powerpoint/2010/main" val="38330748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3/9/2026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90084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3/9/2026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68422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3/9/2026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61099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3/9/2026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32060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3/9/2026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34098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3/9/2026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31459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3/9/2026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4029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3/9/2026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36017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3/9/2026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61851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3/9/2026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69039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3/9/2026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01921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171C2">
            <a:alpha val="8000"/>
          </a:srgb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3/9/2026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859073491"/>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a:extLst>
              <a:ext uri="{FF2B5EF4-FFF2-40B4-BE49-F238E27FC236}">
                <a16:creationId xmlns:a16="http://schemas.microsoft.com/office/drawing/2014/main" id="{583447EF-0A89-8D11-D654-A72B4E49FCBC}"/>
              </a:ext>
            </a:extLst>
          </p:cNvPr>
          <p:cNvPicPr>
            <a:picLocks noChangeAspect="1"/>
          </p:cNvPicPr>
          <p:nvPr/>
        </p:nvPicPr>
        <p:blipFill>
          <a:blip r:embed="rId2">
            <a:extLst>
              <a:ext uri="{28A0092B-C50C-407E-A947-70E740481C1C}">
                <a14:useLocalDpi xmlns:a14="http://schemas.microsoft.com/office/drawing/2010/main" val="0"/>
              </a:ext>
            </a:extLst>
          </a:blip>
          <a:srcRect t="12500" b="12500"/>
          <a:stretch>
            <a:fillRect/>
          </a:stretch>
        </p:blipFill>
        <p:spPr>
          <a:xfrm>
            <a:off x="20" y="10"/>
            <a:ext cx="12191980" cy="6857990"/>
          </a:xfrm>
          <a:prstGeom prst="rect">
            <a:avLst/>
          </a:prstGeom>
        </p:spPr>
      </p:pic>
      <p:sp>
        <p:nvSpPr>
          <p:cNvPr id="18" name="Rectangle 17">
            <a:extLst>
              <a:ext uri="{FF2B5EF4-FFF2-40B4-BE49-F238E27FC236}">
                <a16:creationId xmlns:a16="http://schemas.microsoft.com/office/drawing/2014/main" id="{DF15DF8A-891A-1965-E372-1BA1F3B945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507179" y="173179"/>
            <a:ext cx="6858002" cy="6511640"/>
          </a:xfrm>
          <a:prstGeom prst="rect">
            <a:avLst/>
          </a:prstGeom>
          <a:gradFill>
            <a:gsLst>
              <a:gs pos="0">
                <a:schemeClr val="bg1">
                  <a:alpha val="0"/>
                </a:schemeClr>
              </a:gs>
              <a:gs pos="46000">
                <a:schemeClr val="bg1">
                  <a:alpha val="33000"/>
                </a:schemeClr>
              </a:gs>
              <a:gs pos="26000">
                <a:schemeClr val="bg1">
                  <a:alpha val="20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79929D53-5DEF-676E-7A33-156FB769F7F9}"/>
              </a:ext>
            </a:extLst>
          </p:cNvPr>
          <p:cNvSpPr>
            <a:spLocks noGrp="1"/>
          </p:cNvSpPr>
          <p:nvPr>
            <p:ph type="ctrTitle"/>
          </p:nvPr>
        </p:nvSpPr>
        <p:spPr>
          <a:xfrm>
            <a:off x="7473219" y="898373"/>
            <a:ext cx="4470544" cy="3474720"/>
          </a:xfrm>
        </p:spPr>
        <p:txBody>
          <a:bodyPr anchor="b">
            <a:normAutofit/>
          </a:bodyPr>
          <a:lstStyle/>
          <a:p>
            <a:pPr algn="l"/>
            <a:r>
              <a:rPr lang="en-US" sz="5800"/>
              <a:t>Parallel</a:t>
            </a:r>
            <a:br>
              <a:rPr lang="en-US" sz="5800"/>
            </a:br>
            <a:r>
              <a:rPr lang="en-US" sz="5800"/>
              <a:t>computing</a:t>
            </a:r>
            <a:endParaRPr lang="en-US" sz="5800" dirty="0"/>
          </a:p>
        </p:txBody>
      </p:sp>
      <p:sp>
        <p:nvSpPr>
          <p:cNvPr id="3" name="Subtitle 2">
            <a:extLst>
              <a:ext uri="{FF2B5EF4-FFF2-40B4-BE49-F238E27FC236}">
                <a16:creationId xmlns:a16="http://schemas.microsoft.com/office/drawing/2014/main" id="{30B473AC-FAE5-08F1-B10B-0BB328814639}"/>
              </a:ext>
            </a:extLst>
          </p:cNvPr>
          <p:cNvSpPr>
            <a:spLocks noGrp="1"/>
          </p:cNvSpPr>
          <p:nvPr>
            <p:ph type="subTitle" idx="1"/>
          </p:nvPr>
        </p:nvSpPr>
        <p:spPr>
          <a:xfrm>
            <a:off x="7482646" y="4495013"/>
            <a:ext cx="4116410" cy="1386840"/>
          </a:xfrm>
        </p:spPr>
        <p:txBody>
          <a:bodyPr anchor="t">
            <a:normAutofit/>
          </a:bodyPr>
          <a:lstStyle/>
          <a:p>
            <a:pPr algn="l"/>
            <a:r>
              <a:rPr lang="en-US" sz="2200"/>
              <a:t>Sec.5</a:t>
            </a:r>
            <a:endParaRPr lang="en-US" sz="2200" dirty="0"/>
          </a:p>
          <a:p>
            <a:pPr algn="l"/>
            <a:r>
              <a:rPr lang="en-US" sz="2200" dirty="0"/>
              <a:t>Eng/ Mariam Malak</a:t>
            </a:r>
          </a:p>
        </p:txBody>
      </p:sp>
    </p:spTree>
    <p:extLst>
      <p:ext uri="{BB962C8B-B14F-4D97-AF65-F5344CB8AC3E}">
        <p14:creationId xmlns:p14="http://schemas.microsoft.com/office/powerpoint/2010/main" val="177730384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E9C86-2AA2-2EEA-1EC5-FCF6D9ECEC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F361B5-EDB1-BF07-D7B3-E982984FCBB5}"/>
              </a:ext>
            </a:extLst>
          </p:cNvPr>
          <p:cNvSpPr>
            <a:spLocks noGrp="1"/>
          </p:cNvSpPr>
          <p:nvPr>
            <p:ph type="title"/>
          </p:nvPr>
        </p:nvSpPr>
        <p:spPr>
          <a:xfrm>
            <a:off x="612648" y="548640"/>
            <a:ext cx="10653578" cy="903642"/>
          </a:xfrm>
        </p:spPr>
        <p:txBody>
          <a:bodyPr>
            <a:normAutofit/>
          </a:bodyPr>
          <a:lstStyle/>
          <a:p>
            <a:r>
              <a:rPr lang="en-US" dirty="0"/>
              <a:t>Race condition</a:t>
            </a:r>
            <a:br>
              <a:rPr lang="en-US" dirty="0"/>
            </a:br>
            <a:r>
              <a:rPr lang="en-US" sz="1800" b="0" dirty="0"/>
              <a:t>when the program’s outcome changes as the threads are scheduled differently</a:t>
            </a:r>
            <a:endParaRPr lang="en-US" b="0" dirty="0"/>
          </a:p>
        </p:txBody>
      </p:sp>
      <p:sp>
        <p:nvSpPr>
          <p:cNvPr id="3" name="Content Placeholder 2">
            <a:extLst>
              <a:ext uri="{FF2B5EF4-FFF2-40B4-BE49-F238E27FC236}">
                <a16:creationId xmlns:a16="http://schemas.microsoft.com/office/drawing/2014/main" id="{BCD3AF27-F75A-8C13-8977-7C838DCCD795}"/>
              </a:ext>
            </a:extLst>
          </p:cNvPr>
          <p:cNvSpPr>
            <a:spLocks noGrp="1"/>
          </p:cNvSpPr>
          <p:nvPr>
            <p:ph idx="1"/>
          </p:nvPr>
        </p:nvSpPr>
        <p:spPr/>
        <p:txBody>
          <a:bodyPr>
            <a:normAutofit fontScale="85000" lnSpcReduction="10000"/>
          </a:bodyPr>
          <a:lstStyle/>
          <a:p>
            <a:r>
              <a:rPr lang="en-US" dirty="0"/>
              <a:t>A </a:t>
            </a:r>
            <a:r>
              <a:rPr lang="en-US" b="1" dirty="0"/>
              <a:t>data race </a:t>
            </a:r>
            <a:r>
              <a:rPr lang="en-US" dirty="0"/>
              <a:t>occurs when two or more </a:t>
            </a:r>
            <a:r>
              <a:rPr lang="en-US" u="sng" dirty="0"/>
              <a:t>threads access the same memory location and at least one of those accesses is a write</a:t>
            </a:r>
            <a:r>
              <a:rPr lang="en-US" dirty="0"/>
              <a:t>. This constitutes a problem as uncoordinated modifications can lead to data corruption. </a:t>
            </a:r>
          </a:p>
          <a:p>
            <a:r>
              <a:rPr lang="en-US" dirty="0"/>
              <a:t>A </a:t>
            </a:r>
            <a:r>
              <a:rPr lang="en-US" b="1" dirty="0"/>
              <a:t>race condition </a:t>
            </a:r>
            <a:r>
              <a:rPr lang="en-US" dirty="0"/>
              <a:t>on the other hand is an </a:t>
            </a:r>
            <a:r>
              <a:rPr lang="en-US" u="sng" dirty="0"/>
              <a:t>abnormal program behavior caused by dependence of the result on the relative timing of events in the program</a:t>
            </a:r>
            <a:r>
              <a:rPr lang="en-US" dirty="0"/>
              <a:t>. A race condition can exist even if there is no data race and the opposite is also true, i.e., a data race can exist without producing a race condition.</a:t>
            </a:r>
          </a:p>
          <a:p>
            <a:r>
              <a:rPr lang="en-US" dirty="0"/>
              <a:t>A </a:t>
            </a:r>
            <a:r>
              <a:rPr lang="en-US" b="1" dirty="0"/>
              <a:t>race condition </a:t>
            </a:r>
            <a:r>
              <a:rPr lang="en-US" dirty="0"/>
              <a:t>occurs when the behavior of a system depends on the timing or sequence of uncontrollable events, leading to unpredictable or undesirable outcomes.</a:t>
            </a:r>
          </a:p>
          <a:p>
            <a:r>
              <a:rPr lang="en-US" dirty="0"/>
              <a:t>A race condition occurs when two or more processes or threads access and modify the same data at the same time, and the final result depends on the order in which they run.</a:t>
            </a:r>
          </a:p>
          <a:p>
            <a:r>
              <a:rPr lang="en-US" dirty="0"/>
              <a:t>Without proper coordination, this can lead to incorrect or unpredictable results. For example, if two people update the same bank account simultaneously without checking each other’s changes, the final balance may be wrong</a:t>
            </a:r>
          </a:p>
          <a:p>
            <a:pPr marL="0" indent="0">
              <a:buNone/>
            </a:pPr>
            <a:endParaRPr lang="en-US" dirty="0"/>
          </a:p>
        </p:txBody>
      </p:sp>
    </p:spTree>
    <p:extLst>
      <p:ext uri="{BB962C8B-B14F-4D97-AF65-F5344CB8AC3E}">
        <p14:creationId xmlns:p14="http://schemas.microsoft.com/office/powerpoint/2010/main" val="15325982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82B4DD">
            <a:alpha val="8000"/>
          </a:srgbClr>
        </a:solidFill>
        <a:effectLst/>
      </p:bgPr>
    </p:bg>
    <p:spTree>
      <p:nvGrpSpPr>
        <p:cNvPr id="1" name="">
          <a:extLst>
            <a:ext uri="{FF2B5EF4-FFF2-40B4-BE49-F238E27FC236}">
              <a16:creationId xmlns:a16="http://schemas.microsoft.com/office/drawing/2014/main" id="{6622C10D-8072-4E7E-7E05-27F0CCA785F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207B083-EAC0-A5BB-C369-C9589EC7F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403E95-9193-1D95-DCB9-5E0A7684630B}"/>
              </a:ext>
            </a:extLst>
          </p:cNvPr>
          <p:cNvSpPr>
            <a:spLocks noGrp="1"/>
          </p:cNvSpPr>
          <p:nvPr>
            <p:ph type="title"/>
          </p:nvPr>
        </p:nvSpPr>
        <p:spPr>
          <a:xfrm>
            <a:off x="240632" y="42992"/>
            <a:ext cx="10872216" cy="1121023"/>
          </a:xfrm>
        </p:spPr>
        <p:txBody>
          <a:bodyPr anchor="b">
            <a:normAutofit/>
          </a:bodyPr>
          <a:lstStyle/>
          <a:p>
            <a:r>
              <a:rPr lang="en-US" sz="3300" dirty="0"/>
              <a:t>Race condition</a:t>
            </a:r>
            <a:br>
              <a:rPr lang="en-US" sz="3300" dirty="0"/>
            </a:br>
            <a:r>
              <a:rPr lang="en-US" sz="1800" b="0" dirty="0"/>
              <a:t>when the program’s outcome changes as the threads are scheduled differently</a:t>
            </a:r>
          </a:p>
        </p:txBody>
      </p:sp>
      <p:pic>
        <p:nvPicPr>
          <p:cNvPr id="5" name="Picture 4">
            <a:extLst>
              <a:ext uri="{FF2B5EF4-FFF2-40B4-BE49-F238E27FC236}">
                <a16:creationId xmlns:a16="http://schemas.microsoft.com/office/drawing/2014/main" id="{BE1832E8-B833-E8F9-3182-0D27466FDB39}"/>
              </a:ext>
            </a:extLst>
          </p:cNvPr>
          <p:cNvPicPr>
            <a:picLocks noChangeAspect="1"/>
          </p:cNvPicPr>
          <p:nvPr/>
        </p:nvPicPr>
        <p:blipFill>
          <a:blip r:embed="rId2">
            <a:extLst>
              <a:ext uri="{28A0092B-C50C-407E-A947-70E740481C1C}">
                <a14:useLocalDpi xmlns:a14="http://schemas.microsoft.com/office/drawing/2010/main" val="0"/>
              </a:ext>
            </a:extLst>
          </a:blip>
          <a:srcRect l="4281" t="1466" r="11173"/>
          <a:stretch>
            <a:fillRect/>
          </a:stretch>
        </p:blipFill>
        <p:spPr>
          <a:xfrm>
            <a:off x="192505" y="1379621"/>
            <a:ext cx="6047873" cy="4874875"/>
          </a:xfrm>
          <a:prstGeom prst="rect">
            <a:avLst/>
          </a:prstGeom>
        </p:spPr>
      </p:pic>
      <p:sp>
        <p:nvSpPr>
          <p:cNvPr id="3" name="Content Placeholder 2">
            <a:extLst>
              <a:ext uri="{FF2B5EF4-FFF2-40B4-BE49-F238E27FC236}">
                <a16:creationId xmlns:a16="http://schemas.microsoft.com/office/drawing/2014/main" id="{48D93900-40E0-71A1-5A5D-2ACD5042F18C}"/>
              </a:ext>
            </a:extLst>
          </p:cNvPr>
          <p:cNvSpPr>
            <a:spLocks noGrp="1"/>
          </p:cNvSpPr>
          <p:nvPr>
            <p:ph idx="1"/>
          </p:nvPr>
        </p:nvSpPr>
        <p:spPr>
          <a:xfrm>
            <a:off x="6400802" y="1973179"/>
            <a:ext cx="5508262" cy="4281317"/>
          </a:xfrm>
        </p:spPr>
        <p:txBody>
          <a:bodyPr anchor="t">
            <a:normAutofit/>
          </a:bodyPr>
          <a:lstStyle/>
          <a:p>
            <a:r>
              <a:rPr lang="en-US" sz="1800" dirty="0"/>
              <a:t>One of main reasons is </a:t>
            </a:r>
            <a:r>
              <a:rPr lang="en-US" sz="1800" b="1" dirty="0"/>
              <a:t>Simultaneous Access:</a:t>
            </a:r>
            <a:r>
              <a:rPr lang="en-US" sz="1800" dirty="0"/>
              <a:t> when two or more processes try to read or write the same shared resource at the same time.</a:t>
            </a:r>
          </a:p>
          <a:p>
            <a:r>
              <a:rPr lang="en-US" sz="1800" dirty="0"/>
              <a:t>Another reason is </a:t>
            </a:r>
            <a:r>
              <a:rPr lang="en-US" sz="1800" b="1" dirty="0"/>
              <a:t>Shared Resource</a:t>
            </a:r>
            <a:r>
              <a:rPr lang="en-US" sz="1800" dirty="0"/>
              <a:t>: A variable, file, memory location, or device accessed by multiple processes.</a:t>
            </a:r>
          </a:p>
          <a:p>
            <a:pPr marL="0" indent="0">
              <a:buNone/>
            </a:pPr>
            <a:endParaRPr lang="en-US" sz="1800" dirty="0"/>
          </a:p>
          <a:p>
            <a:pPr marL="0" indent="0">
              <a:buNone/>
            </a:pPr>
            <a:endParaRPr lang="en-US" sz="1800" dirty="0"/>
          </a:p>
        </p:txBody>
      </p:sp>
    </p:spTree>
    <p:extLst>
      <p:ext uri="{BB962C8B-B14F-4D97-AF65-F5344CB8AC3E}">
        <p14:creationId xmlns:p14="http://schemas.microsoft.com/office/powerpoint/2010/main" val="3888841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82B4DD">
            <a:alpha val="8000"/>
          </a:srgbClr>
        </a:solidFill>
        <a:effectLst/>
      </p:bgPr>
    </p:bg>
    <p:spTree>
      <p:nvGrpSpPr>
        <p:cNvPr id="1" name="">
          <a:extLst>
            <a:ext uri="{FF2B5EF4-FFF2-40B4-BE49-F238E27FC236}">
              <a16:creationId xmlns:a16="http://schemas.microsoft.com/office/drawing/2014/main" id="{FE738E46-D1D5-6F64-9681-ECF719497CD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89EA93B-9403-5B9F-5D13-E01B4D474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DD5243-BDD6-B809-641C-FEF8EADE41B4}"/>
              </a:ext>
            </a:extLst>
          </p:cNvPr>
          <p:cNvSpPr>
            <a:spLocks noGrp="1"/>
          </p:cNvSpPr>
          <p:nvPr>
            <p:ph type="title"/>
          </p:nvPr>
        </p:nvSpPr>
        <p:spPr>
          <a:xfrm>
            <a:off x="240632" y="42992"/>
            <a:ext cx="10872216" cy="1121023"/>
          </a:xfrm>
        </p:spPr>
        <p:txBody>
          <a:bodyPr anchor="b">
            <a:normAutofit/>
          </a:bodyPr>
          <a:lstStyle/>
          <a:p>
            <a:r>
              <a:rPr lang="en-US" sz="3300" dirty="0"/>
              <a:t>Race condition</a:t>
            </a:r>
            <a:br>
              <a:rPr lang="en-US" sz="3300" dirty="0"/>
            </a:br>
            <a:r>
              <a:rPr lang="en-US" sz="1800" b="0" dirty="0"/>
              <a:t>when the program’s outcome changes as the threads are scheduled differently</a:t>
            </a:r>
          </a:p>
        </p:txBody>
      </p:sp>
      <p:sp>
        <p:nvSpPr>
          <p:cNvPr id="3" name="Content Placeholder 2">
            <a:extLst>
              <a:ext uri="{FF2B5EF4-FFF2-40B4-BE49-F238E27FC236}">
                <a16:creationId xmlns:a16="http://schemas.microsoft.com/office/drawing/2014/main" id="{F50421C4-E580-051B-1FDD-74F1536C09B8}"/>
              </a:ext>
            </a:extLst>
          </p:cNvPr>
          <p:cNvSpPr>
            <a:spLocks noGrp="1"/>
          </p:cNvSpPr>
          <p:nvPr>
            <p:ph idx="1"/>
          </p:nvPr>
        </p:nvSpPr>
        <p:spPr>
          <a:xfrm>
            <a:off x="240632" y="1604211"/>
            <a:ext cx="11668432" cy="4650285"/>
          </a:xfrm>
        </p:spPr>
        <p:txBody>
          <a:bodyPr anchor="t">
            <a:normAutofit/>
          </a:bodyPr>
          <a:lstStyle/>
          <a:p>
            <a:pPr fontAlgn="base"/>
            <a:r>
              <a:rPr lang="en-US" b="1" dirty="0"/>
              <a:t>Effects of Race Conditions</a:t>
            </a:r>
          </a:p>
          <a:p>
            <a:pPr marL="457200" indent="-457200" fontAlgn="base">
              <a:buFont typeface="+mj-lt"/>
              <a:buAutoNum type="arabicPeriod"/>
            </a:pPr>
            <a:r>
              <a:rPr lang="en-US" b="1" dirty="0"/>
              <a:t>Data Corruption</a:t>
            </a:r>
            <a:r>
              <a:rPr lang="en-US" dirty="0"/>
              <a:t>: Shared data may become inconsistent.</a:t>
            </a:r>
          </a:p>
          <a:p>
            <a:pPr marL="457200" indent="-457200" fontAlgn="base">
              <a:buFont typeface="+mj-lt"/>
              <a:buAutoNum type="arabicPeriod"/>
            </a:pPr>
            <a:r>
              <a:rPr lang="en-US" b="1" dirty="0"/>
              <a:t>Unpredictable Behavior</a:t>
            </a:r>
            <a:r>
              <a:rPr lang="en-US" dirty="0"/>
              <a:t>: The output may vary every time the program runs.</a:t>
            </a:r>
          </a:p>
          <a:p>
            <a:pPr marL="457200" indent="-457200" fontAlgn="base">
              <a:buFont typeface="+mj-lt"/>
              <a:buAutoNum type="arabicPeriod"/>
            </a:pPr>
            <a:r>
              <a:rPr lang="en-US" b="1" dirty="0"/>
              <a:t>Security Risks:</a:t>
            </a:r>
            <a:r>
              <a:rPr lang="en-US" dirty="0"/>
              <a:t> Race conditions can be exploited, e.g., in banking transactions or authentication bypass.</a:t>
            </a:r>
          </a:p>
          <a:p>
            <a:pPr marL="457200" indent="-457200" fontAlgn="base">
              <a:buFont typeface="+mj-lt"/>
              <a:buAutoNum type="arabicPeriod"/>
            </a:pPr>
            <a:r>
              <a:rPr lang="en-US" b="1" dirty="0"/>
              <a:t>System Crashes: </a:t>
            </a:r>
            <a:r>
              <a:rPr lang="en-US" dirty="0"/>
              <a:t>Critical system data may get corrupted, leading to failures.</a:t>
            </a:r>
          </a:p>
          <a:p>
            <a:r>
              <a:rPr lang="en-US" sz="1800" dirty="0"/>
              <a:t>First thing to think about to solve this problem is making every thread accesses variable that other threads don’t access it.</a:t>
            </a:r>
          </a:p>
          <a:p>
            <a:pPr marL="0" indent="0" algn="ctr">
              <a:buNone/>
            </a:pPr>
            <a:r>
              <a:rPr lang="en-US" sz="1800" dirty="0">
                <a:solidFill>
                  <a:srgbClr val="FF0000"/>
                </a:solidFill>
              </a:rPr>
              <a:t>[let’s code it]</a:t>
            </a:r>
          </a:p>
          <a:p>
            <a:pPr marL="0" indent="0">
              <a:buNone/>
            </a:pPr>
            <a:endParaRPr lang="en-US" sz="1800" dirty="0"/>
          </a:p>
        </p:txBody>
      </p:sp>
    </p:spTree>
    <p:extLst>
      <p:ext uri="{BB962C8B-B14F-4D97-AF65-F5344CB8AC3E}">
        <p14:creationId xmlns:p14="http://schemas.microsoft.com/office/powerpoint/2010/main" val="2736659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82B4DD">
            <a:alpha val="8000"/>
          </a:srgbClr>
        </a:solidFill>
        <a:effectLst/>
      </p:bgPr>
    </p:bg>
    <p:spTree>
      <p:nvGrpSpPr>
        <p:cNvPr id="1" name="">
          <a:extLst>
            <a:ext uri="{FF2B5EF4-FFF2-40B4-BE49-F238E27FC236}">
              <a16:creationId xmlns:a16="http://schemas.microsoft.com/office/drawing/2014/main" id="{100A48C8-53D5-7DF0-A7B7-F5F06BF69CBF}"/>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06F178-5628-B303-411E-E9284D1AB02C}"/>
              </a:ext>
            </a:extLst>
          </p:cNvPr>
          <p:cNvSpPr>
            <a:spLocks noGrp="1"/>
          </p:cNvSpPr>
          <p:nvPr>
            <p:ph type="title"/>
          </p:nvPr>
        </p:nvSpPr>
        <p:spPr>
          <a:xfrm>
            <a:off x="5568532" y="207264"/>
            <a:ext cx="5916169" cy="911352"/>
          </a:xfrm>
        </p:spPr>
        <p:txBody>
          <a:bodyPr anchor="b">
            <a:normAutofit fontScale="90000"/>
          </a:bodyPr>
          <a:lstStyle/>
          <a:p>
            <a:r>
              <a:rPr lang="en-US" sz="2500" dirty="0"/>
              <a:t>Race condition</a:t>
            </a:r>
            <a:br>
              <a:rPr lang="en-US" sz="2500" dirty="0"/>
            </a:br>
            <a:r>
              <a:rPr lang="en-US" sz="1800" b="0" dirty="0"/>
              <a:t>when the program’s outcome changes as the threads are scheduled differently</a:t>
            </a:r>
          </a:p>
        </p:txBody>
      </p:sp>
      <p:pic>
        <p:nvPicPr>
          <p:cNvPr id="5" name="Picture 4">
            <a:extLst>
              <a:ext uri="{FF2B5EF4-FFF2-40B4-BE49-F238E27FC236}">
                <a16:creationId xmlns:a16="http://schemas.microsoft.com/office/drawing/2014/main" id="{D0E704AD-B122-0FE6-1FA4-4BB9EADCA4C1}"/>
              </a:ext>
            </a:extLst>
          </p:cNvPr>
          <p:cNvPicPr>
            <a:picLocks noChangeAspect="1"/>
          </p:cNvPicPr>
          <p:nvPr/>
        </p:nvPicPr>
        <p:blipFill>
          <a:blip r:embed="rId2">
            <a:extLst>
              <a:ext uri="{28A0092B-C50C-407E-A947-70E740481C1C}">
                <a14:useLocalDpi xmlns:a14="http://schemas.microsoft.com/office/drawing/2010/main" val="0"/>
              </a:ext>
            </a:extLst>
          </a:blip>
          <a:srcRect l="-126" r="16167"/>
          <a:stretch>
            <a:fillRect/>
          </a:stretch>
        </p:blipFill>
        <p:spPr>
          <a:xfrm>
            <a:off x="264160" y="207264"/>
            <a:ext cx="4765040" cy="6254496"/>
          </a:xfrm>
          <a:prstGeom prst="rect">
            <a:avLst/>
          </a:prstGeom>
        </p:spPr>
      </p:pic>
      <p:sp>
        <p:nvSpPr>
          <p:cNvPr id="3" name="Content Placeholder 2">
            <a:extLst>
              <a:ext uri="{FF2B5EF4-FFF2-40B4-BE49-F238E27FC236}">
                <a16:creationId xmlns:a16="http://schemas.microsoft.com/office/drawing/2014/main" id="{D15732D8-4CDF-F67E-E557-D85E39FFDEE1}"/>
              </a:ext>
            </a:extLst>
          </p:cNvPr>
          <p:cNvSpPr>
            <a:spLocks noGrp="1"/>
          </p:cNvSpPr>
          <p:nvPr>
            <p:ph idx="1"/>
          </p:nvPr>
        </p:nvSpPr>
        <p:spPr>
          <a:xfrm>
            <a:off x="5568533" y="2214282"/>
            <a:ext cx="5916169" cy="4095078"/>
          </a:xfrm>
        </p:spPr>
        <p:txBody>
          <a:bodyPr>
            <a:normAutofit/>
          </a:bodyPr>
          <a:lstStyle/>
          <a:p>
            <a:r>
              <a:rPr lang="en-US" sz="1800" dirty="0"/>
              <a:t>Code with race condition</a:t>
            </a:r>
          </a:p>
          <a:p>
            <a:pPr marL="0" indent="0">
              <a:buNone/>
            </a:pPr>
            <a:endParaRPr lang="en-US" sz="1800" dirty="0"/>
          </a:p>
          <a:p>
            <a:pPr marL="0" indent="0">
              <a:buNone/>
            </a:pPr>
            <a:endParaRPr lang="en-US" sz="1800" dirty="0"/>
          </a:p>
        </p:txBody>
      </p:sp>
    </p:spTree>
    <p:extLst>
      <p:ext uri="{BB962C8B-B14F-4D97-AF65-F5344CB8AC3E}">
        <p14:creationId xmlns:p14="http://schemas.microsoft.com/office/powerpoint/2010/main" val="1750730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82B4DD">
            <a:alpha val="8000"/>
          </a:srgbClr>
        </a:solidFill>
        <a:effectLst/>
      </p:bgPr>
    </p:bg>
    <p:spTree>
      <p:nvGrpSpPr>
        <p:cNvPr id="1" name="">
          <a:extLst>
            <a:ext uri="{FF2B5EF4-FFF2-40B4-BE49-F238E27FC236}">
              <a16:creationId xmlns:a16="http://schemas.microsoft.com/office/drawing/2014/main" id="{C8E99852-633B-A4FB-F5BB-FA8DBFC325F5}"/>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C215258-845A-8E06-E366-A44A72F30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AE6E93-1A93-F2E8-B13F-6C02695D3ACB}"/>
              </a:ext>
            </a:extLst>
          </p:cNvPr>
          <p:cNvSpPr>
            <a:spLocks noGrp="1"/>
          </p:cNvSpPr>
          <p:nvPr>
            <p:ph type="title"/>
          </p:nvPr>
        </p:nvSpPr>
        <p:spPr>
          <a:xfrm>
            <a:off x="5568532" y="207264"/>
            <a:ext cx="5916169" cy="911352"/>
          </a:xfrm>
        </p:spPr>
        <p:txBody>
          <a:bodyPr anchor="b">
            <a:normAutofit fontScale="90000"/>
          </a:bodyPr>
          <a:lstStyle/>
          <a:p>
            <a:r>
              <a:rPr lang="en-US" sz="2500" dirty="0"/>
              <a:t>Race condition</a:t>
            </a:r>
            <a:br>
              <a:rPr lang="en-US" sz="2500" dirty="0"/>
            </a:br>
            <a:r>
              <a:rPr lang="en-US" sz="1800" b="0" dirty="0"/>
              <a:t>when the program’s outcome changes as the threads are scheduled differently</a:t>
            </a:r>
          </a:p>
        </p:txBody>
      </p:sp>
      <p:pic>
        <p:nvPicPr>
          <p:cNvPr id="5" name="Picture 4">
            <a:extLst>
              <a:ext uri="{FF2B5EF4-FFF2-40B4-BE49-F238E27FC236}">
                <a16:creationId xmlns:a16="http://schemas.microsoft.com/office/drawing/2014/main" id="{1DB3442B-1BD0-2B7D-2B57-F3892463DEAB}"/>
              </a:ext>
            </a:extLst>
          </p:cNvPr>
          <p:cNvPicPr>
            <a:picLocks noChangeAspect="1"/>
          </p:cNvPicPr>
          <p:nvPr/>
        </p:nvPicPr>
        <p:blipFill>
          <a:blip r:embed="rId2">
            <a:extLst>
              <a:ext uri="{28A0092B-C50C-407E-A947-70E740481C1C}">
                <a14:useLocalDpi xmlns:a14="http://schemas.microsoft.com/office/drawing/2010/main" val="0"/>
              </a:ext>
            </a:extLst>
          </a:blip>
          <a:srcRect l="-837" r="15238"/>
          <a:stretch>
            <a:fillRect/>
          </a:stretch>
        </p:blipFill>
        <p:spPr>
          <a:xfrm>
            <a:off x="199697" y="207264"/>
            <a:ext cx="4456386" cy="6254496"/>
          </a:xfrm>
          <a:prstGeom prst="rect">
            <a:avLst/>
          </a:prstGeom>
        </p:spPr>
      </p:pic>
      <p:sp>
        <p:nvSpPr>
          <p:cNvPr id="3" name="Content Placeholder 2">
            <a:extLst>
              <a:ext uri="{FF2B5EF4-FFF2-40B4-BE49-F238E27FC236}">
                <a16:creationId xmlns:a16="http://schemas.microsoft.com/office/drawing/2014/main" id="{E64E3725-F73A-7233-B0A7-53FEC64DC371}"/>
              </a:ext>
            </a:extLst>
          </p:cNvPr>
          <p:cNvSpPr>
            <a:spLocks noGrp="1"/>
          </p:cNvSpPr>
          <p:nvPr>
            <p:ph idx="1"/>
          </p:nvPr>
        </p:nvSpPr>
        <p:spPr>
          <a:xfrm>
            <a:off x="5568533" y="2214282"/>
            <a:ext cx="5916169" cy="4095078"/>
          </a:xfrm>
        </p:spPr>
        <p:txBody>
          <a:bodyPr>
            <a:normAutofit/>
          </a:bodyPr>
          <a:lstStyle/>
          <a:p>
            <a:r>
              <a:rPr lang="en-US" sz="1800" dirty="0"/>
              <a:t>Code without race condition</a:t>
            </a:r>
          </a:p>
          <a:p>
            <a:pPr marL="0" indent="0">
              <a:buNone/>
            </a:pPr>
            <a:endParaRPr lang="en-US" sz="1800" dirty="0"/>
          </a:p>
          <a:p>
            <a:pPr marL="0" indent="0">
              <a:buNone/>
            </a:pPr>
            <a:endParaRPr lang="en-US" sz="1800" dirty="0"/>
          </a:p>
        </p:txBody>
      </p:sp>
      <p:pic>
        <p:nvPicPr>
          <p:cNvPr id="6" name="Picture 5">
            <a:extLst>
              <a:ext uri="{FF2B5EF4-FFF2-40B4-BE49-F238E27FC236}">
                <a16:creationId xmlns:a16="http://schemas.microsoft.com/office/drawing/2014/main" id="{FDE988B0-E3F3-5C2A-F374-79C6BDB4AE6E}"/>
              </a:ext>
            </a:extLst>
          </p:cNvPr>
          <p:cNvPicPr>
            <a:picLocks noChangeAspect="1"/>
          </p:cNvPicPr>
          <p:nvPr/>
        </p:nvPicPr>
        <p:blipFill>
          <a:blip r:embed="rId3"/>
          <a:stretch>
            <a:fillRect/>
          </a:stretch>
        </p:blipFill>
        <p:spPr>
          <a:xfrm>
            <a:off x="4855780" y="3411413"/>
            <a:ext cx="4429743" cy="2114845"/>
          </a:xfrm>
          <a:prstGeom prst="rect">
            <a:avLst/>
          </a:prstGeom>
        </p:spPr>
      </p:pic>
    </p:spTree>
    <p:extLst>
      <p:ext uri="{BB962C8B-B14F-4D97-AF65-F5344CB8AC3E}">
        <p14:creationId xmlns:p14="http://schemas.microsoft.com/office/powerpoint/2010/main" val="3269497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82B4DD">
            <a:alpha val="8000"/>
          </a:srgbClr>
        </a:solidFill>
        <a:effectLst/>
      </p:bgPr>
    </p:bg>
    <p:spTree>
      <p:nvGrpSpPr>
        <p:cNvPr id="1" name="">
          <a:extLst>
            <a:ext uri="{FF2B5EF4-FFF2-40B4-BE49-F238E27FC236}">
              <a16:creationId xmlns:a16="http://schemas.microsoft.com/office/drawing/2014/main" id="{8D1B7A06-2308-5917-BA4D-31041C866C63}"/>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C54E044-AD7B-51CD-74F5-31C104B4B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32449A-585E-630A-5085-C5757D75D345}"/>
              </a:ext>
            </a:extLst>
          </p:cNvPr>
          <p:cNvSpPr>
            <a:spLocks noGrp="1"/>
          </p:cNvSpPr>
          <p:nvPr>
            <p:ph type="title"/>
          </p:nvPr>
        </p:nvSpPr>
        <p:spPr>
          <a:xfrm>
            <a:off x="126125" y="-64921"/>
            <a:ext cx="11358577" cy="911352"/>
          </a:xfrm>
        </p:spPr>
        <p:txBody>
          <a:bodyPr anchor="b">
            <a:normAutofit/>
          </a:bodyPr>
          <a:lstStyle/>
          <a:p>
            <a:r>
              <a:rPr lang="en-US" sz="2500" dirty="0"/>
              <a:t>Race condition</a:t>
            </a:r>
            <a:br>
              <a:rPr lang="en-US" sz="2500" dirty="0"/>
            </a:br>
            <a:r>
              <a:rPr lang="en-US" sz="1800" b="0" dirty="0"/>
              <a:t>when the program’s outcome changes as the threads are scheduled differently</a:t>
            </a:r>
          </a:p>
        </p:txBody>
      </p:sp>
      <p:pic>
        <p:nvPicPr>
          <p:cNvPr id="5" name="Picture 4">
            <a:extLst>
              <a:ext uri="{FF2B5EF4-FFF2-40B4-BE49-F238E27FC236}">
                <a16:creationId xmlns:a16="http://schemas.microsoft.com/office/drawing/2014/main" id="{7933F2BA-E0CE-6B92-4E65-FF1B7E622CE5}"/>
              </a:ext>
            </a:extLst>
          </p:cNvPr>
          <p:cNvPicPr>
            <a:picLocks noChangeAspect="1"/>
          </p:cNvPicPr>
          <p:nvPr/>
        </p:nvPicPr>
        <p:blipFill>
          <a:blip r:embed="rId2">
            <a:extLst>
              <a:ext uri="{28A0092B-C50C-407E-A947-70E740481C1C}">
                <a14:useLocalDpi xmlns:a14="http://schemas.microsoft.com/office/drawing/2010/main" val="0"/>
              </a:ext>
            </a:extLst>
          </a:blip>
          <a:srcRect l="1044" r="17579"/>
          <a:stretch>
            <a:fillRect/>
          </a:stretch>
        </p:blipFill>
        <p:spPr>
          <a:xfrm>
            <a:off x="6836402" y="2068089"/>
            <a:ext cx="5318234" cy="4388938"/>
          </a:xfrm>
          <a:prstGeom prst="rect">
            <a:avLst/>
          </a:prstGeom>
        </p:spPr>
      </p:pic>
      <p:sp>
        <p:nvSpPr>
          <p:cNvPr id="3" name="Content Placeholder 2">
            <a:extLst>
              <a:ext uri="{FF2B5EF4-FFF2-40B4-BE49-F238E27FC236}">
                <a16:creationId xmlns:a16="http://schemas.microsoft.com/office/drawing/2014/main" id="{5A25B442-FA3B-034E-9119-7B8FA699D6EE}"/>
              </a:ext>
            </a:extLst>
          </p:cNvPr>
          <p:cNvSpPr>
            <a:spLocks noGrp="1"/>
          </p:cNvSpPr>
          <p:nvPr>
            <p:ph idx="1"/>
          </p:nvPr>
        </p:nvSpPr>
        <p:spPr>
          <a:xfrm>
            <a:off x="6836402" y="1364326"/>
            <a:ext cx="5916169" cy="760146"/>
          </a:xfrm>
        </p:spPr>
        <p:txBody>
          <a:bodyPr>
            <a:normAutofit/>
          </a:bodyPr>
          <a:lstStyle/>
          <a:p>
            <a:r>
              <a:rPr lang="en-US" sz="1800" dirty="0"/>
              <a:t>Output without race condition</a:t>
            </a:r>
          </a:p>
          <a:p>
            <a:pPr marL="0" indent="0">
              <a:buNone/>
            </a:pPr>
            <a:endParaRPr lang="en-US" sz="1800" dirty="0"/>
          </a:p>
          <a:p>
            <a:pPr marL="0" indent="0">
              <a:buNone/>
            </a:pPr>
            <a:endParaRPr lang="en-US" sz="1800" dirty="0"/>
          </a:p>
        </p:txBody>
      </p:sp>
      <p:pic>
        <p:nvPicPr>
          <p:cNvPr id="4" name="Picture 3">
            <a:extLst>
              <a:ext uri="{FF2B5EF4-FFF2-40B4-BE49-F238E27FC236}">
                <a16:creationId xmlns:a16="http://schemas.microsoft.com/office/drawing/2014/main" id="{B70100DF-2127-C806-446A-2D45D5C4B452}"/>
              </a:ext>
            </a:extLst>
          </p:cNvPr>
          <p:cNvPicPr>
            <a:picLocks noChangeAspect="1"/>
          </p:cNvPicPr>
          <p:nvPr/>
        </p:nvPicPr>
        <p:blipFill>
          <a:blip r:embed="rId3">
            <a:extLst>
              <a:ext uri="{28A0092B-C50C-407E-A947-70E740481C1C}">
                <a14:useLocalDpi xmlns:a14="http://schemas.microsoft.com/office/drawing/2010/main" val="0"/>
              </a:ext>
            </a:extLst>
          </a:blip>
          <a:srcRect l="-706" t="-1230" r="18677" b="1230"/>
          <a:stretch>
            <a:fillRect/>
          </a:stretch>
        </p:blipFill>
        <p:spPr>
          <a:xfrm>
            <a:off x="346842" y="2036892"/>
            <a:ext cx="5749158" cy="4388938"/>
          </a:xfrm>
          <a:prstGeom prst="rect">
            <a:avLst/>
          </a:prstGeom>
        </p:spPr>
      </p:pic>
      <p:sp>
        <p:nvSpPr>
          <p:cNvPr id="7" name="Content Placeholder 2">
            <a:extLst>
              <a:ext uri="{FF2B5EF4-FFF2-40B4-BE49-F238E27FC236}">
                <a16:creationId xmlns:a16="http://schemas.microsoft.com/office/drawing/2014/main" id="{900EE28C-0AD4-0322-F1F3-2F6896B1F1E8}"/>
              </a:ext>
            </a:extLst>
          </p:cNvPr>
          <p:cNvSpPr txBox="1">
            <a:spLocks/>
          </p:cNvSpPr>
          <p:nvPr/>
        </p:nvSpPr>
        <p:spPr>
          <a:xfrm>
            <a:off x="278525" y="1284629"/>
            <a:ext cx="5916169" cy="760146"/>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Output with race condition</a:t>
            </a:r>
          </a:p>
          <a:p>
            <a:pPr marL="0" indent="0">
              <a:buFont typeface="Arial" panose="020B0604020202020204" pitchFamily="34" charset="0"/>
              <a:buNone/>
            </a:pPr>
            <a:endParaRPr lang="en-US" sz="1800" dirty="0"/>
          </a:p>
          <a:p>
            <a:pPr marL="0" indent="0">
              <a:buFont typeface="Arial" panose="020B0604020202020204" pitchFamily="34" charset="0"/>
              <a:buNone/>
            </a:pPr>
            <a:endParaRPr lang="en-US" sz="1800" dirty="0"/>
          </a:p>
        </p:txBody>
      </p:sp>
      <p:sp>
        <p:nvSpPr>
          <p:cNvPr id="8" name="Content Placeholder 2">
            <a:extLst>
              <a:ext uri="{FF2B5EF4-FFF2-40B4-BE49-F238E27FC236}">
                <a16:creationId xmlns:a16="http://schemas.microsoft.com/office/drawing/2014/main" id="{83223A28-B61E-0AE8-0618-4D6832A456DA}"/>
              </a:ext>
            </a:extLst>
          </p:cNvPr>
          <p:cNvSpPr txBox="1">
            <a:spLocks/>
          </p:cNvSpPr>
          <p:nvPr/>
        </p:nvSpPr>
        <p:spPr>
          <a:xfrm>
            <a:off x="3780340" y="1544503"/>
            <a:ext cx="5191892" cy="760146"/>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rgbClr val="FF0000"/>
                </a:solidFill>
              </a:rPr>
              <a:t>Scalability of this program sucks</a:t>
            </a:r>
          </a:p>
          <a:p>
            <a:pPr marL="0" indent="0">
              <a:buFont typeface="Arial" panose="020B0604020202020204" pitchFamily="34" charset="0"/>
              <a:buNone/>
            </a:pPr>
            <a:endParaRPr lang="en-US" sz="1800" dirty="0">
              <a:solidFill>
                <a:srgbClr val="FF0000"/>
              </a:solidFill>
            </a:endParaRPr>
          </a:p>
          <a:p>
            <a:pPr marL="0" indent="0">
              <a:buFont typeface="Arial" panose="020B0604020202020204" pitchFamily="34" charset="0"/>
              <a:buNone/>
            </a:pPr>
            <a:endParaRPr lang="en-US" sz="1800" dirty="0">
              <a:solidFill>
                <a:srgbClr val="FF0000"/>
              </a:solidFill>
            </a:endParaRPr>
          </a:p>
        </p:txBody>
      </p:sp>
    </p:spTree>
    <p:extLst>
      <p:ext uri="{BB962C8B-B14F-4D97-AF65-F5344CB8AC3E}">
        <p14:creationId xmlns:p14="http://schemas.microsoft.com/office/powerpoint/2010/main" val="2008568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199BA-9A07-5F72-3242-DA04A03823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562DFC-DC2D-6FAB-80CC-FCFCD4ADD057}"/>
              </a:ext>
            </a:extLst>
          </p:cNvPr>
          <p:cNvSpPr>
            <a:spLocks noGrp="1"/>
          </p:cNvSpPr>
          <p:nvPr>
            <p:ph type="title"/>
          </p:nvPr>
        </p:nvSpPr>
        <p:spPr>
          <a:xfrm>
            <a:off x="612648" y="548640"/>
            <a:ext cx="10653578" cy="903642"/>
          </a:xfrm>
        </p:spPr>
        <p:txBody>
          <a:bodyPr>
            <a:normAutofit/>
          </a:bodyPr>
          <a:lstStyle/>
          <a:p>
            <a:r>
              <a:rPr lang="en-US" dirty="0"/>
              <a:t>Race condition</a:t>
            </a:r>
            <a:br>
              <a:rPr lang="en-US" dirty="0"/>
            </a:br>
            <a:r>
              <a:rPr lang="en-US" sz="1800" b="0" dirty="0"/>
              <a:t>when the program’s outcome changes as the threads are scheduled differently</a:t>
            </a:r>
            <a:endParaRPr lang="en-US" b="0" dirty="0"/>
          </a:p>
        </p:txBody>
      </p:sp>
      <p:sp>
        <p:nvSpPr>
          <p:cNvPr id="3" name="Content Placeholder 2">
            <a:extLst>
              <a:ext uri="{FF2B5EF4-FFF2-40B4-BE49-F238E27FC236}">
                <a16:creationId xmlns:a16="http://schemas.microsoft.com/office/drawing/2014/main" id="{1FF44BB2-18B3-AD20-4804-C427D0E69865}"/>
              </a:ext>
            </a:extLst>
          </p:cNvPr>
          <p:cNvSpPr>
            <a:spLocks noGrp="1"/>
          </p:cNvSpPr>
          <p:nvPr>
            <p:ph idx="1"/>
          </p:nvPr>
        </p:nvSpPr>
        <p:spPr/>
        <p:txBody>
          <a:bodyPr/>
          <a:lstStyle/>
          <a:p>
            <a:r>
              <a:rPr lang="en-US" dirty="0"/>
              <a:t>Performance changes every time you change number of threads.</a:t>
            </a:r>
          </a:p>
          <a:p>
            <a:endParaRPr lang="en-US" dirty="0"/>
          </a:p>
          <a:p>
            <a:pPr marL="0" indent="0">
              <a:buNone/>
            </a:pPr>
            <a:endParaRPr lang="en-US" dirty="0"/>
          </a:p>
        </p:txBody>
      </p:sp>
      <p:pic>
        <p:nvPicPr>
          <p:cNvPr id="5" name="Picture 4">
            <a:extLst>
              <a:ext uri="{FF2B5EF4-FFF2-40B4-BE49-F238E27FC236}">
                <a16:creationId xmlns:a16="http://schemas.microsoft.com/office/drawing/2014/main" id="{2E4C03EC-A359-8DEC-4412-AB58A8E397DC}"/>
              </a:ext>
            </a:extLst>
          </p:cNvPr>
          <p:cNvPicPr>
            <a:picLocks noChangeAspect="1"/>
          </p:cNvPicPr>
          <p:nvPr/>
        </p:nvPicPr>
        <p:blipFill>
          <a:blip r:embed="rId2"/>
          <a:srcRect l="4516" t="963" r="2145" b="963"/>
          <a:stretch>
            <a:fillRect/>
          </a:stretch>
        </p:blipFill>
        <p:spPr>
          <a:xfrm>
            <a:off x="1378098" y="2304111"/>
            <a:ext cx="9122675" cy="4385584"/>
          </a:xfrm>
          <a:prstGeom prst="rect">
            <a:avLst/>
          </a:prstGeom>
        </p:spPr>
      </p:pic>
    </p:spTree>
    <p:extLst>
      <p:ext uri="{BB962C8B-B14F-4D97-AF65-F5344CB8AC3E}">
        <p14:creationId xmlns:p14="http://schemas.microsoft.com/office/powerpoint/2010/main" val="1537728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A3092-B01B-08BD-F60A-B94CA8399DA8}"/>
              </a:ext>
            </a:extLst>
          </p:cNvPr>
          <p:cNvSpPr>
            <a:spLocks noGrp="1"/>
          </p:cNvSpPr>
          <p:nvPr>
            <p:ph type="title"/>
          </p:nvPr>
        </p:nvSpPr>
        <p:spPr/>
        <p:txBody>
          <a:bodyPr/>
          <a:lstStyle/>
          <a:p>
            <a:r>
              <a:rPr lang="en-US" dirty="0"/>
              <a:t>Cache lines</a:t>
            </a:r>
            <a:br>
              <a:rPr lang="en-US" dirty="0"/>
            </a:br>
            <a:r>
              <a:rPr lang="en-US" sz="1800" b="0" dirty="0"/>
              <a:t>how does it go??</a:t>
            </a:r>
          </a:p>
        </p:txBody>
      </p:sp>
      <p:sp>
        <p:nvSpPr>
          <p:cNvPr id="3" name="Content Placeholder 2">
            <a:extLst>
              <a:ext uri="{FF2B5EF4-FFF2-40B4-BE49-F238E27FC236}">
                <a16:creationId xmlns:a16="http://schemas.microsoft.com/office/drawing/2014/main" id="{3002C9AB-B4CE-4A36-2BB3-0EADCB94D46B}"/>
              </a:ext>
            </a:extLst>
          </p:cNvPr>
          <p:cNvSpPr>
            <a:spLocks noGrp="1"/>
          </p:cNvSpPr>
          <p:nvPr>
            <p:ph idx="1"/>
          </p:nvPr>
        </p:nvSpPr>
        <p:spPr/>
        <p:txBody>
          <a:bodyPr/>
          <a:lstStyle/>
          <a:p>
            <a:r>
              <a:rPr lang="en-US" dirty="0"/>
              <a:t>Cache memory speeds up access to main memory contents by holding copies of the most frequently used data. </a:t>
            </a:r>
          </a:p>
          <a:p>
            <a:r>
              <a:rPr lang="en-US" dirty="0"/>
              <a:t>Cache memory takes advantage of both temporal and spatial locality in data access patterns: a data item that has been referenced in the past is likely to be referenced again in the near future, along with other items in neighboring locations.</a:t>
            </a:r>
          </a:p>
          <a:p>
            <a:r>
              <a:rPr lang="en-US" dirty="0"/>
              <a:t>Cache memory tries to exploit spatial redundancy by fetching data from main memory in fixed-sized blocks called cache lines. The size of the cache line is architecture-specific, but a commonly used value is 64 byte</a:t>
            </a:r>
          </a:p>
          <a:p>
            <a:r>
              <a:rPr lang="en-US" dirty="0"/>
              <a:t>A cache line consists of the actual data, their address (so the CPU knows where they came from), and a state.</a:t>
            </a:r>
          </a:p>
        </p:txBody>
      </p:sp>
    </p:spTree>
    <p:extLst>
      <p:ext uri="{BB962C8B-B14F-4D97-AF65-F5344CB8AC3E}">
        <p14:creationId xmlns:p14="http://schemas.microsoft.com/office/powerpoint/2010/main" val="3576948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F53CB-3AA5-928F-E197-0A5C0002FB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6CDB6B-0D3F-E495-8921-42D44D4888B4}"/>
              </a:ext>
            </a:extLst>
          </p:cNvPr>
          <p:cNvSpPr>
            <a:spLocks noGrp="1"/>
          </p:cNvSpPr>
          <p:nvPr>
            <p:ph type="title"/>
          </p:nvPr>
        </p:nvSpPr>
        <p:spPr/>
        <p:txBody>
          <a:bodyPr/>
          <a:lstStyle/>
          <a:p>
            <a:r>
              <a:rPr lang="en-US" dirty="0"/>
              <a:t>Cache lines</a:t>
            </a:r>
            <a:br>
              <a:rPr lang="en-US" dirty="0"/>
            </a:br>
            <a:r>
              <a:rPr lang="en-US" sz="1800" b="0" dirty="0"/>
              <a:t>how does it go??</a:t>
            </a:r>
          </a:p>
        </p:txBody>
      </p:sp>
      <p:sp>
        <p:nvSpPr>
          <p:cNvPr id="3" name="Content Placeholder 2">
            <a:extLst>
              <a:ext uri="{FF2B5EF4-FFF2-40B4-BE49-F238E27FC236}">
                <a16:creationId xmlns:a16="http://schemas.microsoft.com/office/drawing/2014/main" id="{620BAA68-6E1D-4A1D-A1CA-4F8C947168E1}"/>
              </a:ext>
            </a:extLst>
          </p:cNvPr>
          <p:cNvSpPr>
            <a:spLocks noGrp="1"/>
          </p:cNvSpPr>
          <p:nvPr>
            <p:ph idx="1"/>
          </p:nvPr>
        </p:nvSpPr>
        <p:spPr>
          <a:xfrm>
            <a:off x="224589" y="1715532"/>
            <a:ext cx="11710737" cy="4593828"/>
          </a:xfrm>
        </p:spPr>
        <p:txBody>
          <a:bodyPr>
            <a:normAutofit fontScale="92500" lnSpcReduction="20000"/>
          </a:bodyPr>
          <a:lstStyle/>
          <a:p>
            <a:r>
              <a:rPr lang="en-US" dirty="0"/>
              <a:t>This code:</a:t>
            </a:r>
          </a:p>
          <a:p>
            <a:endParaRPr lang="en-US" dirty="0"/>
          </a:p>
          <a:p>
            <a:endParaRPr lang="en-US" dirty="0"/>
          </a:p>
          <a:p>
            <a:endParaRPr lang="en-US" dirty="0"/>
          </a:p>
          <a:p>
            <a:r>
              <a:rPr lang="en-US" dirty="0"/>
              <a:t>The state is used to implement </a:t>
            </a:r>
            <a:br>
              <a:rPr lang="en-US" dirty="0"/>
            </a:br>
            <a:r>
              <a:rPr lang="en-US" dirty="0"/>
              <a:t>a </a:t>
            </a:r>
            <a:r>
              <a:rPr lang="en-US" b="1" dirty="0"/>
              <a:t>coherency protocol</a:t>
            </a:r>
            <a:r>
              <a:rPr lang="en-US" dirty="0"/>
              <a:t>, i.e., </a:t>
            </a:r>
            <a:br>
              <a:rPr lang="en-US" dirty="0"/>
            </a:br>
            <a:r>
              <a:rPr lang="en-US" dirty="0"/>
              <a:t>a mechanism that allows data stored </a:t>
            </a:r>
            <a:br>
              <a:rPr lang="en-US" dirty="0"/>
            </a:br>
            <a:r>
              <a:rPr lang="en-US" dirty="0"/>
              <a:t>in multiple disjoint caches to be kept in </a:t>
            </a:r>
            <a:br>
              <a:rPr lang="en-US" dirty="0"/>
            </a:br>
            <a:r>
              <a:rPr lang="en-US" dirty="0"/>
              <a:t>a consistent state .</a:t>
            </a:r>
            <a:br>
              <a:rPr lang="en-US" dirty="0"/>
            </a:br>
            <a:r>
              <a:rPr lang="en-US" dirty="0"/>
              <a:t>For example, if core 0 changes the value</a:t>
            </a:r>
            <a:br>
              <a:rPr lang="en-US" dirty="0"/>
            </a:br>
            <a:r>
              <a:rPr lang="en-US" dirty="0"/>
              <a:t> of x[10], core 1 should be able to read </a:t>
            </a:r>
            <a:br>
              <a:rPr lang="en-US" dirty="0"/>
            </a:br>
            <a:r>
              <a:rPr lang="en-US" dirty="0"/>
              <a:t>the updated value and not keep using an</a:t>
            </a:r>
            <a:br>
              <a:rPr lang="en-US" dirty="0"/>
            </a:br>
            <a:r>
              <a:rPr lang="en-US" dirty="0"/>
              <a:t> outdated one.</a:t>
            </a:r>
          </a:p>
          <a:p>
            <a:pPr marL="0" indent="0">
              <a:buNone/>
            </a:pPr>
            <a:endParaRPr lang="en-US" dirty="0"/>
          </a:p>
        </p:txBody>
      </p:sp>
      <p:pic>
        <p:nvPicPr>
          <p:cNvPr id="5" name="Picture 4">
            <a:extLst>
              <a:ext uri="{FF2B5EF4-FFF2-40B4-BE49-F238E27FC236}">
                <a16:creationId xmlns:a16="http://schemas.microsoft.com/office/drawing/2014/main" id="{159F4B7F-0B26-FD4F-8994-6132F4ED616D}"/>
              </a:ext>
            </a:extLst>
          </p:cNvPr>
          <p:cNvPicPr>
            <a:picLocks noChangeAspect="1"/>
          </p:cNvPicPr>
          <p:nvPr/>
        </p:nvPicPr>
        <p:blipFill>
          <a:blip r:embed="rId2"/>
          <a:stretch>
            <a:fillRect/>
          </a:stretch>
        </p:blipFill>
        <p:spPr>
          <a:xfrm>
            <a:off x="404100" y="2084864"/>
            <a:ext cx="4376448" cy="1105054"/>
          </a:xfrm>
          <a:prstGeom prst="rect">
            <a:avLst/>
          </a:prstGeom>
        </p:spPr>
      </p:pic>
      <p:pic>
        <p:nvPicPr>
          <p:cNvPr id="7" name="Picture 6">
            <a:extLst>
              <a:ext uri="{FF2B5EF4-FFF2-40B4-BE49-F238E27FC236}">
                <a16:creationId xmlns:a16="http://schemas.microsoft.com/office/drawing/2014/main" id="{100B9631-A79B-F79A-8494-66BF4A1201E9}"/>
              </a:ext>
            </a:extLst>
          </p:cNvPr>
          <p:cNvPicPr>
            <a:picLocks noChangeAspect="1"/>
          </p:cNvPicPr>
          <p:nvPr/>
        </p:nvPicPr>
        <p:blipFill>
          <a:blip r:embed="rId3"/>
          <a:stretch>
            <a:fillRect/>
          </a:stretch>
        </p:blipFill>
        <p:spPr>
          <a:xfrm>
            <a:off x="6000908" y="2291176"/>
            <a:ext cx="5393654" cy="3872473"/>
          </a:xfrm>
          <a:prstGeom prst="rect">
            <a:avLst/>
          </a:prstGeom>
        </p:spPr>
      </p:pic>
      <p:sp>
        <p:nvSpPr>
          <p:cNvPr id="8" name="TextBox 7">
            <a:extLst>
              <a:ext uri="{FF2B5EF4-FFF2-40B4-BE49-F238E27FC236}">
                <a16:creationId xmlns:a16="http://schemas.microsoft.com/office/drawing/2014/main" id="{9BB6F3D8-EA37-DE6A-3D36-CF8B7B870546}"/>
              </a:ext>
            </a:extLst>
          </p:cNvPr>
          <p:cNvSpPr txBox="1"/>
          <p:nvPr/>
        </p:nvSpPr>
        <p:spPr>
          <a:xfrm>
            <a:off x="6565078" y="1715532"/>
            <a:ext cx="3782080" cy="369332"/>
          </a:xfrm>
          <a:prstGeom prst="rect">
            <a:avLst/>
          </a:prstGeom>
          <a:noFill/>
        </p:spPr>
        <p:txBody>
          <a:bodyPr wrap="square" rtlCol="0">
            <a:spAutoFit/>
          </a:bodyPr>
          <a:lstStyle/>
          <a:p>
            <a:pPr marL="285750" indent="-285750">
              <a:buFont typeface="Arial" panose="020B0604020202020204" pitchFamily="34" charset="0"/>
              <a:buChar char="•"/>
            </a:pPr>
            <a:r>
              <a:rPr lang="en-US" dirty="0"/>
              <a:t>Like this in cache:</a:t>
            </a:r>
          </a:p>
        </p:txBody>
      </p:sp>
    </p:spTree>
    <p:extLst>
      <p:ext uri="{BB962C8B-B14F-4D97-AF65-F5344CB8AC3E}">
        <p14:creationId xmlns:p14="http://schemas.microsoft.com/office/powerpoint/2010/main" val="1220529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90225-269F-47D2-ADE1-48B9BB4A8A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F995B1-916B-811B-D0E1-85202A4C3E0F}"/>
              </a:ext>
            </a:extLst>
          </p:cNvPr>
          <p:cNvSpPr>
            <a:spLocks noGrp="1"/>
          </p:cNvSpPr>
          <p:nvPr>
            <p:ph type="title"/>
          </p:nvPr>
        </p:nvSpPr>
        <p:spPr/>
        <p:txBody>
          <a:bodyPr/>
          <a:lstStyle/>
          <a:p>
            <a:r>
              <a:rPr lang="en-US" dirty="0"/>
              <a:t>Cache lines</a:t>
            </a:r>
            <a:br>
              <a:rPr lang="en-US" dirty="0"/>
            </a:br>
            <a:r>
              <a:rPr lang="en-US" sz="1800" b="0" dirty="0"/>
              <a:t>how does it go??</a:t>
            </a:r>
          </a:p>
        </p:txBody>
      </p:sp>
      <p:sp>
        <p:nvSpPr>
          <p:cNvPr id="6" name="Content Placeholder 5">
            <a:extLst>
              <a:ext uri="{FF2B5EF4-FFF2-40B4-BE49-F238E27FC236}">
                <a16:creationId xmlns:a16="http://schemas.microsoft.com/office/drawing/2014/main" id="{02FACC98-EEFC-1F75-FE13-8FA89EA58637}"/>
              </a:ext>
            </a:extLst>
          </p:cNvPr>
          <p:cNvSpPr>
            <a:spLocks noGrp="1"/>
          </p:cNvSpPr>
          <p:nvPr>
            <p:ph idx="1"/>
          </p:nvPr>
        </p:nvSpPr>
        <p:spPr>
          <a:xfrm>
            <a:off x="291805" y="1474901"/>
            <a:ext cx="10653579" cy="5142468"/>
          </a:xfrm>
        </p:spPr>
        <p:txBody>
          <a:bodyPr>
            <a:normAutofit fontScale="92500" lnSpcReduction="10000"/>
          </a:bodyPr>
          <a:lstStyle/>
          <a:p>
            <a:r>
              <a:rPr lang="en-US" dirty="0"/>
              <a:t>A simple state model is MESI, an acronym standing for the four possible cache line states covered by the model: </a:t>
            </a:r>
            <a:r>
              <a:rPr lang="en-US" b="1" dirty="0"/>
              <a:t>m</a:t>
            </a:r>
            <a:r>
              <a:rPr lang="en-US" dirty="0"/>
              <a:t>odified, </a:t>
            </a:r>
            <a:r>
              <a:rPr lang="en-US" b="1" dirty="0"/>
              <a:t>e</a:t>
            </a:r>
            <a:r>
              <a:rPr lang="en-US" dirty="0"/>
              <a:t>xclusive, </a:t>
            </a:r>
            <a:r>
              <a:rPr lang="en-US" b="1" dirty="0"/>
              <a:t>s</a:t>
            </a:r>
            <a:r>
              <a:rPr lang="en-US" dirty="0"/>
              <a:t>hared, and </a:t>
            </a:r>
            <a:r>
              <a:rPr lang="en-US" b="1" dirty="0"/>
              <a:t>i</a:t>
            </a:r>
            <a:r>
              <a:rPr lang="en-US" dirty="0"/>
              <a:t>nvalid</a:t>
            </a:r>
          </a:p>
          <a:p>
            <a:r>
              <a:rPr lang="en-US" b="1" dirty="0"/>
              <a:t>Modified</a:t>
            </a:r>
            <a:r>
              <a:rPr lang="en-US" dirty="0"/>
              <a:t>: The CPU has recently changed part of the cache line, and the cache line holds the only up-to-date value of the corresponding item. No other CPU can hold copies of these data, so the CPU can be considered the owner of the data. The pending changes are supposed to be written back to the main memory according to the rules of the CPU architecture.</a:t>
            </a:r>
          </a:p>
          <a:p>
            <a:r>
              <a:rPr lang="en-US" b="1" dirty="0"/>
              <a:t>Exclusive</a:t>
            </a:r>
            <a:r>
              <a:rPr lang="en-US" dirty="0"/>
              <a:t>: This is similar to the modified state, in that the CPU is considered the owner of the data. No change has been applied though. The main memory and the cache hold identical values</a:t>
            </a:r>
          </a:p>
          <a:p>
            <a:r>
              <a:rPr lang="en-US" b="1" dirty="0"/>
              <a:t>Shared</a:t>
            </a:r>
            <a:r>
              <a:rPr lang="en-US" dirty="0"/>
              <a:t>: At least one more cache holds a copy of the data. Changes to the data can only be performed after coordination with the other CPUs holding copies</a:t>
            </a:r>
          </a:p>
          <a:p>
            <a:r>
              <a:rPr lang="en-US" b="1" dirty="0"/>
              <a:t>Invalid</a:t>
            </a:r>
            <a:r>
              <a:rPr lang="en-US" dirty="0"/>
              <a:t>: This represents an empty cache line. It can be used to hold new data from the main memory</a:t>
            </a:r>
          </a:p>
        </p:txBody>
      </p:sp>
    </p:spTree>
    <p:extLst>
      <p:ext uri="{BB962C8B-B14F-4D97-AF65-F5344CB8AC3E}">
        <p14:creationId xmlns:p14="http://schemas.microsoft.com/office/powerpoint/2010/main" val="3690468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DCA4D-CAA7-BE6C-60F6-9D58B00148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98887-E0C0-E471-BFFA-9B08D7167987}"/>
              </a:ext>
            </a:extLst>
          </p:cNvPr>
          <p:cNvSpPr>
            <a:spLocks noGrp="1"/>
          </p:cNvSpPr>
          <p:nvPr>
            <p:ph type="title"/>
          </p:nvPr>
        </p:nvSpPr>
        <p:spPr/>
        <p:txBody>
          <a:bodyPr/>
          <a:lstStyle/>
          <a:p>
            <a:r>
              <a:rPr lang="en-US" dirty="0"/>
              <a:t>Cache lines</a:t>
            </a:r>
            <a:br>
              <a:rPr lang="en-US" dirty="0"/>
            </a:br>
            <a:r>
              <a:rPr lang="en-US" sz="1800" b="0" dirty="0"/>
              <a:t>how does it go??</a:t>
            </a:r>
          </a:p>
        </p:txBody>
      </p:sp>
      <p:sp>
        <p:nvSpPr>
          <p:cNvPr id="6" name="Content Placeholder 5">
            <a:extLst>
              <a:ext uri="{FF2B5EF4-FFF2-40B4-BE49-F238E27FC236}">
                <a16:creationId xmlns:a16="http://schemas.microsoft.com/office/drawing/2014/main" id="{BBB0FF29-474D-D561-68C6-EFCF5A139486}"/>
              </a:ext>
            </a:extLst>
          </p:cNvPr>
          <p:cNvSpPr>
            <a:spLocks noGrp="1"/>
          </p:cNvSpPr>
          <p:nvPr>
            <p:ph idx="1"/>
          </p:nvPr>
        </p:nvSpPr>
        <p:spPr>
          <a:xfrm>
            <a:off x="291805" y="1474901"/>
            <a:ext cx="10653579" cy="5142468"/>
          </a:xfrm>
        </p:spPr>
        <p:txBody>
          <a:bodyPr>
            <a:normAutofit/>
          </a:bodyPr>
          <a:lstStyle/>
          <a:p>
            <a:r>
              <a:rPr lang="en-US" dirty="0"/>
              <a:t>What is of interest to us is what happens when a shared cache line is modified by one of the CPUs using it. </a:t>
            </a:r>
          </a:p>
          <a:p>
            <a:r>
              <a:rPr lang="en-US" dirty="0"/>
              <a:t>The CPU applying the change sends “invalidate” messages to the CPUs that have copies of the cache line and awaits “acknowledge” responses from them, before changing the state from shared to modified. </a:t>
            </a:r>
          </a:p>
          <a:p>
            <a:r>
              <a:rPr lang="en-US" dirty="0"/>
              <a:t>The CPUs that receive an “invalidate” message clear the corresponding cache line by changing its state to “invalid” and send back an “acknowledge” message. </a:t>
            </a:r>
          </a:p>
          <a:p>
            <a:r>
              <a:rPr lang="en-US" dirty="0"/>
              <a:t>This means that if they wish to access the data that got cleared, they have to either fetch it from the “owning” cache or read it again from memory.</a:t>
            </a:r>
          </a:p>
        </p:txBody>
      </p:sp>
    </p:spTree>
    <p:extLst>
      <p:ext uri="{BB962C8B-B14F-4D97-AF65-F5344CB8AC3E}">
        <p14:creationId xmlns:p14="http://schemas.microsoft.com/office/powerpoint/2010/main" val="3718937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D2B36-A5A2-05E9-02FB-22F693323D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E6A085-669E-B341-89A8-E05417C1496A}"/>
              </a:ext>
            </a:extLst>
          </p:cNvPr>
          <p:cNvSpPr>
            <a:spLocks noGrp="1"/>
          </p:cNvSpPr>
          <p:nvPr>
            <p:ph type="title"/>
          </p:nvPr>
        </p:nvSpPr>
        <p:spPr/>
        <p:txBody>
          <a:bodyPr/>
          <a:lstStyle/>
          <a:p>
            <a:r>
              <a:rPr lang="en-US" dirty="0"/>
              <a:t>Cache lines</a:t>
            </a:r>
            <a:br>
              <a:rPr lang="en-US" dirty="0"/>
            </a:br>
            <a:r>
              <a:rPr lang="en-US" sz="1800" b="0" dirty="0"/>
              <a:t>how does it go??</a:t>
            </a:r>
          </a:p>
        </p:txBody>
      </p:sp>
      <p:sp>
        <p:nvSpPr>
          <p:cNvPr id="6" name="Content Placeholder 5">
            <a:extLst>
              <a:ext uri="{FF2B5EF4-FFF2-40B4-BE49-F238E27FC236}">
                <a16:creationId xmlns:a16="http://schemas.microsoft.com/office/drawing/2014/main" id="{AD0BB14B-D521-C0F5-03B4-467D2D1C5F55}"/>
              </a:ext>
            </a:extLst>
          </p:cNvPr>
          <p:cNvSpPr>
            <a:spLocks noGrp="1"/>
          </p:cNvSpPr>
          <p:nvPr>
            <p:ph idx="1"/>
          </p:nvPr>
        </p:nvSpPr>
        <p:spPr>
          <a:xfrm>
            <a:off x="291805" y="1474901"/>
            <a:ext cx="10653579" cy="5142468"/>
          </a:xfrm>
        </p:spPr>
        <p:txBody>
          <a:bodyPr>
            <a:normAutofit/>
          </a:bodyPr>
          <a:lstStyle/>
          <a:p>
            <a:r>
              <a:rPr lang="en-US" dirty="0"/>
              <a:t>what happens to the state if core 0 modifies the value of x[0]? Although core 1 does not actually access this item, it shares the cache line that holds it. The resulting “invalidate” message will cause core 1 to dump the cache line and reread from the main memory the items it needs, </a:t>
            </a:r>
            <a:br>
              <a:rPr lang="en-US" dirty="0"/>
            </a:br>
            <a:r>
              <a:rPr lang="en-US" dirty="0"/>
              <a:t>at a substantial time overhead. </a:t>
            </a:r>
            <a:br>
              <a:rPr lang="en-US" dirty="0"/>
            </a:br>
            <a:r>
              <a:rPr lang="en-US" dirty="0"/>
              <a:t>This is exactly the definition of </a:t>
            </a:r>
            <a:r>
              <a:rPr lang="en-US" b="1" dirty="0"/>
              <a:t>false-sharing</a:t>
            </a:r>
            <a:r>
              <a:rPr lang="en-US" dirty="0"/>
              <a:t>, </a:t>
            </a:r>
            <a:br>
              <a:rPr lang="en-US" dirty="0"/>
            </a:br>
            <a:r>
              <a:rPr lang="en-US" dirty="0"/>
              <a:t>i.e., sharing cache lines without</a:t>
            </a:r>
            <a:br>
              <a:rPr lang="en-US" dirty="0"/>
            </a:br>
            <a:r>
              <a:rPr lang="en-US" dirty="0"/>
              <a:t> actually, sharing data. </a:t>
            </a:r>
          </a:p>
        </p:txBody>
      </p:sp>
      <p:pic>
        <p:nvPicPr>
          <p:cNvPr id="3" name="Picture 2">
            <a:extLst>
              <a:ext uri="{FF2B5EF4-FFF2-40B4-BE49-F238E27FC236}">
                <a16:creationId xmlns:a16="http://schemas.microsoft.com/office/drawing/2014/main" id="{6C9F8978-F92F-DC3E-D1B6-10A5BEE11506}"/>
              </a:ext>
            </a:extLst>
          </p:cNvPr>
          <p:cNvPicPr>
            <a:picLocks noChangeAspect="1"/>
          </p:cNvPicPr>
          <p:nvPr/>
        </p:nvPicPr>
        <p:blipFill>
          <a:blip r:embed="rId2"/>
          <a:stretch>
            <a:fillRect/>
          </a:stretch>
        </p:blipFill>
        <p:spPr>
          <a:xfrm>
            <a:off x="6096000" y="2744896"/>
            <a:ext cx="5393654" cy="3872473"/>
          </a:xfrm>
          <a:prstGeom prst="rect">
            <a:avLst/>
          </a:prstGeom>
        </p:spPr>
      </p:pic>
    </p:spTree>
    <p:extLst>
      <p:ext uri="{BB962C8B-B14F-4D97-AF65-F5344CB8AC3E}">
        <p14:creationId xmlns:p14="http://schemas.microsoft.com/office/powerpoint/2010/main" val="7250845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273C5-21C5-4838-C0C8-B02088A9BF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68A380-509C-8B13-2DCF-87DCB41A80D6}"/>
              </a:ext>
            </a:extLst>
          </p:cNvPr>
          <p:cNvSpPr>
            <a:spLocks noGrp="1"/>
          </p:cNvSpPr>
          <p:nvPr>
            <p:ph type="title"/>
          </p:nvPr>
        </p:nvSpPr>
        <p:spPr>
          <a:xfrm>
            <a:off x="612648" y="548640"/>
            <a:ext cx="10653578" cy="903642"/>
          </a:xfrm>
        </p:spPr>
        <p:txBody>
          <a:bodyPr>
            <a:normAutofit fontScale="90000"/>
          </a:bodyPr>
          <a:lstStyle/>
          <a:p>
            <a:r>
              <a:rPr lang="en-US" dirty="0"/>
              <a:t>False sharing</a:t>
            </a:r>
            <a:br>
              <a:rPr lang="en-US" dirty="0"/>
            </a:br>
            <a:r>
              <a:rPr lang="en-US" sz="1800" b="0" dirty="0"/>
              <a:t>is performance issue in multithreaded applications caused by the way modern processors handle cache lines</a:t>
            </a:r>
            <a:endParaRPr lang="en-US" b="0" dirty="0"/>
          </a:p>
        </p:txBody>
      </p:sp>
      <p:sp>
        <p:nvSpPr>
          <p:cNvPr id="3" name="Content Placeholder 2">
            <a:extLst>
              <a:ext uri="{FF2B5EF4-FFF2-40B4-BE49-F238E27FC236}">
                <a16:creationId xmlns:a16="http://schemas.microsoft.com/office/drawing/2014/main" id="{A104DBCE-DA9D-AAE4-9D27-0A19F0AD2268}"/>
              </a:ext>
            </a:extLst>
          </p:cNvPr>
          <p:cNvSpPr>
            <a:spLocks noGrp="1"/>
          </p:cNvSpPr>
          <p:nvPr>
            <p:ph idx="1"/>
          </p:nvPr>
        </p:nvSpPr>
        <p:spPr/>
        <p:txBody>
          <a:bodyPr/>
          <a:lstStyle/>
          <a:p>
            <a:r>
              <a:rPr lang="en-US" dirty="0"/>
              <a:t>If independent data elements happen to sit on the same cache line, each update will cause the cache line to “slosh back and forth” between threads.</a:t>
            </a:r>
          </a:p>
          <a:p>
            <a:r>
              <a:rPr lang="en-US" dirty="0"/>
              <a:t>The thread zero comes in and it writes its element and then thread number two comes in writes its element happens to be in the same cache line </a:t>
            </a:r>
          </a:p>
          <a:p>
            <a:r>
              <a:rPr lang="en-US" dirty="0"/>
              <a:t>It has to send out a cache protocol message saying invalidate that copy because I’m about to write so what you do is you get the cache line sloshing back and forth.</a:t>
            </a:r>
          </a:p>
          <a:p>
            <a:r>
              <a:rPr lang="en-US" dirty="0"/>
              <a:t>It called false sharing because there truly is no sharing, there is no shared data conflict but because they happen to be in the same cache line, even though I get the right answer, I get this horrible performance hit due to bouncing the cache line back and forth. </a:t>
            </a:r>
          </a:p>
          <a:p>
            <a:pPr marL="0" indent="0">
              <a:buNone/>
            </a:pPr>
            <a:endParaRPr lang="en-US" dirty="0"/>
          </a:p>
        </p:txBody>
      </p:sp>
    </p:spTree>
    <p:extLst>
      <p:ext uri="{BB962C8B-B14F-4D97-AF65-F5344CB8AC3E}">
        <p14:creationId xmlns:p14="http://schemas.microsoft.com/office/powerpoint/2010/main" val="4112413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B9A9E-07B1-E7CD-8490-3FD03E4358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6361C2-E067-2AF9-0080-370566948934}"/>
              </a:ext>
            </a:extLst>
          </p:cNvPr>
          <p:cNvSpPr>
            <a:spLocks noGrp="1"/>
          </p:cNvSpPr>
          <p:nvPr>
            <p:ph type="title"/>
          </p:nvPr>
        </p:nvSpPr>
        <p:spPr>
          <a:xfrm>
            <a:off x="612648" y="548640"/>
            <a:ext cx="10653578" cy="903642"/>
          </a:xfrm>
        </p:spPr>
        <p:txBody>
          <a:bodyPr>
            <a:normAutofit/>
          </a:bodyPr>
          <a:lstStyle/>
          <a:p>
            <a:r>
              <a:rPr lang="en-US" dirty="0"/>
              <a:t>False sharing</a:t>
            </a:r>
            <a:br>
              <a:rPr lang="en-US" dirty="0"/>
            </a:br>
            <a:r>
              <a:rPr lang="en-US" sz="1800" b="0" dirty="0"/>
              <a:t>How does false sharing happen?? </a:t>
            </a:r>
            <a:endParaRPr lang="en-US" b="0" dirty="0"/>
          </a:p>
        </p:txBody>
      </p:sp>
      <p:sp>
        <p:nvSpPr>
          <p:cNvPr id="3" name="Content Placeholder 2">
            <a:extLst>
              <a:ext uri="{FF2B5EF4-FFF2-40B4-BE49-F238E27FC236}">
                <a16:creationId xmlns:a16="http://schemas.microsoft.com/office/drawing/2014/main" id="{48A6F4C6-A32A-6791-EEAA-DD22D13ADCE7}"/>
              </a:ext>
            </a:extLst>
          </p:cNvPr>
          <p:cNvSpPr>
            <a:spLocks noGrp="1"/>
          </p:cNvSpPr>
          <p:nvPr>
            <p:ph idx="1"/>
          </p:nvPr>
        </p:nvSpPr>
        <p:spPr/>
        <p:txBody>
          <a:bodyPr/>
          <a:lstStyle/>
          <a:p>
            <a:r>
              <a:rPr lang="en-US" dirty="0"/>
              <a:t>Processor’s cache data in units called lines, typically 64 bytes in size.</a:t>
            </a:r>
          </a:p>
          <a:p>
            <a:r>
              <a:rPr lang="en-US" dirty="0"/>
              <a:t>When thread modifies a variable, the entire cache line containing that variable is marked as modified.</a:t>
            </a:r>
          </a:p>
          <a:p>
            <a:r>
              <a:rPr lang="en-US" dirty="0"/>
              <a:t>If another thread accesses a different variable within the same cache line, the cache line is invalidated and must be reloaded from memory, even though the accessed variable was not modified.</a:t>
            </a:r>
          </a:p>
          <a:p>
            <a:r>
              <a:rPr lang="en-US" dirty="0"/>
              <a:t>This results in increasing memory traffic and reducing performance.</a:t>
            </a:r>
          </a:p>
          <a:p>
            <a:pPr marL="0" indent="0" algn="ctr">
              <a:buNone/>
            </a:pPr>
            <a:endParaRPr lang="en-US" dirty="0"/>
          </a:p>
        </p:txBody>
      </p:sp>
    </p:spTree>
    <p:extLst>
      <p:ext uri="{BB962C8B-B14F-4D97-AF65-F5344CB8AC3E}">
        <p14:creationId xmlns:p14="http://schemas.microsoft.com/office/powerpoint/2010/main" val="8124903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51959-CEBC-B34C-6AFF-0AE1D90B49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7F148E-7767-7DD3-21D9-D8D681D73380}"/>
              </a:ext>
            </a:extLst>
          </p:cNvPr>
          <p:cNvSpPr>
            <a:spLocks noGrp="1"/>
          </p:cNvSpPr>
          <p:nvPr>
            <p:ph type="title"/>
          </p:nvPr>
        </p:nvSpPr>
        <p:spPr>
          <a:xfrm>
            <a:off x="612648" y="548640"/>
            <a:ext cx="10653578" cy="903642"/>
          </a:xfrm>
        </p:spPr>
        <p:txBody>
          <a:bodyPr>
            <a:normAutofit fontScale="90000"/>
          </a:bodyPr>
          <a:lstStyle/>
          <a:p>
            <a:r>
              <a:rPr lang="en-US" dirty="0"/>
              <a:t>False sharing</a:t>
            </a:r>
            <a:br>
              <a:rPr lang="en-US" dirty="0"/>
            </a:br>
            <a:r>
              <a:rPr lang="en-US" sz="1800" b="0" dirty="0"/>
              <a:t>is performance issue in multithreaded applications caused by the way modern processors handle cache lines</a:t>
            </a:r>
            <a:endParaRPr lang="en-US" b="0" dirty="0"/>
          </a:p>
        </p:txBody>
      </p:sp>
      <p:pic>
        <p:nvPicPr>
          <p:cNvPr id="9" name="Picture 8">
            <a:extLst>
              <a:ext uri="{FF2B5EF4-FFF2-40B4-BE49-F238E27FC236}">
                <a16:creationId xmlns:a16="http://schemas.microsoft.com/office/drawing/2014/main" id="{4C316458-F2FA-1BB0-343D-0909A690DFC7}"/>
              </a:ext>
            </a:extLst>
          </p:cNvPr>
          <p:cNvPicPr>
            <a:picLocks noChangeAspect="1"/>
          </p:cNvPicPr>
          <p:nvPr/>
        </p:nvPicPr>
        <p:blipFill>
          <a:blip r:embed="rId2"/>
          <a:srcRect t="21137" b="21137"/>
          <a:stretch/>
        </p:blipFill>
        <p:spPr>
          <a:xfrm>
            <a:off x="1761233" y="1947134"/>
            <a:ext cx="3165231" cy="3958815"/>
          </a:xfrm>
          <a:prstGeom prst="rect">
            <a:avLst/>
          </a:prstGeom>
        </p:spPr>
      </p:pic>
      <p:pic>
        <p:nvPicPr>
          <p:cNvPr id="11" name="Picture 10">
            <a:extLst>
              <a:ext uri="{FF2B5EF4-FFF2-40B4-BE49-F238E27FC236}">
                <a16:creationId xmlns:a16="http://schemas.microsoft.com/office/drawing/2014/main" id="{7E99326F-F232-D726-1C5F-73B46EF26F5B}"/>
              </a:ext>
            </a:extLst>
          </p:cNvPr>
          <p:cNvPicPr>
            <a:picLocks noChangeAspect="1"/>
          </p:cNvPicPr>
          <p:nvPr/>
        </p:nvPicPr>
        <p:blipFill>
          <a:blip r:embed="rId3">
            <a:extLst>
              <a:ext uri="{28A0092B-C50C-407E-A947-70E740481C1C}">
                <a14:useLocalDpi xmlns:a14="http://schemas.microsoft.com/office/drawing/2010/main" val="0"/>
              </a:ext>
            </a:extLst>
          </a:blip>
          <a:srcRect t="33255" r="18959" b="30666"/>
          <a:stretch>
            <a:fillRect/>
          </a:stretch>
        </p:blipFill>
        <p:spPr>
          <a:xfrm>
            <a:off x="6718702" y="2689413"/>
            <a:ext cx="2565148" cy="2474258"/>
          </a:xfrm>
          <a:prstGeom prst="rect">
            <a:avLst/>
          </a:prstGeom>
        </p:spPr>
      </p:pic>
    </p:spTree>
    <p:extLst>
      <p:ext uri="{BB962C8B-B14F-4D97-AF65-F5344CB8AC3E}">
        <p14:creationId xmlns:p14="http://schemas.microsoft.com/office/powerpoint/2010/main" val="31674359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A832D-73BA-025B-5EDE-9E448E4E70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602EE4-4B0D-3023-E0E1-081C7958CB40}"/>
              </a:ext>
            </a:extLst>
          </p:cNvPr>
          <p:cNvSpPr>
            <a:spLocks noGrp="1"/>
          </p:cNvSpPr>
          <p:nvPr>
            <p:ph type="title"/>
          </p:nvPr>
        </p:nvSpPr>
        <p:spPr>
          <a:xfrm>
            <a:off x="612648" y="548640"/>
            <a:ext cx="10653578" cy="903642"/>
          </a:xfrm>
        </p:spPr>
        <p:txBody>
          <a:bodyPr>
            <a:normAutofit fontScale="90000"/>
          </a:bodyPr>
          <a:lstStyle/>
          <a:p>
            <a:r>
              <a:rPr lang="en-US" dirty="0"/>
              <a:t>False sharing</a:t>
            </a:r>
            <a:br>
              <a:rPr lang="en-US" dirty="0"/>
            </a:br>
            <a:r>
              <a:rPr lang="en-US" sz="1800" b="0" dirty="0"/>
              <a:t>is performance issue in multithreaded applications caused by the way modern</a:t>
            </a:r>
            <a:br>
              <a:rPr lang="en-US" sz="1800" b="0" dirty="0"/>
            </a:br>
            <a:r>
              <a:rPr lang="en-US" sz="1800" b="0" dirty="0"/>
              <a:t> processors handle cache lines</a:t>
            </a:r>
            <a:endParaRPr lang="en-US" b="0" dirty="0"/>
          </a:p>
        </p:txBody>
      </p:sp>
      <p:pic>
        <p:nvPicPr>
          <p:cNvPr id="5" name="Content Placeholder 4">
            <a:extLst>
              <a:ext uri="{FF2B5EF4-FFF2-40B4-BE49-F238E27FC236}">
                <a16:creationId xmlns:a16="http://schemas.microsoft.com/office/drawing/2014/main" id="{5CF44B56-579E-BB9D-7433-925969D5B244}"/>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10323" b="28920"/>
          <a:stretch>
            <a:fillRect/>
          </a:stretch>
        </p:blipFill>
        <p:spPr>
          <a:xfrm>
            <a:off x="8773413" y="4258052"/>
            <a:ext cx="3206317" cy="2453374"/>
          </a:xfrm>
          <a:prstGeom prst="rect">
            <a:avLst/>
          </a:prstGeom>
        </p:spPr>
      </p:pic>
      <p:sp>
        <p:nvSpPr>
          <p:cNvPr id="3" name="Content Placeholder 2">
            <a:extLst>
              <a:ext uri="{FF2B5EF4-FFF2-40B4-BE49-F238E27FC236}">
                <a16:creationId xmlns:a16="http://schemas.microsoft.com/office/drawing/2014/main" id="{4F8860CA-DCD5-A6A1-E009-96FB40D8064D}"/>
              </a:ext>
            </a:extLst>
          </p:cNvPr>
          <p:cNvSpPr txBox="1">
            <a:spLocks/>
          </p:cNvSpPr>
          <p:nvPr/>
        </p:nvSpPr>
        <p:spPr>
          <a:xfrm>
            <a:off x="612646" y="1731355"/>
            <a:ext cx="10653579" cy="5068107"/>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Pad the data with extra bytes</a:t>
            </a:r>
            <a:r>
              <a:rPr lang="en-US" dirty="0"/>
              <a:t>, so that distinct elements </a:t>
            </a:r>
            <a:br>
              <a:rPr lang="en-US" dirty="0"/>
            </a:br>
            <a:r>
              <a:rPr lang="en-US" dirty="0"/>
              <a:t>map to distinct cache lines. This is a viable option for </a:t>
            </a:r>
            <a:br>
              <a:rPr lang="en-US" dirty="0"/>
            </a:br>
            <a:r>
              <a:rPr lang="en-US" dirty="0"/>
              <a:t>data structures where the extra padding will not cause </a:t>
            </a:r>
            <a:br>
              <a:rPr lang="en-US" dirty="0"/>
            </a:br>
            <a:r>
              <a:rPr lang="en-US" dirty="0"/>
              <a:t>an extreme memory space overhead. </a:t>
            </a:r>
            <a:br>
              <a:rPr lang="en-US" dirty="0"/>
            </a:br>
            <a:r>
              <a:rPr lang="en-US" dirty="0"/>
              <a:t>For an array and scheduling arrangement like the one in our </a:t>
            </a:r>
            <a:br>
              <a:rPr lang="en-US" dirty="0"/>
            </a:br>
            <a:r>
              <a:rPr lang="en-US" dirty="0"/>
              <a:t>example, this would cause a sevenfold increase in the memory</a:t>
            </a:r>
            <a:br>
              <a:rPr lang="en-US" dirty="0"/>
            </a:br>
            <a:r>
              <a:rPr lang="en-US" dirty="0"/>
              <a:t>footprint of array x, which by itself would defeat the benefits of cache</a:t>
            </a:r>
            <a:br>
              <a:rPr lang="en-US" dirty="0"/>
            </a:br>
            <a:r>
              <a:rPr lang="en-US" dirty="0"/>
              <a:t>memory, if not starve the application of memory</a:t>
            </a:r>
          </a:p>
          <a:p>
            <a:endParaRPr lang="en-US" dirty="0"/>
          </a:p>
          <a:p>
            <a:endParaRPr lang="en-US" dirty="0"/>
          </a:p>
          <a:p>
            <a:endParaRPr lang="en-US" dirty="0"/>
          </a:p>
          <a:p>
            <a:r>
              <a:rPr lang="en-US" dirty="0"/>
              <a:t>so that each array row would occupy a complete cache line.</a:t>
            </a:r>
          </a:p>
          <a:p>
            <a:pPr marL="0" indent="0" algn="ctr">
              <a:buNone/>
            </a:pPr>
            <a:r>
              <a:rPr lang="en-US" dirty="0">
                <a:solidFill>
                  <a:srgbClr val="FF0000"/>
                </a:solidFill>
              </a:rPr>
              <a:t>[let’s code it]</a:t>
            </a:r>
          </a:p>
        </p:txBody>
      </p:sp>
      <p:pic>
        <p:nvPicPr>
          <p:cNvPr id="6" name="Picture 5">
            <a:extLst>
              <a:ext uri="{FF2B5EF4-FFF2-40B4-BE49-F238E27FC236}">
                <a16:creationId xmlns:a16="http://schemas.microsoft.com/office/drawing/2014/main" id="{AB95716E-DDD5-418F-8DD0-AB9468F681EE}"/>
              </a:ext>
            </a:extLst>
          </p:cNvPr>
          <p:cNvPicPr>
            <a:picLocks noChangeAspect="1"/>
          </p:cNvPicPr>
          <p:nvPr/>
        </p:nvPicPr>
        <p:blipFill>
          <a:blip r:embed="rId4"/>
          <a:stretch>
            <a:fillRect/>
          </a:stretch>
        </p:blipFill>
        <p:spPr>
          <a:xfrm>
            <a:off x="799361" y="4591539"/>
            <a:ext cx="5296639" cy="1009791"/>
          </a:xfrm>
          <a:prstGeom prst="rect">
            <a:avLst/>
          </a:prstGeom>
        </p:spPr>
      </p:pic>
      <p:pic>
        <p:nvPicPr>
          <p:cNvPr id="8" name="Picture 7">
            <a:extLst>
              <a:ext uri="{FF2B5EF4-FFF2-40B4-BE49-F238E27FC236}">
                <a16:creationId xmlns:a16="http://schemas.microsoft.com/office/drawing/2014/main" id="{CB7C61FE-36A0-B04C-F9F1-3D8A0D2DC3AF}"/>
              </a:ext>
            </a:extLst>
          </p:cNvPr>
          <p:cNvPicPr>
            <a:picLocks noChangeAspect="1"/>
          </p:cNvPicPr>
          <p:nvPr/>
        </p:nvPicPr>
        <p:blipFill>
          <a:blip r:embed="rId5"/>
          <a:srcRect t="10315" b="22700"/>
          <a:stretch>
            <a:fillRect/>
          </a:stretch>
        </p:blipFill>
        <p:spPr>
          <a:xfrm>
            <a:off x="8773413" y="58537"/>
            <a:ext cx="3165231" cy="4088933"/>
          </a:xfrm>
          <a:prstGeom prst="rect">
            <a:avLst/>
          </a:prstGeom>
        </p:spPr>
      </p:pic>
    </p:spTree>
    <p:extLst>
      <p:ext uri="{BB962C8B-B14F-4D97-AF65-F5344CB8AC3E}">
        <p14:creationId xmlns:p14="http://schemas.microsoft.com/office/powerpoint/2010/main" val="27094032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82B4DD">
            <a:alpha val="8000"/>
          </a:srgbClr>
        </a:solidFill>
        <a:effectLst/>
      </p:bgPr>
    </p:bg>
    <p:spTree>
      <p:nvGrpSpPr>
        <p:cNvPr id="1" name="">
          <a:extLst>
            <a:ext uri="{FF2B5EF4-FFF2-40B4-BE49-F238E27FC236}">
              <a16:creationId xmlns:a16="http://schemas.microsoft.com/office/drawing/2014/main" id="{BF22A83C-0AC9-9AD2-8D8E-0C7C90761468}"/>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8A8CFA8-AE33-E9F7-9EA1-D5A47F9E7D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F257075-5F17-F838-72AF-9C770CF1282F}"/>
              </a:ext>
            </a:extLst>
          </p:cNvPr>
          <p:cNvPicPr>
            <a:picLocks noChangeAspect="1"/>
          </p:cNvPicPr>
          <p:nvPr/>
        </p:nvPicPr>
        <p:blipFill>
          <a:blip r:embed="rId2">
            <a:extLst>
              <a:ext uri="{28A0092B-C50C-407E-A947-70E740481C1C}">
                <a14:useLocalDpi xmlns:a14="http://schemas.microsoft.com/office/drawing/2010/main" val="0"/>
              </a:ext>
            </a:extLst>
          </a:blip>
          <a:srcRect l="-837" r="15238"/>
          <a:stretch>
            <a:fillRect/>
          </a:stretch>
        </p:blipFill>
        <p:spPr>
          <a:xfrm>
            <a:off x="199697" y="207264"/>
            <a:ext cx="4456386" cy="6254496"/>
          </a:xfrm>
          <a:prstGeom prst="rect">
            <a:avLst/>
          </a:prstGeom>
        </p:spPr>
      </p:pic>
      <p:sp>
        <p:nvSpPr>
          <p:cNvPr id="3" name="Content Placeholder 2">
            <a:extLst>
              <a:ext uri="{FF2B5EF4-FFF2-40B4-BE49-F238E27FC236}">
                <a16:creationId xmlns:a16="http://schemas.microsoft.com/office/drawing/2014/main" id="{0ECC2F05-2144-48F6-24F8-906F853E6C5F}"/>
              </a:ext>
            </a:extLst>
          </p:cNvPr>
          <p:cNvSpPr>
            <a:spLocks noGrp="1"/>
          </p:cNvSpPr>
          <p:nvPr>
            <p:ph idx="1"/>
          </p:nvPr>
        </p:nvSpPr>
        <p:spPr>
          <a:xfrm>
            <a:off x="5568533" y="2214282"/>
            <a:ext cx="5916169" cy="4095078"/>
          </a:xfrm>
        </p:spPr>
        <p:txBody>
          <a:bodyPr>
            <a:normAutofit/>
          </a:bodyPr>
          <a:lstStyle/>
          <a:p>
            <a:r>
              <a:rPr lang="en-US" sz="1800" dirty="0"/>
              <a:t>Code without race condition but with false sharing</a:t>
            </a:r>
          </a:p>
          <a:p>
            <a:pPr marL="0" indent="0">
              <a:buNone/>
            </a:pPr>
            <a:endParaRPr lang="en-US" sz="1800" dirty="0"/>
          </a:p>
          <a:p>
            <a:pPr marL="0" indent="0">
              <a:buNone/>
            </a:pPr>
            <a:endParaRPr lang="en-US" sz="1800" dirty="0"/>
          </a:p>
        </p:txBody>
      </p:sp>
      <p:pic>
        <p:nvPicPr>
          <p:cNvPr id="6" name="Picture 5">
            <a:extLst>
              <a:ext uri="{FF2B5EF4-FFF2-40B4-BE49-F238E27FC236}">
                <a16:creationId xmlns:a16="http://schemas.microsoft.com/office/drawing/2014/main" id="{6B964D37-E4EF-47DB-0064-FAAF2AD3116D}"/>
              </a:ext>
            </a:extLst>
          </p:cNvPr>
          <p:cNvPicPr>
            <a:picLocks noChangeAspect="1"/>
          </p:cNvPicPr>
          <p:nvPr/>
        </p:nvPicPr>
        <p:blipFill>
          <a:blip r:embed="rId3"/>
          <a:stretch>
            <a:fillRect/>
          </a:stretch>
        </p:blipFill>
        <p:spPr>
          <a:xfrm>
            <a:off x="4855780" y="3411413"/>
            <a:ext cx="4429743" cy="2114845"/>
          </a:xfrm>
          <a:prstGeom prst="rect">
            <a:avLst/>
          </a:prstGeom>
        </p:spPr>
      </p:pic>
      <p:sp>
        <p:nvSpPr>
          <p:cNvPr id="8" name="Title 1">
            <a:extLst>
              <a:ext uri="{FF2B5EF4-FFF2-40B4-BE49-F238E27FC236}">
                <a16:creationId xmlns:a16="http://schemas.microsoft.com/office/drawing/2014/main" id="{FA39F732-2595-3E01-3DA2-B0AD81D5F9C5}"/>
              </a:ext>
            </a:extLst>
          </p:cNvPr>
          <p:cNvSpPr>
            <a:spLocks noGrp="1"/>
          </p:cNvSpPr>
          <p:nvPr>
            <p:ph type="title"/>
          </p:nvPr>
        </p:nvSpPr>
        <p:spPr>
          <a:xfrm>
            <a:off x="5194808" y="203499"/>
            <a:ext cx="5916169" cy="903642"/>
          </a:xfrm>
        </p:spPr>
        <p:txBody>
          <a:bodyPr>
            <a:normAutofit fontScale="90000"/>
          </a:bodyPr>
          <a:lstStyle/>
          <a:p>
            <a:r>
              <a:rPr lang="en-US" dirty="0"/>
              <a:t>False sharing</a:t>
            </a:r>
            <a:br>
              <a:rPr lang="en-US" dirty="0"/>
            </a:br>
            <a:r>
              <a:rPr lang="en-US" sz="1800" b="0" dirty="0"/>
              <a:t>is performance issue in multithreaded applications caused by the way modern processors handle cache lines</a:t>
            </a:r>
            <a:endParaRPr lang="en-US" b="0" dirty="0"/>
          </a:p>
        </p:txBody>
      </p:sp>
    </p:spTree>
    <p:extLst>
      <p:ext uri="{BB962C8B-B14F-4D97-AF65-F5344CB8AC3E}">
        <p14:creationId xmlns:p14="http://schemas.microsoft.com/office/powerpoint/2010/main" val="5108101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82B4DD">
            <a:alpha val="8000"/>
          </a:srgbClr>
        </a:solidFill>
        <a:effectLst/>
      </p:bgPr>
    </p:bg>
    <p:spTree>
      <p:nvGrpSpPr>
        <p:cNvPr id="1" name="">
          <a:extLst>
            <a:ext uri="{FF2B5EF4-FFF2-40B4-BE49-F238E27FC236}">
              <a16:creationId xmlns:a16="http://schemas.microsoft.com/office/drawing/2014/main" id="{F923ACF6-CFEB-B412-376B-CC372BAB45B8}"/>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C9D1A228-A658-E4A9-AE24-BDB6A05C07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BD93A58-51F9-6AAA-998C-3C4877A1B694}"/>
              </a:ext>
            </a:extLst>
          </p:cNvPr>
          <p:cNvPicPr>
            <a:picLocks noChangeAspect="1"/>
          </p:cNvPicPr>
          <p:nvPr/>
        </p:nvPicPr>
        <p:blipFill>
          <a:blip r:embed="rId2">
            <a:extLst>
              <a:ext uri="{28A0092B-C50C-407E-A947-70E740481C1C}">
                <a14:useLocalDpi xmlns:a14="http://schemas.microsoft.com/office/drawing/2010/main" val="0"/>
              </a:ext>
            </a:extLst>
          </a:blip>
          <a:srcRect l="-143" r="10865"/>
          <a:stretch>
            <a:fillRect/>
          </a:stretch>
        </p:blipFill>
        <p:spPr>
          <a:xfrm>
            <a:off x="199697" y="400005"/>
            <a:ext cx="5538952" cy="6254496"/>
          </a:xfrm>
          <a:prstGeom prst="rect">
            <a:avLst/>
          </a:prstGeom>
        </p:spPr>
      </p:pic>
      <p:sp>
        <p:nvSpPr>
          <p:cNvPr id="3" name="Content Placeholder 2">
            <a:extLst>
              <a:ext uri="{FF2B5EF4-FFF2-40B4-BE49-F238E27FC236}">
                <a16:creationId xmlns:a16="http://schemas.microsoft.com/office/drawing/2014/main" id="{ECAD6CD1-F9D8-4DF5-9087-EE36A56120A4}"/>
              </a:ext>
            </a:extLst>
          </p:cNvPr>
          <p:cNvSpPr>
            <a:spLocks noGrp="1"/>
          </p:cNvSpPr>
          <p:nvPr>
            <p:ph idx="1"/>
          </p:nvPr>
        </p:nvSpPr>
        <p:spPr>
          <a:xfrm>
            <a:off x="6007240" y="1651897"/>
            <a:ext cx="5916169" cy="4095078"/>
          </a:xfrm>
        </p:spPr>
        <p:txBody>
          <a:bodyPr>
            <a:normAutofit/>
          </a:bodyPr>
          <a:lstStyle/>
          <a:p>
            <a:r>
              <a:rPr lang="en-US" sz="1800" dirty="0"/>
              <a:t>Code without race condition and without false sharing</a:t>
            </a:r>
          </a:p>
          <a:p>
            <a:pPr marL="0" indent="0">
              <a:buNone/>
            </a:pPr>
            <a:endParaRPr lang="en-US" sz="1800" dirty="0"/>
          </a:p>
          <a:p>
            <a:pPr marL="0" indent="0">
              <a:buNone/>
            </a:pPr>
            <a:endParaRPr lang="en-US" sz="1800" dirty="0"/>
          </a:p>
        </p:txBody>
      </p:sp>
      <p:pic>
        <p:nvPicPr>
          <p:cNvPr id="6" name="Picture 5">
            <a:extLst>
              <a:ext uri="{FF2B5EF4-FFF2-40B4-BE49-F238E27FC236}">
                <a16:creationId xmlns:a16="http://schemas.microsoft.com/office/drawing/2014/main" id="{33907BD3-ACFF-B970-AF4C-89ED4EB85F7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474374" y="3699436"/>
            <a:ext cx="4429743" cy="1958520"/>
          </a:xfrm>
          <a:prstGeom prst="rect">
            <a:avLst/>
          </a:prstGeom>
        </p:spPr>
      </p:pic>
      <p:sp>
        <p:nvSpPr>
          <p:cNvPr id="8" name="Title 1">
            <a:extLst>
              <a:ext uri="{FF2B5EF4-FFF2-40B4-BE49-F238E27FC236}">
                <a16:creationId xmlns:a16="http://schemas.microsoft.com/office/drawing/2014/main" id="{6365218A-87F2-4C0D-DA45-E12821602A33}"/>
              </a:ext>
            </a:extLst>
          </p:cNvPr>
          <p:cNvSpPr>
            <a:spLocks noGrp="1"/>
          </p:cNvSpPr>
          <p:nvPr>
            <p:ph type="title"/>
          </p:nvPr>
        </p:nvSpPr>
        <p:spPr>
          <a:xfrm>
            <a:off x="6190773" y="207383"/>
            <a:ext cx="5916169" cy="903642"/>
          </a:xfrm>
        </p:spPr>
        <p:txBody>
          <a:bodyPr>
            <a:normAutofit fontScale="90000"/>
          </a:bodyPr>
          <a:lstStyle/>
          <a:p>
            <a:r>
              <a:rPr lang="en-US" dirty="0"/>
              <a:t>False sharing</a:t>
            </a:r>
            <a:br>
              <a:rPr lang="en-US" dirty="0"/>
            </a:br>
            <a:r>
              <a:rPr lang="en-US" sz="1800" b="0" dirty="0"/>
              <a:t>is performance issue in multithreaded applications caused by the way modern processors handle cache lines</a:t>
            </a:r>
            <a:endParaRPr lang="en-US" b="0" dirty="0"/>
          </a:p>
        </p:txBody>
      </p:sp>
    </p:spTree>
    <p:extLst>
      <p:ext uri="{BB962C8B-B14F-4D97-AF65-F5344CB8AC3E}">
        <p14:creationId xmlns:p14="http://schemas.microsoft.com/office/powerpoint/2010/main" val="18349689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23C52-DC6A-99B4-685A-B635D46DE6CB}"/>
              </a:ext>
            </a:extLst>
          </p:cNvPr>
          <p:cNvSpPr>
            <a:spLocks noGrp="1"/>
          </p:cNvSpPr>
          <p:nvPr>
            <p:ph type="title"/>
          </p:nvPr>
        </p:nvSpPr>
        <p:spPr/>
        <p:txBody>
          <a:bodyPr/>
          <a:lstStyle/>
          <a:p>
            <a:r>
              <a:rPr lang="en-US" dirty="0"/>
              <a:t>Exercise 3</a:t>
            </a:r>
          </a:p>
        </p:txBody>
      </p:sp>
      <p:sp>
        <p:nvSpPr>
          <p:cNvPr id="3" name="Content Placeholder 2">
            <a:extLst>
              <a:ext uri="{FF2B5EF4-FFF2-40B4-BE49-F238E27FC236}">
                <a16:creationId xmlns:a16="http://schemas.microsoft.com/office/drawing/2014/main" id="{EC1BB75F-0F35-36F8-E61B-ACF498BDD7A1}"/>
              </a:ext>
            </a:extLst>
          </p:cNvPr>
          <p:cNvSpPr>
            <a:spLocks noGrp="1"/>
          </p:cNvSpPr>
          <p:nvPr>
            <p:ph idx="1"/>
          </p:nvPr>
        </p:nvSpPr>
        <p:spPr/>
        <p:txBody>
          <a:bodyPr/>
          <a:lstStyle/>
          <a:p>
            <a:r>
              <a:rPr lang="en-US" dirty="0"/>
              <a:t>Create a parallel version of the integration program using a parallel construct.</a:t>
            </a:r>
            <a:r>
              <a:rPr lang="en-US" dirty="0">
                <a:solidFill>
                  <a:srgbClr val="FF0000"/>
                </a:solidFill>
              </a:rPr>
              <a:t>[pay close attention to race condition and false sharing]</a:t>
            </a:r>
          </a:p>
          <a:p>
            <a:r>
              <a:rPr lang="en-US" dirty="0"/>
              <a:t>A simple OpenMP adaptation of a matrix multiplication function.</a:t>
            </a:r>
            <a:br>
              <a:rPr lang="en-US" dirty="0"/>
            </a:br>
            <a:r>
              <a:rPr lang="en-US" dirty="0"/>
              <a:t>Matrix A is assumed to be N×K and matrix B is assumed to be K×M in size</a:t>
            </a:r>
            <a:endParaRPr lang="en-US" dirty="0">
              <a:solidFill>
                <a:srgbClr val="FF0000"/>
              </a:solidFill>
            </a:endParaRPr>
          </a:p>
        </p:txBody>
      </p:sp>
    </p:spTree>
    <p:extLst>
      <p:ext uri="{BB962C8B-B14F-4D97-AF65-F5344CB8AC3E}">
        <p14:creationId xmlns:p14="http://schemas.microsoft.com/office/powerpoint/2010/main" val="3048804342"/>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1237</TotalTime>
  <Words>1729</Words>
  <Application>Microsoft Office PowerPoint</Application>
  <PresentationFormat>Widescreen</PresentationFormat>
  <Paragraphs>89</Paragraphs>
  <Slides>20</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Arial</vt:lpstr>
      <vt:lpstr>Neue Haas Grotesk Text Pro</vt:lpstr>
      <vt:lpstr>VanillaVTI</vt:lpstr>
      <vt:lpstr>Parallel computing</vt:lpstr>
      <vt:lpstr>Race condition when the program’s outcome changes as the threads are scheduled differently</vt:lpstr>
      <vt:lpstr>Race condition when the program’s outcome changes as the threads are scheduled differently</vt:lpstr>
      <vt:lpstr>Race condition when the program’s outcome changes as the threads are scheduled differently</vt:lpstr>
      <vt:lpstr>Race condition when the program’s outcome changes as the threads are scheduled differently</vt:lpstr>
      <vt:lpstr>Race condition when the program’s outcome changes as the threads are scheduled differently</vt:lpstr>
      <vt:lpstr>Race condition when the program’s outcome changes as the threads are scheduled differently</vt:lpstr>
      <vt:lpstr>Race condition when the program’s outcome changes as the threads are scheduled differently</vt:lpstr>
      <vt:lpstr>Cache lines how does it go??</vt:lpstr>
      <vt:lpstr>Cache lines how does it go??</vt:lpstr>
      <vt:lpstr>Cache lines how does it go??</vt:lpstr>
      <vt:lpstr>Cache lines how does it go??</vt:lpstr>
      <vt:lpstr>Cache lines how does it go??</vt:lpstr>
      <vt:lpstr>False sharing is performance issue in multithreaded applications caused by the way modern processors handle cache lines</vt:lpstr>
      <vt:lpstr>False sharing How does false sharing happen?? </vt:lpstr>
      <vt:lpstr>False sharing is performance issue in multithreaded applications caused by the way modern processors handle cache lines</vt:lpstr>
      <vt:lpstr>False sharing is performance issue in multithreaded applications caused by the way modern  processors handle cache lines</vt:lpstr>
      <vt:lpstr>False sharing is performance issue in multithreaded applications caused by the way modern processors handle cache lines</vt:lpstr>
      <vt:lpstr>False sharing is performance issue in multithreaded applications caused by the way modern processors handle cache lines</vt:lpstr>
      <vt:lpstr>Exercise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Mariam Malak</dc:creator>
  <cp:lastModifiedBy>Mariam Malak</cp:lastModifiedBy>
  <cp:revision>17</cp:revision>
  <dcterms:created xsi:type="dcterms:W3CDTF">2026-02-12T13:52:08Z</dcterms:created>
  <dcterms:modified xsi:type="dcterms:W3CDTF">2026-03-09T08:53:19Z</dcterms:modified>
</cp:coreProperties>
</file>